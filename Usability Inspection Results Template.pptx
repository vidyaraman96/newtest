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4.xml" ContentType="application/vnd.openxmlformats-officedocument.presentationml.tags+xml"/>
  <Override PartName="/ppt/theme/theme7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5"/>
    <p:sldMasterId id="2147493480" r:id="rId6"/>
    <p:sldMasterId id="2147493455" r:id="rId7"/>
    <p:sldMasterId id="2147493521" r:id="rId8"/>
    <p:sldMasterId id="2147493600" r:id="rId9"/>
  </p:sldMasterIdLst>
  <p:notesMasterIdLst>
    <p:notesMasterId r:id="rId17"/>
  </p:notesMasterIdLst>
  <p:handoutMasterIdLst>
    <p:handoutMasterId r:id="rId18"/>
  </p:handoutMasterIdLst>
  <p:sldIdLst>
    <p:sldId id="507" r:id="rId10"/>
    <p:sldId id="589" r:id="rId11"/>
    <p:sldId id="590" r:id="rId12"/>
    <p:sldId id="591" r:id="rId13"/>
    <p:sldId id="596" r:id="rId14"/>
    <p:sldId id="601" r:id="rId15"/>
    <p:sldId id="602" r:id="rId16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F7F7F"/>
    <a:srgbClr val="A7D971"/>
    <a:srgbClr val="595959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3855"/>
  </p:normalViewPr>
  <p:slideViewPr>
    <p:cSldViewPr snapToGrid="0">
      <p:cViewPr varScale="1">
        <p:scale>
          <a:sx n="97" d="100"/>
          <a:sy n="97" d="100"/>
        </p:scale>
        <p:origin x="1698" y="96"/>
      </p:cViewPr>
      <p:guideLst>
        <p:guide orient="horz" pos="3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24" y="96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z="700">
                <a:solidFill>
                  <a:srgbClr val="7F7F7F"/>
                </a:solidFill>
              </a:rPr>
              <a:t>Honeywell Internal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700" b="0" i="0" u="none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074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179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928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444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724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756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7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5052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 spc="-15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0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>
            <a:lvl1pPr>
              <a:defRPr sz="2800" b="0" i="0">
                <a:latin typeface="Honeywell Sans Medium" charset="0"/>
                <a:ea typeface="Honeywell Sans Medium" charset="0"/>
                <a:cs typeface="Honeywell Sans Medium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6734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  <p:sldLayoutId id="2147494103" r:id="rId4"/>
    <p:sldLayoutId id="2147494104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368839" y="340410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3" y="6534468"/>
            <a:ext cx="578670" cy="1864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098" r:id="rId5"/>
    <p:sldLayoutId id="2147494101" r:id="rId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400" b="1" i="0" kern="1200" dirty="0">
          <a:solidFill>
            <a:schemeClr val="tx1"/>
          </a:solidFill>
          <a:latin typeface="Honeywell Sans" charset="0"/>
          <a:ea typeface="Honeywell Sans" charset="0"/>
          <a:cs typeface="Honeywell Sans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Placeholder 4"/>
          <p:cNvSpPr>
            <a:spLocks noGrp="1"/>
          </p:cNvSpPr>
          <p:nvPr>
            <p:ph type="body" sz="quarter" idx="12"/>
          </p:nvPr>
        </p:nvSpPr>
        <p:spPr bwMode="auto">
          <a:xfrm>
            <a:off x="2926398" y="5797899"/>
            <a:ext cx="6616700" cy="891222"/>
          </a:xfrm>
          <a:extLst/>
        </p:spPr>
        <p:txBody>
          <a:bodyPr vert="horz" anchor="ctr"/>
          <a:lstStyle/>
          <a:p>
            <a:pPr marL="0" indent="0"/>
            <a:r>
              <a:rPr lang="en-US" dirty="0"/>
              <a:t>Usability inspection</a:t>
            </a:r>
            <a:br>
              <a:rPr lang="en-US" dirty="0"/>
            </a:b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Results Presentation Template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20484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266700" y="6081201"/>
            <a:ext cx="2482850" cy="24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June 2017</a:t>
            </a:r>
          </a:p>
        </p:txBody>
      </p:sp>
      <p:sp>
        <p:nvSpPr>
          <p:cNvPr id="2048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17313" y="0"/>
            <a:ext cx="67468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6B4F42D-98EE-4A47-AEDA-D0FFDA8DDBEF}" type="slidenum">
              <a:rPr lang="en-US" altLang="en-US" sz="1100">
                <a:solidFill>
                  <a:schemeClr val="bg1"/>
                </a:solidFill>
              </a:rPr>
              <a:pPr eaLnBrk="1" hangingPunct="1"/>
              <a:t>0</a:t>
            </a:fld>
            <a:endParaRPr lang="en-US" altLang="en-US" sz="1100">
              <a:solidFill>
                <a:schemeClr val="bg1"/>
              </a:solidFill>
            </a:endParaRPr>
          </a:p>
        </p:txBody>
      </p:sp>
      <p:sp>
        <p:nvSpPr>
          <p:cNvPr id="2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6462087"/>
            <a:ext cx="578670" cy="186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Table of Contents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/>
          <p:cNvSpPr txBox="1">
            <a:spLocks/>
          </p:cNvSpPr>
          <p:nvPr/>
        </p:nvSpPr>
        <p:spPr>
          <a:xfrm>
            <a:off x="458348" y="1347788"/>
            <a:ext cx="8997950" cy="3752531"/>
          </a:xfrm>
          <a:prstGeom prst="rect">
            <a:avLst/>
          </a:prstGeom>
        </p:spPr>
        <p:txBody>
          <a:bodyPr/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en-US" dirty="0">
                <a:latin typeface="Honeywell Sans Medium" charset="0"/>
                <a:ea typeface="Honeywell Sans Medium" charset="0"/>
                <a:cs typeface="Honeywell Sans Medium" charset="0"/>
              </a:rPr>
              <a:t>Objective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en-US" dirty="0">
                <a:latin typeface="Honeywell Sans Medium" charset="0"/>
                <a:ea typeface="Honeywell Sans Medium" charset="0"/>
                <a:cs typeface="Honeywell Sans Medium" charset="0"/>
              </a:rPr>
              <a:t>Executive Summary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en-US" dirty="0">
                <a:latin typeface="Honeywell Sans Medium" charset="0"/>
                <a:ea typeface="Honeywell Sans Medium" charset="0"/>
                <a:cs typeface="Honeywell Sans Medium" charset="0"/>
              </a:rPr>
              <a:t>Inspection Findings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en-US" dirty="0"/>
              <a:t>Prioritization of Problems </a:t>
            </a:r>
            <a:endParaRPr lang="en-US" alt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4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10266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Objective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2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458348" y="1274014"/>
            <a:ext cx="8997950" cy="5268710"/>
          </a:xfrm>
          <a:prstGeom prst="rect">
            <a:avLst/>
          </a:prstGeom>
        </p:spPr>
        <p:txBody>
          <a:bodyPr/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dirty="0">
                <a:latin typeface="Honeywell Sans Medium" charset="0"/>
                <a:ea typeface="Honeywell Sans Medium" charset="0"/>
                <a:cs typeface="Honeywell Sans Medium" charset="0"/>
              </a:rPr>
              <a:t>The purpose of this document is to </a:t>
            </a:r>
            <a:r>
              <a:rPr lang="en-ZW" dirty="0"/>
              <a:t>match the design intent (exemplified by the prototype) with the actual development build </a:t>
            </a:r>
            <a:r>
              <a:rPr lang="en-US" dirty="0">
                <a:latin typeface="Honeywell Sans Medium" charset="0"/>
                <a:ea typeface="Honeywell Sans Medium" charset="0"/>
                <a:cs typeface="Honeywell Sans Medium" charset="0"/>
              </a:rPr>
              <a:t>of ____ project.</a:t>
            </a:r>
          </a:p>
          <a:p>
            <a:pPr>
              <a:buFontTx/>
              <a:buNone/>
              <a:defRPr/>
            </a:pP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spcAft>
                <a:spcPts val="600"/>
              </a:spcAft>
              <a:buFontTx/>
              <a:buNone/>
              <a:defRPr/>
            </a:pPr>
            <a:r>
              <a:rPr lang="en-US" dirty="0">
                <a:latin typeface="Honeywell Sans" charset="0"/>
                <a:ea typeface="Honeywell Sans" charset="0"/>
                <a:cs typeface="Honeywell Sans" charset="0"/>
              </a:rPr>
              <a:t>Things being looked at include but are not limited to:</a:t>
            </a:r>
          </a:p>
          <a:p>
            <a:pPr lvl="0"/>
            <a:r>
              <a:rPr lang="en-ZW" dirty="0"/>
              <a:t>Correct application of </a:t>
            </a:r>
            <a:r>
              <a:rPr lang="en-ZW" dirty="0" err="1"/>
              <a:t>colors</a:t>
            </a:r>
            <a:r>
              <a:rPr lang="en-ZW" dirty="0"/>
              <a:t> </a:t>
            </a:r>
            <a:endParaRPr lang="en-US" dirty="0"/>
          </a:p>
          <a:p>
            <a:pPr lvl="0"/>
            <a:r>
              <a:rPr lang="en-ZW" dirty="0"/>
              <a:t>Correct implementation of font styles and sizes</a:t>
            </a:r>
            <a:endParaRPr lang="en-US" dirty="0"/>
          </a:p>
          <a:p>
            <a:pPr lvl="0"/>
            <a:r>
              <a:rPr lang="en-ZW" dirty="0"/>
              <a:t>Accurate implementation of white spaces between </a:t>
            </a:r>
            <a:r>
              <a:rPr lang="en-ZW" dirty="0" err="1"/>
              <a:t>UITHin</a:t>
            </a:r>
            <a:r>
              <a:rPr lang="en-ZW" dirty="0"/>
              <a:t> elements</a:t>
            </a:r>
            <a:endParaRPr lang="en-US" dirty="0"/>
          </a:p>
          <a:p>
            <a:r>
              <a:rPr lang="en-ZW" dirty="0"/>
              <a:t>Accurate implementation of the interactions of UI controls </a:t>
            </a: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defRPr/>
            </a:pP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4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36825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Executive Summary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3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458348" y="1192734"/>
            <a:ext cx="10707492" cy="3206546"/>
          </a:xfrm>
          <a:prstGeom prst="rect">
            <a:avLst/>
          </a:prstGeom>
        </p:spPr>
        <p:txBody>
          <a:bodyPr/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dirty="0">
                <a:latin typeface="Honeywell Sans Medium" charset="0"/>
                <a:ea typeface="Honeywell Sans Medium" charset="0"/>
                <a:cs typeface="Honeywell Sans Medium" charset="0"/>
              </a:rPr>
              <a:t>High level summary of findings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Example: During the review of the XYZ tool, 4 critical and 5 major issues were found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which can be broadly categorized into the following-</a:t>
            </a:r>
          </a:p>
          <a:p>
            <a:pPr>
              <a:buClr>
                <a:srgbClr val="FF0000"/>
              </a:buClr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Wrong sizing of UI elements</a:t>
            </a:r>
          </a:p>
          <a:p>
            <a:pPr>
              <a:buClr>
                <a:srgbClr val="FF0000"/>
              </a:buClr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Wrong use of color palette</a:t>
            </a:r>
          </a:p>
          <a:p>
            <a:pPr>
              <a:buClr>
                <a:srgbClr val="FF0000"/>
              </a:buClr>
              <a:defRPr/>
            </a:pP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 marL="0" indent="0">
              <a:buClr>
                <a:srgbClr val="FF0000"/>
              </a:buClr>
              <a:buNone/>
              <a:defRPr/>
            </a:pPr>
            <a:r>
              <a:rPr lang="en-US" sz="1800" dirty="0">
                <a:latin typeface="Honeywell Sans Medium" charset="0"/>
                <a:ea typeface="Honeywell Sans Medium" charset="0"/>
                <a:cs typeface="Honeywell Sans Medium" charset="0"/>
              </a:rPr>
              <a:t>Number of Severity 3 and 4 violations:</a:t>
            </a:r>
          </a:p>
          <a:p>
            <a:pPr>
              <a:buClr>
                <a:srgbClr val="FF0000"/>
              </a:buClr>
              <a:defRPr/>
            </a:pPr>
            <a:r>
              <a:rPr lang="en-US" sz="1800" dirty="0">
                <a:latin typeface="Honeywell Sans Medium" charset="0"/>
                <a:ea typeface="Honeywell Sans Medium" charset="0"/>
                <a:cs typeface="Honeywell Sans Medium" charset="0"/>
              </a:rPr>
              <a:t>Severity 4 (must be changed before release):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&lt;enter number&gt;</a:t>
            </a:r>
          </a:p>
          <a:p>
            <a:pPr>
              <a:buClr>
                <a:srgbClr val="FF0000"/>
              </a:buClr>
              <a:defRPr/>
            </a:pPr>
            <a:r>
              <a:rPr lang="en-US" sz="1800" dirty="0">
                <a:latin typeface="Honeywell Sans Medium" charset="0"/>
                <a:ea typeface="Honeywell Sans Medium" charset="0"/>
                <a:cs typeface="Honeywell Sans Medium" charset="0"/>
              </a:rPr>
              <a:t>Severity 3 (important to change before release):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&lt;enter number&gt;</a:t>
            </a:r>
          </a:p>
          <a:p>
            <a:pPr>
              <a:buClr>
                <a:srgbClr val="FF0000"/>
              </a:buClr>
              <a:defRPr/>
            </a:pPr>
            <a:endParaRPr lang="en-US" sz="1800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buClr>
                <a:srgbClr val="FF0000"/>
              </a:buClr>
              <a:defRPr/>
            </a:pPr>
            <a:endParaRPr lang="en-US" sz="1800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buFontTx/>
              <a:buNone/>
              <a:defRPr/>
            </a:pP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defRPr/>
            </a:pP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>
              <a:defRPr/>
            </a:pPr>
            <a:endParaRPr lang="en-US" dirty="0"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5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65588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Inspection Findings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4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94138"/>
              </p:ext>
            </p:extLst>
          </p:nvPr>
        </p:nvGraphicFramePr>
        <p:xfrm>
          <a:off x="458348" y="1070813"/>
          <a:ext cx="10954880" cy="5270993"/>
        </p:xfrm>
        <a:graphic>
          <a:graphicData uri="http://schemas.openxmlformats.org/drawingml/2006/table">
            <a:tbl>
              <a:tblPr/>
              <a:tblGrid>
                <a:gridCol w="285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0414"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oneywell Sans Medium" charset="0"/>
                          <a:ea typeface="Honeywell Sans Medium" charset="0"/>
                          <a:cs typeface="Honeywell Sans Medium" charset="0"/>
                        </a:rPr>
                        <a:t>Screen/Screen Area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oneywell Sans Medium" charset="0"/>
                          <a:ea typeface="Honeywell Sans Medium" charset="0"/>
                          <a:cs typeface="Honeywell Sans Medium" charset="0"/>
                        </a:rPr>
                        <a:t>Issue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oneywell Sans Medium" charset="0"/>
                          <a:ea typeface="Honeywell Sans Medium" charset="0"/>
                          <a:cs typeface="Honeywell Sans Medium" charset="0"/>
                        </a:rPr>
                        <a:t>Desired State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oneywell Sans Medium" charset="0"/>
                          <a:ea typeface="Honeywell Sans Medium" charset="0"/>
                          <a:cs typeface="Honeywell Sans Medium" charset="0"/>
                        </a:rPr>
                        <a:t>Severity (0-4)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781"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200" b="0" kern="1200" dirty="0">
                          <a:solidFill>
                            <a:schemeClr val="tx1"/>
                          </a:solidFill>
                          <a:latin typeface="Honeywell Sans Medium" charset="0"/>
                          <a:ea typeface="Honeywell Sans Medium" charset="0"/>
                          <a:cs typeface="Honeywell Sans Medium" charset="0"/>
                        </a:rPr>
                        <a:t>Text</a:t>
                      </a:r>
                      <a:endParaRPr lang="en-US" altLang="en-US" sz="1400" b="0" kern="1200" dirty="0">
                        <a:solidFill>
                          <a:schemeClr val="tx1"/>
                        </a:solidFill>
                        <a:latin typeface="Honeywell Sans Medium" charset="0"/>
                        <a:ea typeface="Honeywell Sans Medium" charset="0"/>
                        <a:cs typeface="Honeywell Sans Medium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046">
                <a:tc gridSpan="4"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5752">
                <a:tc gridSpan="4">
                  <a:txBody>
                    <a:bodyPr/>
                    <a:lstStyle>
                      <a:lvl1pPr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DC241F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0053A5"/>
                        </a:buClr>
                        <a:buSzPct val="120000"/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defTabSz="912813">
                        <a:lnSpc>
                          <a:spcPct val="85000"/>
                        </a:lnSpc>
                        <a:spcBef>
                          <a:spcPct val="30000"/>
                        </a:spcBef>
                        <a:buClr>
                          <a:srgbClr val="317023"/>
                        </a:buClr>
                        <a:buSzPct val="9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defTabSz="912813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defTabSz="9128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975647" y="3066733"/>
            <a:ext cx="3810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latin typeface="Honeywell Sans Medium" charset="0"/>
                <a:ea typeface="Honeywell Sans Medium" charset="0"/>
                <a:cs typeface="Honeywell Sans Medium" charset="0"/>
              </a:rPr>
              <a:t>[Issue text]</a:t>
            </a:r>
          </a:p>
        </p:txBody>
      </p:sp>
      <p:sp>
        <p:nvSpPr>
          <p:cNvPr id="52" name="Oval 45"/>
          <p:cNvSpPr>
            <a:spLocks noChangeArrowheads="1"/>
          </p:cNvSpPr>
          <p:nvPr/>
        </p:nvSpPr>
        <p:spPr bwMode="auto">
          <a:xfrm>
            <a:off x="673100" y="314452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47" y="3754121"/>
            <a:ext cx="3810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latin typeface="Honeywell Sans Medium" charset="0"/>
                <a:ea typeface="Honeywell Sans Medium" charset="0"/>
                <a:cs typeface="Honeywell Sans Medium" charset="0"/>
              </a:rPr>
              <a:t>[Issue text]</a:t>
            </a:r>
          </a:p>
        </p:txBody>
      </p:sp>
      <p:sp>
        <p:nvSpPr>
          <p:cNvPr id="54" name="Oval 47"/>
          <p:cNvSpPr>
            <a:spLocks noChangeArrowheads="1"/>
          </p:cNvSpPr>
          <p:nvPr/>
        </p:nvSpPr>
        <p:spPr bwMode="auto">
          <a:xfrm>
            <a:off x="673100" y="383032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47" y="4516121"/>
            <a:ext cx="3810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latin typeface="Honeywell Sans Medium" charset="0"/>
                <a:ea typeface="Honeywell Sans Medium" charset="0"/>
                <a:cs typeface="Honeywell Sans Medium" charset="0"/>
              </a:rPr>
              <a:t>[Issue text]</a:t>
            </a:r>
          </a:p>
        </p:txBody>
      </p:sp>
      <p:sp>
        <p:nvSpPr>
          <p:cNvPr id="56" name="Oval 49"/>
          <p:cNvSpPr>
            <a:spLocks noChangeArrowheads="1"/>
          </p:cNvSpPr>
          <p:nvPr/>
        </p:nvSpPr>
        <p:spPr bwMode="auto">
          <a:xfrm>
            <a:off x="673100" y="4553116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>
                <a:solidFill>
                  <a:schemeClr val="bg1"/>
                </a:solidFill>
              </a:rPr>
              <a:t>3</a:t>
            </a:r>
          </a:p>
        </p:txBody>
      </p:sp>
      <p:grpSp>
        <p:nvGrpSpPr>
          <p:cNvPr id="68" name="Group 72"/>
          <p:cNvGrpSpPr>
            <a:grpSpLocks/>
          </p:cNvGrpSpPr>
          <p:nvPr/>
        </p:nvGrpSpPr>
        <p:grpSpPr bwMode="auto">
          <a:xfrm>
            <a:off x="7051778" y="3144521"/>
            <a:ext cx="3962400" cy="1524000"/>
            <a:chOff x="5219700" y="2286000"/>
            <a:chExt cx="3962400" cy="1524000"/>
          </a:xfrm>
          <a:solidFill>
            <a:schemeClr val="bg1"/>
          </a:solidFill>
        </p:grpSpPr>
        <p:sp>
          <p:nvSpPr>
            <p:cNvPr id="69" name="Rectangle 68"/>
            <p:cNvSpPr/>
            <p:nvPr/>
          </p:nvSpPr>
          <p:spPr bwMode="auto">
            <a:xfrm>
              <a:off x="5219700" y="2286000"/>
              <a:ext cx="3962400" cy="152400"/>
            </a:xfrm>
            <a:prstGeom prst="rect">
              <a:avLst/>
            </a:prstGeom>
            <a:grpFill/>
            <a:ln w="12699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88" tIns="44450" rIns="90488" bIns="4445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lnSpc>
                  <a:spcPct val="110000"/>
                </a:lnSpc>
              </a:pPr>
              <a:endParaRPr lang="en-US" altLang="en-US" sz="5400" b="1"/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5219700" y="2514600"/>
              <a:ext cx="609600" cy="1295400"/>
            </a:xfrm>
            <a:prstGeom prst="rect">
              <a:avLst/>
            </a:prstGeom>
            <a:grpFill/>
            <a:ln w="12699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88" tIns="44450" rIns="90488" bIns="4445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lnSpc>
                  <a:spcPct val="110000"/>
                </a:lnSpc>
              </a:pPr>
              <a:endParaRPr lang="en-US" altLang="en-US" sz="5400" b="1"/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5981700" y="2514600"/>
              <a:ext cx="3200400" cy="1295400"/>
            </a:xfrm>
            <a:prstGeom prst="rect">
              <a:avLst/>
            </a:prstGeom>
            <a:grpFill/>
            <a:ln w="12699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88" tIns="44450" rIns="90488" bIns="4445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lnSpc>
                  <a:spcPct val="110000"/>
                </a:lnSpc>
              </a:pPr>
              <a:endParaRPr lang="en-US" altLang="en-US" sz="5400" b="1"/>
            </a:p>
          </p:txBody>
        </p:sp>
        <p:cxnSp>
          <p:nvCxnSpPr>
            <p:cNvPr id="72" name="Straight Connector 71"/>
            <p:cNvCxnSpPr/>
            <p:nvPr/>
          </p:nvCxnSpPr>
          <p:spPr bwMode="auto">
            <a:xfrm>
              <a:off x="5295900" y="2743200"/>
              <a:ext cx="3810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>
              <a:off x="5295900" y="2895600"/>
              <a:ext cx="3810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>
              <a:off x="5295900" y="3048000"/>
              <a:ext cx="3810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/>
            <p:nvPr/>
          </p:nvCxnSpPr>
          <p:spPr bwMode="auto">
            <a:xfrm>
              <a:off x="6134100" y="2743200"/>
              <a:ext cx="8382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>
              <a:off x="6134100" y="2895600"/>
              <a:ext cx="13716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/>
            <p:nvPr/>
          </p:nvCxnSpPr>
          <p:spPr bwMode="auto">
            <a:xfrm>
              <a:off x="6134100" y="3048000"/>
              <a:ext cx="914400" cy="0"/>
            </a:xfrm>
            <a:prstGeom prst="line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Rectangle 77"/>
            <p:cNvSpPr/>
            <p:nvPr/>
          </p:nvSpPr>
          <p:spPr bwMode="auto">
            <a:xfrm>
              <a:off x="8039100" y="26670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88" tIns="44450" rIns="90488" bIns="4445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lnSpc>
                  <a:spcPct val="110000"/>
                </a:lnSpc>
              </a:pPr>
              <a:endParaRPr lang="en-US" altLang="en-US" sz="5400" b="1"/>
            </a:p>
          </p:txBody>
        </p:sp>
      </p:grpSp>
      <p:sp>
        <p:nvSpPr>
          <p:cNvPr id="79" name="Oval 42"/>
          <p:cNvSpPr>
            <a:spLocks noChangeArrowheads="1"/>
          </p:cNvSpPr>
          <p:nvPr/>
        </p:nvSpPr>
        <p:spPr bwMode="auto">
          <a:xfrm>
            <a:off x="7813778" y="322072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0" name="Oval 43"/>
          <p:cNvSpPr>
            <a:spLocks noChangeArrowheads="1"/>
          </p:cNvSpPr>
          <p:nvPr/>
        </p:nvSpPr>
        <p:spPr bwMode="auto">
          <a:xfrm>
            <a:off x="9604478" y="3459246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1" name="Oval 44"/>
          <p:cNvSpPr>
            <a:spLocks noChangeArrowheads="1"/>
          </p:cNvSpPr>
          <p:nvPr/>
        </p:nvSpPr>
        <p:spPr bwMode="auto">
          <a:xfrm>
            <a:off x="8651978" y="413512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100" b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77088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Task Based Heuristic Evaluation Procedure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5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46"/>
          <p:cNvCxnSpPr>
            <a:cxnSpLocks noChangeShapeType="1"/>
          </p:cNvCxnSpPr>
          <p:nvPr/>
        </p:nvCxnSpPr>
        <p:spPr bwMode="auto">
          <a:xfrm flipH="1">
            <a:off x="8829675" y="4572000"/>
            <a:ext cx="336550" cy="0"/>
          </a:xfrm>
          <a:prstGeom prst="straightConnector1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" name="Group 96"/>
          <p:cNvGrpSpPr>
            <a:grpSpLocks/>
          </p:cNvGrpSpPr>
          <p:nvPr/>
        </p:nvGrpSpPr>
        <p:grpSpPr bwMode="auto">
          <a:xfrm>
            <a:off x="1571625" y="2209800"/>
            <a:ext cx="7613650" cy="2971800"/>
            <a:chOff x="1295400" y="1371600"/>
            <a:chExt cx="9473920" cy="2971800"/>
          </a:xfrm>
        </p:grpSpPr>
        <p:cxnSp>
          <p:nvCxnSpPr>
            <p:cNvPr id="11" name="Straight Arrow Connector 13"/>
            <p:cNvCxnSpPr>
              <a:cxnSpLocks noChangeShapeType="1"/>
            </p:cNvCxnSpPr>
            <p:nvPr/>
          </p:nvCxnSpPr>
          <p:spPr bwMode="auto">
            <a:xfrm>
              <a:off x="2286000" y="1371600"/>
              <a:ext cx="4953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Arrow Connector 14"/>
            <p:cNvCxnSpPr>
              <a:cxnSpLocks noChangeShapeType="1"/>
            </p:cNvCxnSpPr>
            <p:nvPr/>
          </p:nvCxnSpPr>
          <p:spPr bwMode="auto">
            <a:xfrm>
              <a:off x="4294050" y="1371600"/>
              <a:ext cx="4953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Arrow Connector 16"/>
            <p:cNvCxnSpPr>
              <a:cxnSpLocks noChangeShapeType="1"/>
            </p:cNvCxnSpPr>
            <p:nvPr/>
          </p:nvCxnSpPr>
          <p:spPr bwMode="auto">
            <a:xfrm>
              <a:off x="6730720" y="1371600"/>
              <a:ext cx="554874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Arrow Connector 17"/>
            <p:cNvCxnSpPr>
              <a:cxnSpLocks noChangeShapeType="1"/>
            </p:cNvCxnSpPr>
            <p:nvPr/>
          </p:nvCxnSpPr>
          <p:spPr bwMode="auto">
            <a:xfrm>
              <a:off x="7875896" y="1828800"/>
              <a:ext cx="0" cy="38100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20"/>
            <p:cNvCxnSpPr>
              <a:cxnSpLocks noChangeShapeType="1"/>
            </p:cNvCxnSpPr>
            <p:nvPr/>
          </p:nvCxnSpPr>
          <p:spPr bwMode="auto">
            <a:xfrm flipH="1">
              <a:off x="5740120" y="2479344"/>
              <a:ext cx="1447800" cy="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Arrow Connector 29"/>
            <p:cNvCxnSpPr>
              <a:cxnSpLocks noChangeShapeType="1"/>
            </p:cNvCxnSpPr>
            <p:nvPr/>
          </p:nvCxnSpPr>
          <p:spPr bwMode="auto">
            <a:xfrm>
              <a:off x="8534400" y="1371600"/>
              <a:ext cx="4953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Connector 32"/>
            <p:cNvCxnSpPr>
              <a:cxnSpLocks noChangeShapeType="1"/>
            </p:cNvCxnSpPr>
            <p:nvPr/>
          </p:nvCxnSpPr>
          <p:spPr bwMode="auto">
            <a:xfrm flipH="1">
              <a:off x="1457848" y="2890576"/>
              <a:ext cx="8229600" cy="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Arrow Connector 33"/>
            <p:cNvCxnSpPr>
              <a:cxnSpLocks noChangeShapeType="1"/>
            </p:cNvCxnSpPr>
            <p:nvPr/>
          </p:nvCxnSpPr>
          <p:spPr bwMode="auto">
            <a:xfrm flipV="1">
              <a:off x="1447800" y="1600200"/>
              <a:ext cx="0" cy="129540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Straight Connector 42"/>
            <p:cNvCxnSpPr>
              <a:cxnSpLocks noChangeShapeType="1"/>
            </p:cNvCxnSpPr>
            <p:nvPr/>
          </p:nvCxnSpPr>
          <p:spPr bwMode="auto">
            <a:xfrm>
              <a:off x="9654372" y="1828800"/>
              <a:ext cx="35168" cy="106680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Connector 49"/>
            <p:cNvCxnSpPr>
              <a:cxnSpLocks noChangeShapeType="1"/>
            </p:cNvCxnSpPr>
            <p:nvPr/>
          </p:nvCxnSpPr>
          <p:spPr bwMode="auto">
            <a:xfrm flipV="1">
              <a:off x="10769320" y="1371600"/>
              <a:ext cx="0" cy="236220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Straight Connector 51"/>
            <p:cNvCxnSpPr>
              <a:cxnSpLocks noChangeShapeType="1"/>
            </p:cNvCxnSpPr>
            <p:nvPr/>
          </p:nvCxnSpPr>
          <p:spPr bwMode="auto">
            <a:xfrm>
              <a:off x="10312120" y="1371600"/>
              <a:ext cx="457200" cy="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Straight Connector 70"/>
            <p:cNvCxnSpPr>
              <a:cxnSpLocks noChangeShapeType="1"/>
            </p:cNvCxnSpPr>
            <p:nvPr/>
          </p:nvCxnSpPr>
          <p:spPr bwMode="auto">
            <a:xfrm>
              <a:off x="5753100" y="1641144"/>
              <a:ext cx="0" cy="838200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Arrow Connector 89"/>
            <p:cNvCxnSpPr>
              <a:cxnSpLocks noChangeShapeType="1"/>
            </p:cNvCxnSpPr>
            <p:nvPr/>
          </p:nvCxnSpPr>
          <p:spPr bwMode="auto">
            <a:xfrm flipH="1">
              <a:off x="7581900" y="3733800"/>
              <a:ext cx="4191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Arrow Connector 91"/>
            <p:cNvCxnSpPr>
              <a:cxnSpLocks noChangeShapeType="1"/>
            </p:cNvCxnSpPr>
            <p:nvPr/>
          </p:nvCxnSpPr>
          <p:spPr bwMode="auto">
            <a:xfrm flipH="1">
              <a:off x="4838700" y="3733800"/>
              <a:ext cx="4191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93"/>
            <p:cNvCxnSpPr>
              <a:cxnSpLocks noChangeShapeType="1"/>
            </p:cNvCxnSpPr>
            <p:nvPr/>
          </p:nvCxnSpPr>
          <p:spPr bwMode="auto">
            <a:xfrm flipH="1">
              <a:off x="2057400" y="3733800"/>
              <a:ext cx="419100" cy="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94"/>
            <p:cNvCxnSpPr>
              <a:cxnSpLocks noChangeShapeType="1"/>
            </p:cNvCxnSpPr>
            <p:nvPr/>
          </p:nvCxnSpPr>
          <p:spPr bwMode="auto">
            <a:xfrm>
              <a:off x="1295400" y="3962400"/>
              <a:ext cx="0" cy="381000"/>
            </a:xfrm>
            <a:prstGeom prst="straightConnector1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Group 97"/>
          <p:cNvGrpSpPr>
            <a:grpSpLocks/>
          </p:cNvGrpSpPr>
          <p:nvPr/>
        </p:nvGrpSpPr>
        <p:grpSpPr bwMode="auto">
          <a:xfrm>
            <a:off x="958850" y="1752600"/>
            <a:ext cx="7899400" cy="3886200"/>
            <a:chOff x="533400" y="914400"/>
            <a:chExt cx="9829800" cy="3886200"/>
          </a:xfrm>
          <a:solidFill>
            <a:schemeClr val="bg1">
              <a:lumMod val="95000"/>
            </a:schemeClr>
          </a:solidFill>
        </p:grpSpPr>
        <p:sp>
          <p:nvSpPr>
            <p:cNvPr id="28" name="Rounded Rectangle 2"/>
            <p:cNvSpPr>
              <a:spLocks noChangeArrowheads="1"/>
            </p:cNvSpPr>
            <p:nvPr/>
          </p:nvSpPr>
          <p:spPr bwMode="auto">
            <a:xfrm>
              <a:off x="2781453" y="1143000"/>
              <a:ext cx="1523066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Perform First Step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Of Task </a:t>
              </a:r>
            </a:p>
          </p:txBody>
        </p:sp>
        <p:sp>
          <p:nvSpPr>
            <p:cNvPr id="29" name="Rounded Rectangle 3"/>
            <p:cNvSpPr>
              <a:spLocks noChangeArrowheads="1"/>
            </p:cNvSpPr>
            <p:nvPr/>
          </p:nvSpPr>
          <p:spPr bwMode="auto">
            <a:xfrm>
              <a:off x="762551" y="1143000"/>
              <a:ext cx="1523066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Select A Task</a:t>
              </a:r>
            </a:p>
          </p:txBody>
        </p:sp>
        <p:sp>
          <p:nvSpPr>
            <p:cNvPr id="30" name="Rounded Rectangle 4"/>
            <p:cNvSpPr>
              <a:spLocks noChangeArrowheads="1"/>
            </p:cNvSpPr>
            <p:nvPr/>
          </p:nvSpPr>
          <p:spPr bwMode="auto">
            <a:xfrm>
              <a:off x="4774675" y="1143000"/>
              <a:ext cx="1906301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Make Observation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&amp; Assign Heuristics </a:t>
              </a:r>
            </a:p>
          </p:txBody>
        </p:sp>
        <p:sp>
          <p:nvSpPr>
            <p:cNvPr id="31" name="Diamond 6"/>
            <p:cNvSpPr>
              <a:spLocks noChangeArrowheads="1"/>
            </p:cNvSpPr>
            <p:nvPr/>
          </p:nvSpPr>
          <p:spPr bwMode="auto">
            <a:xfrm>
              <a:off x="7238051" y="914400"/>
              <a:ext cx="1295890" cy="914400"/>
            </a:xfrm>
            <a:prstGeom prst="diamond">
              <a:avLst/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dist="38100" dir="5400000" algn="t" rotWithShape="0">
                <a:srgbClr val="000000">
                  <a:alpha val="39999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Task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Complete?</a:t>
              </a:r>
            </a:p>
          </p:txBody>
        </p:sp>
        <p:sp>
          <p:nvSpPr>
            <p:cNvPr id="32" name="Diamond 7"/>
            <p:cNvSpPr>
              <a:spLocks noChangeArrowheads="1"/>
            </p:cNvSpPr>
            <p:nvPr/>
          </p:nvSpPr>
          <p:spPr bwMode="auto">
            <a:xfrm>
              <a:off x="9011998" y="914400"/>
              <a:ext cx="1295890" cy="914400"/>
            </a:xfrm>
            <a:prstGeom prst="diamond">
              <a:avLst/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All Tasks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Complete?</a:t>
              </a:r>
            </a:p>
          </p:txBody>
        </p:sp>
        <p:sp>
          <p:nvSpPr>
            <p:cNvPr id="33" name="Rounded Rectangle 8"/>
            <p:cNvSpPr>
              <a:spLocks noChangeArrowheads="1"/>
            </p:cNvSpPr>
            <p:nvPr/>
          </p:nvSpPr>
          <p:spPr bwMode="auto">
            <a:xfrm>
              <a:off x="8000571" y="3505200"/>
              <a:ext cx="2362629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Collate All Problems With Same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 Heuristics And Create Clusters</a:t>
              </a:r>
            </a:p>
          </p:txBody>
        </p:sp>
        <p:sp>
          <p:nvSpPr>
            <p:cNvPr id="34" name="Rounded Rectangle 9"/>
            <p:cNvSpPr>
              <a:spLocks noChangeArrowheads="1"/>
            </p:cNvSpPr>
            <p:nvPr/>
          </p:nvSpPr>
          <p:spPr bwMode="auto">
            <a:xfrm>
              <a:off x="7162984" y="2209800"/>
              <a:ext cx="1523066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Perform Next Step</a:t>
              </a:r>
            </a:p>
          </p:txBody>
        </p:sp>
        <p:sp>
          <p:nvSpPr>
            <p:cNvPr id="35" name="Rounded Rectangle 88"/>
            <p:cNvSpPr>
              <a:spLocks noChangeArrowheads="1"/>
            </p:cNvSpPr>
            <p:nvPr/>
          </p:nvSpPr>
          <p:spPr bwMode="auto">
            <a:xfrm>
              <a:off x="5258658" y="3505200"/>
              <a:ext cx="2360654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Assign Title, Description &amp;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latin typeface="Honeywell Sans Medium" charset="0"/>
                  <a:ea typeface="Honeywell Sans Medium" charset="0"/>
                  <a:cs typeface="Honeywell Sans Medium" charset="0"/>
                </a:rPr>
                <a:t>Severity To Each Issue Cluster</a:t>
              </a:r>
            </a:p>
          </p:txBody>
        </p:sp>
        <p:sp>
          <p:nvSpPr>
            <p:cNvPr id="36" name="Rounded Rectangle 90"/>
            <p:cNvSpPr>
              <a:spLocks noChangeArrowheads="1"/>
            </p:cNvSpPr>
            <p:nvPr/>
          </p:nvSpPr>
          <p:spPr bwMode="auto">
            <a:xfrm>
              <a:off x="2487113" y="3505200"/>
              <a:ext cx="2362629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Assign Ease Of Fix Rating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After Discussion With PM</a:t>
              </a:r>
            </a:p>
          </p:txBody>
        </p:sp>
        <p:sp>
          <p:nvSpPr>
            <p:cNvPr id="37" name="Rounded Rectangle 92"/>
            <p:cNvSpPr>
              <a:spLocks noChangeArrowheads="1"/>
            </p:cNvSpPr>
            <p:nvPr/>
          </p:nvSpPr>
          <p:spPr bwMode="auto">
            <a:xfrm>
              <a:off x="533400" y="3505200"/>
              <a:ext cx="1523066" cy="457200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rgbClr val="BFBFBF"/>
              </a:solidFill>
              <a:round/>
              <a:headEnd/>
              <a:tailEnd/>
            </a:ln>
            <a:effectLst>
              <a:outerShdw blurRad="63500" sy="23000" kx="1199993" algn="br" rotWithShape="0">
                <a:srgbClr val="000000">
                  <a:alpha val="20000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>
                  <a:latin typeface="Honeywell Sans Medium" charset="0"/>
                  <a:ea typeface="Honeywell Sans Medium" charset="0"/>
                  <a:cs typeface="Honeywell Sans Medium" charset="0"/>
                </a:rPr>
                <a:t>Publish Report</a:t>
              </a:r>
            </a:p>
          </p:txBody>
        </p:sp>
        <p:sp>
          <p:nvSpPr>
            <p:cNvPr id="38" name="Oval 95"/>
            <p:cNvSpPr>
              <a:spLocks noChangeArrowheads="1"/>
            </p:cNvSpPr>
            <p:nvPr/>
          </p:nvSpPr>
          <p:spPr bwMode="auto">
            <a:xfrm>
              <a:off x="989728" y="4343400"/>
              <a:ext cx="610411" cy="457200"/>
            </a:xfrm>
            <a:prstGeom prst="ellipse">
              <a:avLst/>
            </a:prstGeom>
            <a:solidFill>
              <a:srgbClr val="A7D971"/>
            </a:solidFill>
            <a:ln w="190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1000" dirty="0">
                  <a:solidFill>
                    <a:schemeClr val="bg1"/>
                  </a:solidFill>
                  <a:latin typeface="Honeywell Sans Medium" charset="0"/>
                  <a:ea typeface="Honeywell Sans Medium" charset="0"/>
                  <a:cs typeface="Honeywell Sans Medium" charset="0"/>
                </a:rPr>
                <a:t>End</a:t>
              </a:r>
            </a:p>
          </p:txBody>
        </p:sp>
      </p:grpSp>
      <p:sp>
        <p:nvSpPr>
          <p:cNvPr id="39" name="Oval 98"/>
          <p:cNvSpPr>
            <a:spLocks noChangeArrowheads="1"/>
          </p:cNvSpPr>
          <p:nvPr/>
        </p:nvSpPr>
        <p:spPr bwMode="auto">
          <a:xfrm>
            <a:off x="1470025" y="1143000"/>
            <a:ext cx="488950" cy="457200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Start</a:t>
            </a:r>
          </a:p>
        </p:txBody>
      </p:sp>
      <p:cxnSp>
        <p:nvCxnSpPr>
          <p:cNvPr id="40" name="Straight Arrow Connector 99"/>
          <p:cNvCxnSpPr>
            <a:cxnSpLocks noChangeShapeType="1"/>
          </p:cNvCxnSpPr>
          <p:nvPr/>
        </p:nvCxnSpPr>
        <p:spPr bwMode="auto">
          <a:xfrm>
            <a:off x="1714500" y="1600200"/>
            <a:ext cx="0" cy="381000"/>
          </a:xfrm>
          <a:prstGeom prst="straightConnector1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34"/>
          <p:cNvSpPr txBox="1">
            <a:spLocks noChangeArrowheads="1"/>
          </p:cNvSpPr>
          <p:nvPr/>
        </p:nvSpPr>
        <p:spPr bwMode="auto">
          <a:xfrm>
            <a:off x="7408863" y="1905000"/>
            <a:ext cx="612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0"/>
              <a:t>Yes</a:t>
            </a:r>
          </a:p>
        </p:txBody>
      </p:sp>
      <p:sp>
        <p:nvSpPr>
          <p:cNvPr id="42" name="TextBox 35"/>
          <p:cNvSpPr txBox="1">
            <a:spLocks noChangeArrowheads="1"/>
          </p:cNvSpPr>
          <p:nvPr/>
        </p:nvSpPr>
        <p:spPr bwMode="auto">
          <a:xfrm>
            <a:off x="6858000" y="2667000"/>
            <a:ext cx="612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0"/>
              <a:t>No</a:t>
            </a:r>
          </a:p>
        </p:txBody>
      </p:sp>
      <p:sp>
        <p:nvSpPr>
          <p:cNvPr id="43" name="TextBox 36"/>
          <p:cNvSpPr txBox="1">
            <a:spLocks noChangeArrowheads="1"/>
          </p:cNvSpPr>
          <p:nvPr/>
        </p:nvSpPr>
        <p:spPr bwMode="auto">
          <a:xfrm>
            <a:off x="8266113" y="2667000"/>
            <a:ext cx="612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0"/>
              <a:t>No</a:t>
            </a:r>
          </a:p>
        </p:txBody>
      </p:sp>
      <p:sp>
        <p:nvSpPr>
          <p:cNvPr id="44" name="TextBox 37"/>
          <p:cNvSpPr txBox="1">
            <a:spLocks noChangeArrowheads="1"/>
          </p:cNvSpPr>
          <p:nvPr/>
        </p:nvSpPr>
        <p:spPr bwMode="auto">
          <a:xfrm>
            <a:off x="8816975" y="1905000"/>
            <a:ext cx="612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30000"/>
              </a:spcBef>
              <a:buClr>
                <a:srgbClr val="DC241F"/>
              </a:buClr>
              <a:buChar char="•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30000"/>
              </a:spcBef>
              <a:buClr>
                <a:srgbClr val="0053A5"/>
              </a:buClr>
              <a:buSzPct val="120000"/>
              <a:buFont typeface="Arial" charset="0"/>
              <a:buChar char="-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30000"/>
              </a:spcBef>
              <a:buClr>
                <a:srgbClr val="317023"/>
              </a:buClr>
              <a:buSzPct val="90000"/>
              <a:buFont typeface="Wingdings" charset="2"/>
              <a:buChar char="w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0"/>
              <a:t>Yes</a:t>
            </a:r>
          </a:p>
        </p:txBody>
      </p:sp>
      <p:sp>
        <p:nvSpPr>
          <p:cNvPr id="4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58304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altLang="en-US" dirty="0"/>
              <a:t>Prioritization of Problems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6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JPseudoFooter"/>
          <p:cNvSpPr txBox="1"/>
          <p:nvPr>
            <p:custDataLst>
              <p:tags r:id="rId1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29554"/>
              </p:ext>
            </p:extLst>
          </p:nvPr>
        </p:nvGraphicFramePr>
        <p:xfrm>
          <a:off x="832465" y="2002998"/>
          <a:ext cx="9251664" cy="222504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0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Severity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a violation, just a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Cosmetic</a:t>
                      </a:r>
                      <a:r>
                        <a:rPr lang="en-US" sz="1100" baseline="0" dirty="0"/>
                        <a:t> violation, only needs to be fixed for release if time permits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Minor violation, should be fixed before product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Major violation, important to fix before product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critical</a:t>
                      </a:r>
                      <a:r>
                        <a:rPr lang="en-US" sz="1100" baseline="0" dirty="0"/>
                        <a:t> violation, must be fixed before product can released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7755" y="1533832"/>
            <a:ext cx="877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table below shows the severity of each instance where the implemented code deviates from the design intent/specification. </a:t>
            </a:r>
          </a:p>
        </p:txBody>
      </p:sp>
    </p:spTree>
    <p:extLst>
      <p:ext uri="{BB962C8B-B14F-4D97-AF65-F5344CB8AC3E}">
        <p14:creationId xmlns:p14="http://schemas.microsoft.com/office/powerpoint/2010/main" val="1248853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bf276872-af07-4968-a71d-1c83e80bd0bf" origin="userSelected">
  <element uid="id_protectivemarking_protect" value=""/>
</sisl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EA8BA9-B763-453A-BC9B-844D11155AD2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03ED013B-7B5F-495D-842E-46ED49F18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4B2E00-7DA9-4148-A1BC-46F52F8F2C6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59ACCD40-D6AE-4D6D-85C1-BD2DFB3516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Honeywell Widescreen</Template>
  <TotalTime>8336</TotalTime>
  <Words>374</Words>
  <Application>Microsoft Office PowerPoint</Application>
  <PresentationFormat>Widescreen</PresentationFormat>
  <Paragraphs>111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HUE Overview</vt:lpstr>
      <vt:lpstr>Honeywell Single Image Cover</vt:lpstr>
      <vt:lpstr>Honeywell Theme</vt:lpstr>
      <vt:lpstr>1_Honeywell Theme</vt:lpstr>
      <vt:lpstr>1_Honeywell Single Image Cover</vt:lpstr>
      <vt:lpstr>PowerPoint Presentation</vt:lpstr>
      <vt:lpstr>Table of Contents</vt:lpstr>
      <vt:lpstr>Objective</vt:lpstr>
      <vt:lpstr>Executive Summary</vt:lpstr>
      <vt:lpstr>Inspection Findings</vt:lpstr>
      <vt:lpstr>Task Based Heuristic Evaluation Procedure</vt:lpstr>
      <vt:lpstr>Prioritization of Problems 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Dungey, David</dc:creator>
  <cp:lastModifiedBy>Komischke, Tobias</cp:lastModifiedBy>
  <cp:revision>145</cp:revision>
  <cp:lastPrinted>2015-07-29T21:30:37Z</cp:lastPrinted>
  <dcterms:created xsi:type="dcterms:W3CDTF">2016-03-25T02:45:32Z</dcterms:created>
  <dcterms:modified xsi:type="dcterms:W3CDTF">2018-07-11T17:51:37Z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  <property fmtid="{D5CDD505-2E9C-101B-9397-08002B2CF9AE}" pid="4" name="docIndexRef">
    <vt:lpwstr>4f82125b-e7fd-4621-98e0-483a247a06e3</vt:lpwstr>
  </property>
  <property fmtid="{D5CDD505-2E9C-101B-9397-08002B2CF9AE}" pid="5" name="bjSaver">
    <vt:lpwstr>u++bnGCNKydyGdmskR0LkuWUJEa6X8Jm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policy="bf276872-af07-4968-a71d-1c83e80bd0bf" origin="userSelected" xmlns="http://www.boldonj</vt:lpwstr>
  </property>
  <property fmtid="{D5CDD505-2E9C-101B-9397-08002B2CF9AE}" pid="7" name="bjDocumentLabelXML-0">
    <vt:lpwstr>ames.com/2008/01/sie/internal/label"&gt;&lt;element uid="id_protectivemarking_protect" value="" /&gt;&lt;/sisl&gt;</vt:lpwstr>
  </property>
  <property fmtid="{D5CDD505-2E9C-101B-9397-08002B2CF9AE}" pid="8" name="bjDocumentSecurityLabel">
    <vt:lpwstr>Honeywell Internal</vt:lpwstr>
  </property>
  <property fmtid="{D5CDD505-2E9C-101B-9397-08002B2CF9AE}" pid="9" name="BJClassification">
    <vt:lpwstr>Honeywell Internal</vt:lpwstr>
  </property>
</Properties>
</file>