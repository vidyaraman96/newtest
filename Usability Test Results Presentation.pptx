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93482" r:id="rId4"/>
    <p:sldMasterId id="2147493480" r:id="rId5"/>
    <p:sldMasterId id="2147493455" r:id="rId6"/>
    <p:sldMasterId id="2147493521" r:id="rId7"/>
    <p:sldMasterId id="2147493600" r:id="rId8"/>
  </p:sldMasterIdLst>
  <p:notesMasterIdLst>
    <p:notesMasterId r:id="rId25"/>
  </p:notesMasterIdLst>
  <p:handoutMasterIdLst>
    <p:handoutMasterId r:id="rId26"/>
  </p:handoutMasterIdLst>
  <p:sldIdLst>
    <p:sldId id="507" r:id="rId9"/>
    <p:sldId id="589" r:id="rId10"/>
    <p:sldId id="590" r:id="rId11"/>
    <p:sldId id="591" r:id="rId12"/>
    <p:sldId id="592" r:id="rId13"/>
    <p:sldId id="593" r:id="rId14"/>
    <p:sldId id="594" r:id="rId15"/>
    <p:sldId id="595" r:id="rId16"/>
    <p:sldId id="596" r:id="rId17"/>
    <p:sldId id="597" r:id="rId18"/>
    <p:sldId id="598" r:id="rId19"/>
    <p:sldId id="599" r:id="rId20"/>
    <p:sldId id="600" r:id="rId21"/>
    <p:sldId id="601" r:id="rId22"/>
    <p:sldId id="602" r:id="rId23"/>
    <p:sldId id="603" r:id="rId24"/>
  </p:sldIdLst>
  <p:sldSz cx="12192000" cy="6858000"/>
  <p:notesSz cx="7023100" cy="93091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3172">
          <p15:clr>
            <a:srgbClr val="A4A3A4"/>
          </p15:clr>
        </p15:guide>
        <p15:guide id="2" pos="384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ngey, David" initials="DD" lastIdx="2" clrIdx="0">
    <p:extLst/>
  </p:cmAuthor>
  <p:cmAuthor id="2" name="Dungey, David" initials="DD [2]"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A7D971"/>
    <a:srgbClr val="595959"/>
    <a:srgbClr val="7F7F7F"/>
    <a:srgbClr val="E71D1D"/>
    <a:srgbClr val="EB2819"/>
    <a:srgbClr val="E42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344D84-9AFB-497E-A393-DC336BA19D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09"/>
    <p:restoredTop sz="93949"/>
  </p:normalViewPr>
  <p:slideViewPr>
    <p:cSldViewPr snapToGrid="0">
      <p:cViewPr>
        <p:scale>
          <a:sx n="100" d="100"/>
          <a:sy n="100" d="100"/>
        </p:scale>
        <p:origin x="904" y="200"/>
      </p:cViewPr>
      <p:guideLst>
        <p:guide orient="horz" pos="3172"/>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0" d="100"/>
          <a:sy n="50" d="100"/>
        </p:scale>
        <p:origin x="-2784"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r>
              <a:rPr lang="en-US" sz="1800">
                <a:latin typeface="Honeywell Sans Web" charset="0"/>
                <a:ea typeface="Honeywell Sans Web" charset="0"/>
                <a:cs typeface="Honeywell Sans Web" charset="0"/>
              </a:rPr>
              <a:t>Gender</a:t>
            </a:r>
          </a:p>
        </c:rich>
      </c:tx>
      <c:layout>
        <c:manualLayout>
          <c:xMode val="edge"/>
          <c:yMode val="edge"/>
          <c:x val="0.35431532171887697"/>
          <c:y val="2.8499138854760998E-2"/>
        </c:manualLayout>
      </c:layout>
      <c:overlay val="0"/>
      <c:spPr>
        <a:noFill/>
        <a:ln>
          <a:noFill/>
        </a:ln>
        <a:effectLst/>
      </c:spPr>
      <c:txPr>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pieChart>
        <c:varyColors val="1"/>
        <c:ser>
          <c:idx val="0"/>
          <c:order val="0"/>
          <c:tx>
            <c:strRef>
              <c:f>Sheet1!$B$1</c:f>
              <c:strCache>
                <c:ptCount val="1"/>
                <c:pt idx="0">
                  <c:v>Gender</c:v>
                </c:pt>
              </c:strCache>
            </c:strRef>
          </c:tx>
          <c:spPr>
            <a:solidFill>
              <a:schemeClr val="accent5">
                <a:lumMod val="75000"/>
              </a:schemeClr>
            </a:solidFill>
          </c:spPr>
          <c:dPt>
            <c:idx val="0"/>
            <c:bubble3D val="0"/>
            <c:spPr>
              <a:solidFill>
                <a:srgbClr val="00B050"/>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BD1D-4A2A-AF1F-037A8F3D16A7}"/>
              </c:ext>
            </c:extLst>
          </c:dPt>
          <c:dPt>
            <c:idx val="1"/>
            <c:bubble3D val="0"/>
            <c:spPr>
              <a:solidFill>
                <a:schemeClr val="accent5">
                  <a:lumMod val="7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BD1D-4A2A-AF1F-037A8F3D16A7}"/>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BD1D-4A2A-AF1F-037A8F3D16A7}"/>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BD1D-4A2A-AF1F-037A8F3D16A7}"/>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General</c:formatCode>
                <c:ptCount val="2"/>
                <c:pt idx="0">
                  <c:v>5</c:v>
                </c:pt>
                <c:pt idx="1">
                  <c:v>5</c:v>
                </c:pt>
              </c:numCache>
            </c:numRef>
          </c:val>
          <c:extLst>
            <c:ext xmlns:c16="http://schemas.microsoft.com/office/drawing/2014/chart" uri="{C3380CC4-5D6E-409C-BE32-E72D297353CC}">
              <c16:uniqueId val="{00000004-BD1D-4A2A-AF1F-037A8F3D16A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r>
              <a:rPr lang="en-US" sz="1800" dirty="0">
                <a:latin typeface="Honeywell Sans Web" charset="0"/>
                <a:ea typeface="Honeywell Sans Web" charset="0"/>
                <a:cs typeface="Honeywell Sans Web" charset="0"/>
              </a:rPr>
              <a:t>Age</a:t>
            </a:r>
          </a:p>
        </c:rich>
      </c:tx>
      <c:overlay val="0"/>
      <c:spPr>
        <a:noFill/>
        <a:ln>
          <a:noFill/>
        </a:ln>
        <a:effectLst/>
      </c:spPr>
      <c:txPr>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pieChart>
        <c:varyColors val="1"/>
        <c:ser>
          <c:idx val="0"/>
          <c:order val="0"/>
          <c:tx>
            <c:strRef>
              <c:f>Sheet1!$B$1</c:f>
              <c:strCache>
                <c:ptCount val="1"/>
                <c:pt idx="0">
                  <c:v>Gender</c:v>
                </c:pt>
              </c:strCache>
            </c:strRef>
          </c:tx>
          <c:dPt>
            <c:idx val="0"/>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877E-41CC-8E15-BBE24E6AE16A}"/>
              </c:ext>
            </c:extLst>
          </c:dPt>
          <c:dPt>
            <c:idx val="1"/>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877E-41CC-8E15-BBE24E6AE16A}"/>
              </c:ext>
            </c:extLst>
          </c:dPt>
          <c:dPt>
            <c:idx val="2"/>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877E-41CC-8E15-BBE24E6AE16A}"/>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877E-41CC-8E15-BBE24E6AE16A}"/>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877E-41CC-8E15-BBE24E6AE16A}"/>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5-877E-41CC-8E15-BBE24E6AE16A}"/>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&lt;28 years</c:v>
                </c:pt>
                <c:pt idx="1">
                  <c:v>&lt;36 years</c:v>
                </c:pt>
                <c:pt idx="2">
                  <c:v>&lt;50 years</c:v>
                </c:pt>
              </c:strCache>
            </c:strRef>
          </c:cat>
          <c:val>
            <c:numRef>
              <c:f>Sheet1!$B$2:$B$4</c:f>
              <c:numCache>
                <c:formatCode>General</c:formatCode>
                <c:ptCount val="3"/>
                <c:pt idx="0">
                  <c:v>3</c:v>
                </c:pt>
                <c:pt idx="1">
                  <c:v>4</c:v>
                </c:pt>
                <c:pt idx="2">
                  <c:v>5</c:v>
                </c:pt>
              </c:numCache>
            </c:numRef>
          </c:val>
          <c:extLst>
            <c:ext xmlns:c16="http://schemas.microsoft.com/office/drawing/2014/chart" uri="{C3380CC4-5D6E-409C-BE32-E72D297353CC}">
              <c16:uniqueId val="{00000006-877E-41CC-8E15-BBE24E6AE16A}"/>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r>
              <a:rPr lang="en-US" sz="1800">
                <a:latin typeface="Honeywell Sans Web" charset="0"/>
                <a:ea typeface="Honeywell Sans Web" charset="0"/>
                <a:cs typeface="Honeywell Sans Web" charset="0"/>
              </a:rPr>
              <a:t>Role</a:t>
            </a:r>
          </a:p>
        </c:rich>
      </c:tx>
      <c:layout>
        <c:manualLayout>
          <c:xMode val="edge"/>
          <c:yMode val="edge"/>
          <c:x val="0.38740107051714201"/>
          <c:y val="3.2298298217562603E-2"/>
        </c:manualLayout>
      </c:layout>
      <c:overlay val="0"/>
      <c:spPr>
        <a:noFill/>
        <a:ln>
          <a:noFill/>
        </a:ln>
        <a:effectLst/>
      </c:spPr>
      <c:txPr>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pieChart>
        <c:varyColors val="1"/>
        <c:ser>
          <c:idx val="0"/>
          <c:order val="0"/>
          <c:tx>
            <c:strRef>
              <c:f>Sheet1!$B$1</c:f>
              <c:strCache>
                <c:ptCount val="1"/>
                <c:pt idx="0">
                  <c:v>Roles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D55C-42D5-8F91-B31722E85DBC}"/>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D55C-42D5-8F91-B31722E85DBC}"/>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D55C-42D5-8F91-B31722E85DBC}"/>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D55C-42D5-8F91-B31722E85DBC}"/>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D55C-42D5-8F91-B31722E85DBC}"/>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lumMod val="75000"/>
                          <a:lumOff val="25000"/>
                        </a:schemeClr>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D55C-42D5-8F91-B31722E85DBC}"/>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Honeywell Sans Web" charset="0"/>
                    <a:ea typeface="Honeywell Sans Web" charset="0"/>
                    <a:cs typeface="Honeywell Sans Web" charset="0"/>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Contractor</c:v>
                </c:pt>
                <c:pt idx="1">
                  <c:v>Distributor</c:v>
                </c:pt>
                <c:pt idx="2">
                  <c:v>Manager</c:v>
                </c:pt>
              </c:strCache>
            </c:strRef>
          </c:cat>
          <c:val>
            <c:numRef>
              <c:f>Sheet1!$B$2:$B$4</c:f>
              <c:numCache>
                <c:formatCode>General</c:formatCode>
                <c:ptCount val="3"/>
                <c:pt idx="0">
                  <c:v>10</c:v>
                </c:pt>
                <c:pt idx="1">
                  <c:v>13</c:v>
                </c:pt>
                <c:pt idx="2">
                  <c:v>18</c:v>
                </c:pt>
              </c:numCache>
            </c:numRef>
          </c:val>
          <c:extLst>
            <c:ext xmlns:c16="http://schemas.microsoft.com/office/drawing/2014/chart" uri="{C3380CC4-5D6E-409C-BE32-E72D297353CC}">
              <c16:uniqueId val="{00000006-D55C-42D5-8F91-B31722E85DBC}"/>
            </c:ext>
          </c:extLst>
        </c:ser>
        <c:dLbls>
          <c:dLblPos val="outEnd"/>
          <c:showLegendKey val="0"/>
          <c:showVal val="0"/>
          <c:showCatName val="0"/>
          <c:showSerName val="0"/>
          <c:showPercent val="1"/>
          <c:showBubbleSize val="0"/>
          <c:showLeaderLines val="0"/>
        </c:dLbls>
        <c:firstSliceAng val="0"/>
      </c:pieChart>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r>
              <a:rPr lang="en-US" dirty="0"/>
              <a:t>Task Completion Rates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barChart>
        <c:barDir val="col"/>
        <c:grouping val="clustered"/>
        <c:varyColors val="0"/>
        <c:ser>
          <c:idx val="0"/>
          <c:order val="0"/>
          <c:tx>
            <c:strRef>
              <c:f>Sheet1!$B$1</c:f>
              <c:strCache>
                <c:ptCount val="1"/>
                <c:pt idx="0">
                  <c:v># of participants completed the task</c:v>
                </c:pt>
              </c:strCache>
            </c:strRef>
          </c:tx>
          <c:spPr>
            <a:solidFill>
              <a:schemeClr val="accent4"/>
            </a:solidFill>
            <a:ln>
              <a:noFill/>
            </a:ln>
            <a:effectLst/>
          </c:spPr>
          <c:invertIfNegative val="0"/>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5</c:v>
                </c:pt>
                <c:pt idx="1">
                  <c:v>4</c:v>
                </c:pt>
                <c:pt idx="2">
                  <c:v>9</c:v>
                </c:pt>
                <c:pt idx="3">
                  <c:v>7</c:v>
                </c:pt>
                <c:pt idx="4">
                  <c:v>3</c:v>
                </c:pt>
              </c:numCache>
            </c:numRef>
          </c:val>
          <c:extLst>
            <c:ext xmlns:c16="http://schemas.microsoft.com/office/drawing/2014/chart" uri="{C3380CC4-5D6E-409C-BE32-E72D297353CC}">
              <c16:uniqueId val="{00000000-5B7E-48CE-85B6-1DE4AB1DFC32}"/>
            </c:ext>
          </c:extLst>
        </c:ser>
        <c:dLbls>
          <c:showLegendKey val="0"/>
          <c:showVal val="0"/>
          <c:showCatName val="0"/>
          <c:showSerName val="0"/>
          <c:showPercent val="0"/>
          <c:showBubbleSize val="0"/>
        </c:dLbls>
        <c:gapWidth val="219"/>
        <c:overlap val="-27"/>
        <c:axId val="-2025177264"/>
        <c:axId val="2129828192"/>
      </c:barChart>
      <c:catAx>
        <c:axId val="-202517726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29828192"/>
        <c:crosses val="autoZero"/>
        <c:auto val="1"/>
        <c:lblAlgn val="ctr"/>
        <c:lblOffset val="100"/>
        <c:noMultiLvlLbl val="0"/>
      </c:catAx>
      <c:valAx>
        <c:axId val="2129828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025177264"/>
        <c:crosses val="autoZero"/>
        <c:crossBetween val="between"/>
      </c:valAx>
      <c:spPr>
        <a:noFill/>
        <a:ln>
          <a:noFill/>
        </a:ln>
        <a:effectLst/>
      </c:spPr>
    </c:plotArea>
    <c:legend>
      <c:legendPos val="b"/>
      <c:layout>
        <c:manualLayout>
          <c:xMode val="edge"/>
          <c:yMode val="edge"/>
          <c:x val="0.24127181669350201"/>
          <c:y val="0.87662216960735695"/>
          <c:w val="0.59404909909424797"/>
          <c:h val="0.1077042094430700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legend>
    <c:plotVisOnly val="1"/>
    <c:dispBlanksAs val="gap"/>
    <c:showDLblsOverMax val="0"/>
  </c:chart>
  <c:spPr>
    <a:noFill/>
    <a:ln>
      <a:noFill/>
    </a:ln>
    <a:effectLst/>
  </c:spPr>
  <c:txPr>
    <a:bodyPr/>
    <a:lstStyle/>
    <a:p>
      <a:pPr>
        <a:defRPr>
          <a:latin typeface="Honeywell Sans Web" charset="0"/>
          <a:ea typeface="Honeywell Sans Web" charset="0"/>
          <a:cs typeface="Honeywell Sans Web"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r>
              <a:rPr lang="en-US" dirty="0"/>
              <a:t>Task Satisfaction Rate</a:t>
            </a:r>
          </a:p>
        </c:rich>
      </c:tx>
      <c:layout>
        <c:manualLayout>
          <c:xMode val="edge"/>
          <c:yMode val="edge"/>
          <c:x val="0.36426339693923698"/>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barChart>
        <c:barDir val="col"/>
        <c:grouping val="clustered"/>
        <c:varyColors val="0"/>
        <c:ser>
          <c:idx val="0"/>
          <c:order val="0"/>
          <c:tx>
            <c:strRef>
              <c:f>Sheet1!$B$1</c:f>
              <c:strCache>
                <c:ptCount val="1"/>
                <c:pt idx="0">
                  <c:v>Score</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D55A-45BC-8B61-45DD94C4E246}"/>
              </c:ext>
            </c:extLst>
          </c:dPt>
          <c:dPt>
            <c:idx val="1"/>
            <c:invertIfNegative val="0"/>
            <c:bubble3D val="0"/>
            <c:spPr>
              <a:solidFill>
                <a:srgbClr val="FFC000"/>
              </a:solidFill>
              <a:ln>
                <a:noFill/>
              </a:ln>
              <a:effectLst/>
            </c:spPr>
            <c:extLst>
              <c:ext xmlns:c16="http://schemas.microsoft.com/office/drawing/2014/chart" uri="{C3380CC4-5D6E-409C-BE32-E72D297353CC}">
                <c16:uniqueId val="{00000003-D55A-45BC-8B61-45DD94C4E246}"/>
              </c:ext>
            </c:extLst>
          </c:dPt>
          <c:dPt>
            <c:idx val="2"/>
            <c:invertIfNegative val="0"/>
            <c:bubble3D val="0"/>
            <c:spPr>
              <a:solidFill>
                <a:srgbClr val="00B050"/>
              </a:solidFill>
              <a:ln>
                <a:noFill/>
              </a:ln>
              <a:effectLst/>
            </c:spPr>
            <c:extLst>
              <c:ext xmlns:c16="http://schemas.microsoft.com/office/drawing/2014/chart" uri="{C3380CC4-5D6E-409C-BE32-E72D297353CC}">
                <c16:uniqueId val="{00000005-D55A-45BC-8B61-45DD94C4E246}"/>
              </c:ext>
            </c:extLst>
          </c:dPt>
          <c:dPt>
            <c:idx val="3"/>
            <c:invertIfNegative val="0"/>
            <c:bubble3D val="0"/>
            <c:spPr>
              <a:solidFill>
                <a:srgbClr val="FFC000"/>
              </a:solidFill>
              <a:ln>
                <a:noFill/>
              </a:ln>
              <a:effectLst/>
            </c:spPr>
            <c:extLst>
              <c:ext xmlns:c16="http://schemas.microsoft.com/office/drawing/2014/chart" uri="{C3380CC4-5D6E-409C-BE32-E72D297353CC}">
                <c16:uniqueId val="{00000007-D55A-45BC-8B61-45DD94C4E246}"/>
              </c:ext>
            </c:extLst>
          </c:dPt>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5</c:v>
                </c:pt>
                <c:pt idx="1">
                  <c:v>4</c:v>
                </c:pt>
                <c:pt idx="2">
                  <c:v>9</c:v>
                </c:pt>
                <c:pt idx="3">
                  <c:v>7</c:v>
                </c:pt>
                <c:pt idx="4">
                  <c:v>2</c:v>
                </c:pt>
              </c:numCache>
            </c:numRef>
          </c:val>
          <c:extLst>
            <c:ext xmlns:c16="http://schemas.microsoft.com/office/drawing/2014/chart" uri="{C3380CC4-5D6E-409C-BE32-E72D297353CC}">
              <c16:uniqueId val="{00000008-D55A-45BC-8B61-45DD94C4E246}"/>
            </c:ext>
          </c:extLst>
        </c:ser>
        <c:dLbls>
          <c:showLegendKey val="0"/>
          <c:showVal val="0"/>
          <c:showCatName val="0"/>
          <c:showSerName val="0"/>
          <c:showPercent val="0"/>
          <c:showBubbleSize val="0"/>
        </c:dLbls>
        <c:gapWidth val="219"/>
        <c:overlap val="-27"/>
        <c:axId val="2129706880"/>
        <c:axId val="2129710272"/>
      </c:barChart>
      <c:catAx>
        <c:axId val="212970688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29710272"/>
        <c:crosses val="autoZero"/>
        <c:auto val="1"/>
        <c:lblAlgn val="ctr"/>
        <c:lblOffset val="100"/>
        <c:noMultiLvlLbl val="0"/>
      </c:catAx>
      <c:valAx>
        <c:axId val="2129710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2970688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Honeywell Sans Web" charset="0"/>
          <a:ea typeface="Honeywell Sans Web" charset="0"/>
          <a:cs typeface="Honeywell Sans Web"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r>
              <a:rPr lang="en-US"/>
              <a:t>No of Errors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barChart>
        <c:barDir val="col"/>
        <c:grouping val="clustered"/>
        <c:varyColors val="0"/>
        <c:ser>
          <c:idx val="0"/>
          <c:order val="0"/>
          <c:tx>
            <c:strRef>
              <c:f>Sheet1!$B$1</c:f>
              <c:strCache>
                <c:ptCount val="1"/>
                <c:pt idx="0">
                  <c:v># of Erros</c:v>
                </c:pt>
              </c:strCache>
            </c:strRef>
          </c:tx>
          <c:spPr>
            <a:solidFill>
              <a:schemeClr val="accent1"/>
            </a:solidFill>
            <a:ln>
              <a:noFill/>
            </a:ln>
            <a:effectLst/>
          </c:spPr>
          <c:invertIfNegative val="0"/>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5</c:v>
                </c:pt>
                <c:pt idx="1">
                  <c:v>4</c:v>
                </c:pt>
                <c:pt idx="2">
                  <c:v>9</c:v>
                </c:pt>
                <c:pt idx="3">
                  <c:v>7</c:v>
                </c:pt>
                <c:pt idx="4">
                  <c:v>3</c:v>
                </c:pt>
              </c:numCache>
            </c:numRef>
          </c:val>
          <c:extLst>
            <c:ext xmlns:c16="http://schemas.microsoft.com/office/drawing/2014/chart" uri="{C3380CC4-5D6E-409C-BE32-E72D297353CC}">
              <c16:uniqueId val="{00000000-5668-4FFF-9A7A-02C5A16C123F}"/>
            </c:ext>
          </c:extLst>
        </c:ser>
        <c:dLbls>
          <c:showLegendKey val="0"/>
          <c:showVal val="0"/>
          <c:showCatName val="0"/>
          <c:showSerName val="0"/>
          <c:showPercent val="0"/>
          <c:showBubbleSize val="0"/>
        </c:dLbls>
        <c:gapWidth val="219"/>
        <c:overlap val="-27"/>
        <c:axId val="-2106618528"/>
        <c:axId val="-2106952224"/>
      </c:barChart>
      <c:catAx>
        <c:axId val="-2106618528"/>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06952224"/>
        <c:crosses val="autoZero"/>
        <c:auto val="1"/>
        <c:lblAlgn val="ctr"/>
        <c:lblOffset val="100"/>
        <c:noMultiLvlLbl val="0"/>
      </c:catAx>
      <c:valAx>
        <c:axId val="-2106952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06618528"/>
        <c:crosses val="autoZero"/>
        <c:crossBetween val="between"/>
      </c:valAx>
      <c:spPr>
        <a:noFill/>
        <a:ln>
          <a:noFill/>
        </a:ln>
        <a:effectLst/>
      </c:spPr>
    </c:plotArea>
    <c:legend>
      <c:legendPos val="b"/>
      <c:layout>
        <c:manualLayout>
          <c:xMode val="edge"/>
          <c:yMode val="edge"/>
          <c:x val="0.40813092500140202"/>
          <c:y val="0.91321094809685499"/>
          <c:w val="0.28799206556602502"/>
          <c:h val="5.80307102857492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legend>
    <c:plotVisOnly val="1"/>
    <c:dispBlanksAs val="gap"/>
    <c:showDLblsOverMax val="0"/>
  </c:chart>
  <c:spPr>
    <a:noFill/>
    <a:ln>
      <a:noFill/>
    </a:ln>
    <a:effectLst/>
  </c:spPr>
  <c:txPr>
    <a:bodyPr/>
    <a:lstStyle/>
    <a:p>
      <a:pPr>
        <a:defRPr>
          <a:latin typeface="Honeywell Sans Web" charset="0"/>
          <a:ea typeface="Honeywell Sans Web" charset="0"/>
          <a:cs typeface="Honeywell Sans Web"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r>
              <a:rPr lang="en-US"/>
              <a:t>No of Help Provided</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Honeywell Sans Web" charset="0"/>
              <a:ea typeface="Honeywell Sans Web" charset="0"/>
              <a:cs typeface="Honeywell Sans Web" charset="0"/>
            </a:defRPr>
          </a:pPr>
          <a:endParaRPr lang="en-US"/>
        </a:p>
      </c:txPr>
    </c:title>
    <c:autoTitleDeleted val="0"/>
    <c:plotArea>
      <c:layout/>
      <c:barChart>
        <c:barDir val="col"/>
        <c:grouping val="clustered"/>
        <c:varyColors val="0"/>
        <c:ser>
          <c:idx val="0"/>
          <c:order val="0"/>
          <c:tx>
            <c:strRef>
              <c:f>Sheet1!$B$1</c:f>
              <c:strCache>
                <c:ptCount val="1"/>
                <c:pt idx="0">
                  <c:v># of help provided</c:v>
                </c:pt>
              </c:strCache>
            </c:strRef>
          </c:tx>
          <c:spPr>
            <a:solidFill>
              <a:schemeClr val="accent2"/>
            </a:solidFill>
            <a:ln>
              <a:noFill/>
            </a:ln>
            <a:effectLst/>
          </c:spPr>
          <c:invertIfNegative val="0"/>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5</c:v>
                </c:pt>
                <c:pt idx="1">
                  <c:v>4</c:v>
                </c:pt>
                <c:pt idx="2">
                  <c:v>9</c:v>
                </c:pt>
                <c:pt idx="3">
                  <c:v>7</c:v>
                </c:pt>
                <c:pt idx="4">
                  <c:v>3</c:v>
                </c:pt>
              </c:numCache>
            </c:numRef>
          </c:val>
          <c:extLst>
            <c:ext xmlns:c16="http://schemas.microsoft.com/office/drawing/2014/chart" uri="{C3380CC4-5D6E-409C-BE32-E72D297353CC}">
              <c16:uniqueId val="{00000000-FE85-4340-95F2-AA1F45AB4CE6}"/>
            </c:ext>
          </c:extLst>
        </c:ser>
        <c:dLbls>
          <c:showLegendKey val="0"/>
          <c:showVal val="0"/>
          <c:showCatName val="0"/>
          <c:showSerName val="0"/>
          <c:showPercent val="0"/>
          <c:showBubbleSize val="0"/>
        </c:dLbls>
        <c:gapWidth val="219"/>
        <c:overlap val="-27"/>
        <c:axId val="-2107574672"/>
        <c:axId val="2129677440"/>
      </c:barChart>
      <c:catAx>
        <c:axId val="-210757467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29677440"/>
        <c:crosses val="autoZero"/>
        <c:auto val="1"/>
        <c:lblAlgn val="ctr"/>
        <c:lblOffset val="100"/>
        <c:noMultiLvlLbl val="0"/>
      </c:catAx>
      <c:valAx>
        <c:axId val="212967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crossAx val="-2107574672"/>
        <c:crosses val="autoZero"/>
        <c:crossBetween val="between"/>
      </c:valAx>
      <c:spPr>
        <a:noFill/>
        <a:ln>
          <a:noFill/>
        </a:ln>
        <a:effectLst/>
      </c:spPr>
    </c:plotArea>
    <c:legend>
      <c:legendPos val="b"/>
      <c:layout>
        <c:manualLayout>
          <c:xMode val="edge"/>
          <c:yMode val="edge"/>
          <c:x val="0.40435319860575097"/>
          <c:y val="0.91843973748183605"/>
          <c:w val="0.31875433927983698"/>
          <c:h val="5.80307102857492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oneywell Sans Web" charset="0"/>
              <a:ea typeface="Honeywell Sans Web" charset="0"/>
              <a:cs typeface="Honeywell Sans Web" charset="0"/>
            </a:defRPr>
          </a:pPr>
          <a:endParaRPr lang="en-US"/>
        </a:p>
      </c:txPr>
    </c:legend>
    <c:plotVisOnly val="1"/>
    <c:dispBlanksAs val="gap"/>
    <c:showDLblsOverMax val="0"/>
  </c:chart>
  <c:spPr>
    <a:noFill/>
    <a:ln>
      <a:noFill/>
    </a:ln>
    <a:effectLst/>
  </c:spPr>
  <c:txPr>
    <a:bodyPr/>
    <a:lstStyle/>
    <a:p>
      <a:pPr>
        <a:defRPr>
          <a:latin typeface="Honeywell Sans Web" charset="0"/>
          <a:ea typeface="Honeywell Sans Web" charset="0"/>
          <a:cs typeface="Honeywell Sans Web"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4">
  <a:schemeClr val="accent4"/>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sz="quarter"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C9EB080D-8358-9C4A-BF6C-85EBED410712}" type="datetimeFigureOut">
              <a:rPr lang="en-US" altLang="en-US"/>
              <a:pPr/>
              <a:t>7/11/2018</a:t>
            </a:fld>
            <a:endParaRPr lang="en-US" altLang="en-US"/>
          </a:p>
        </p:txBody>
      </p:sp>
      <p:sp>
        <p:nvSpPr>
          <p:cNvPr id="4" name="Footer Placeholder 3"/>
          <p:cNvSpPr>
            <a:spLocks noGrp="1"/>
          </p:cNvSpPr>
          <p:nvPr>
            <p:ph type="ftr" sz="quarter" idx="2"/>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E5CF15CF-47E5-6A48-B866-FAA1ADE5BE97}" type="slidenum">
              <a:rPr lang="en-US" altLang="en-US"/>
              <a:pPr/>
              <a:t>‹#›</a:t>
            </a:fld>
            <a:endParaRPr lang="en-US" altLang="en-US"/>
          </a:p>
        </p:txBody>
      </p:sp>
    </p:spTree>
    <p:extLst>
      <p:ext uri="{BB962C8B-B14F-4D97-AF65-F5344CB8AC3E}">
        <p14:creationId xmlns:p14="http://schemas.microsoft.com/office/powerpoint/2010/main" val="14172978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A45F9174-45C6-974E-B1D1-976677190D1F}" type="datetimeFigureOut">
              <a:rPr lang="en-US" altLang="en-US"/>
              <a:pPr/>
              <a:t>7/11/2018</a:t>
            </a:fld>
            <a:endParaRPr lang="en-US" alt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pPr lvl="0"/>
            <a:endParaRPr lang="en-US" noProof="0" dirty="0"/>
          </a:p>
        </p:txBody>
      </p:sp>
      <p:sp>
        <p:nvSpPr>
          <p:cNvPr id="5" name="Notes Placeholder 4"/>
          <p:cNvSpPr>
            <a:spLocks noGrp="1"/>
          </p:cNvSpPr>
          <p:nvPr>
            <p:ph type="body" sz="quarter" idx="3"/>
          </p:nvPr>
        </p:nvSpPr>
        <p:spPr>
          <a:xfrm>
            <a:off x="701675" y="4421188"/>
            <a:ext cx="5619750" cy="4189412"/>
          </a:xfrm>
          <a:prstGeom prst="rect">
            <a:avLst/>
          </a:prstGeom>
        </p:spPr>
        <p:txBody>
          <a:bodyPr vert="horz" lIns="93324" tIns="46662" rIns="93324" bIns="46662"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13E644BB-4AA9-6C46-86D0-5ECC59FDEAC6}" type="slidenum">
              <a:rPr lang="en-US" altLang="en-US"/>
              <a:pPr/>
              <a:t>‹#›</a:t>
            </a:fld>
            <a:endParaRPr lang="en-US" altLang="en-US"/>
          </a:p>
        </p:txBody>
      </p:sp>
    </p:spTree>
    <p:extLst>
      <p:ext uri="{BB962C8B-B14F-4D97-AF65-F5344CB8AC3E}">
        <p14:creationId xmlns:p14="http://schemas.microsoft.com/office/powerpoint/2010/main" val="1315509100"/>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E644BB-4AA9-6C46-86D0-5ECC59FDEAC6}" type="slidenum">
              <a:rPr lang="en-US" altLang="en-US" smtClean="0"/>
              <a:pPr/>
              <a:t>0</a:t>
            </a:fld>
            <a:endParaRPr lang="en-US" altLang="en-US"/>
          </a:p>
        </p:txBody>
      </p:sp>
    </p:spTree>
    <p:extLst>
      <p:ext uri="{BB962C8B-B14F-4D97-AF65-F5344CB8AC3E}">
        <p14:creationId xmlns:p14="http://schemas.microsoft.com/office/powerpoint/2010/main" val="172807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42263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0"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30751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686105" y="357810"/>
            <a:ext cx="10669812" cy="498610"/>
          </a:xfrm>
          <a:prstGeom prst="rect">
            <a:avLst/>
          </a:prstGeom>
        </p:spPr>
        <p:txBody>
          <a:bodyPr/>
          <a:lstStyle>
            <a:lvl1pPr>
              <a:defRPr baseline="0">
                <a:solidFill>
                  <a:schemeClr val="tx1"/>
                </a:solidFill>
              </a:defRPr>
            </a:lvl1pPr>
          </a:lstStyle>
          <a:p>
            <a:r>
              <a:rPr lang="en-US"/>
              <a:t>Click to edit Master title style</a:t>
            </a:r>
            <a:endParaRPr lang="en-US" dirty="0"/>
          </a:p>
        </p:txBody>
      </p:sp>
      <p:sp>
        <p:nvSpPr>
          <p:cNvPr id="4" name="Slide Number Placeholder 5"/>
          <p:cNvSpPr>
            <a:spLocks noGrp="1"/>
          </p:cNvSpPr>
          <p:nvPr>
            <p:ph type="sldNum" sz="quarter" idx="11"/>
          </p:nvPr>
        </p:nvSpPr>
        <p:spPr>
          <a:xfrm>
            <a:off x="11645901" y="-28574"/>
            <a:ext cx="675217" cy="504825"/>
          </a:xfrm>
          <a:prstGeom prst="rect">
            <a:avLst/>
          </a:prstGeom>
        </p:spPr>
        <p:txBody>
          <a:bodyPr/>
          <a:lstStyle>
            <a:lvl1pPr>
              <a:defRPr/>
            </a:lvl1pPr>
          </a:lstStyle>
          <a:p>
            <a:pPr>
              <a:defRPr/>
            </a:pPr>
            <a:fld id="{C9814D0C-58DA-754D-96DF-668AE432F1BF}" type="slidenum">
              <a:rPr lang="en-US"/>
              <a:pPr>
                <a:defRPr/>
              </a:pPr>
              <a:t>‹#›</a:t>
            </a:fld>
            <a:endParaRPr lang="en-US" dirty="0"/>
          </a:p>
        </p:txBody>
      </p:sp>
      <p:sp>
        <p:nvSpPr>
          <p:cNvPr id="5" name="Content Placeholder 4"/>
          <p:cNvSpPr>
            <a:spLocks noGrp="1"/>
          </p:cNvSpPr>
          <p:nvPr>
            <p:ph sz="quarter" idx="12"/>
          </p:nvPr>
        </p:nvSpPr>
        <p:spPr>
          <a:xfrm>
            <a:off x="686104" y="1005840"/>
            <a:ext cx="10669813" cy="5308600"/>
          </a:xfrm>
          <a:prstGeom prst="rect">
            <a:avLst/>
          </a:prstGeom>
        </p:spPr>
        <p:txBody>
          <a:bodyPr/>
          <a:lstStyle>
            <a:lvl4pPr marL="1600200" indent="-228600">
              <a:buClr>
                <a:schemeClr val="accent2"/>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2"/>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0799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187570" y="508436"/>
            <a:ext cx="12004431" cy="571500"/>
          </a:xfrm>
          <a:prstGeom prst="rect">
            <a:avLst/>
          </a:prstGeom>
        </p:spPr>
        <p:txBody>
          <a:bodyPr/>
          <a:lstStyle>
            <a:lvl1pPr algn="l">
              <a:defRPr sz="2800" b="1">
                <a:latin typeface="Arial"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a:lstStyle>
            <a:lvl1pPr marL="173038" indent="-173038">
              <a:buClr>
                <a:srgbClr val="F83124"/>
              </a:buClr>
              <a:defRPr lang="en-US" sz="1800" kern="0" dirty="0" smtClean="0">
                <a:solidFill>
                  <a:srgbClr val="000000"/>
                </a:solidFill>
                <a:latin typeface="Arial" pitchFamily="34" charset="0"/>
                <a:ea typeface="+mn-ea"/>
                <a:cs typeface="Arial" pitchFamily="34" charset="0"/>
              </a:defRPr>
            </a:lvl1pPr>
            <a:lvl2pPr marL="568325" indent="-222250">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lvl="1"/>
            <a:r>
              <a:rPr lang="en-US" dirty="0"/>
              <a:t>Third level</a:t>
            </a:r>
          </a:p>
        </p:txBody>
      </p:sp>
      <p:sp>
        <p:nvSpPr>
          <p:cNvPr id="16" name="Text Placeholder 15"/>
          <p:cNvSpPr>
            <a:spLocks noGrp="1"/>
          </p:cNvSpPr>
          <p:nvPr>
            <p:ph type="body" sz="quarter" idx="11"/>
          </p:nvPr>
        </p:nvSpPr>
        <p:spPr>
          <a:xfrm>
            <a:off x="468923" y="1219200"/>
            <a:ext cx="11347939" cy="381000"/>
          </a:xfrm>
          <a:prstGeom prst="rect">
            <a:avLst/>
          </a:prstGeom>
        </p:spPr>
        <p:txBody>
          <a:bodyPr/>
          <a:lstStyle>
            <a:lvl1pPr>
              <a:buNone/>
              <a:defRPr sz="1800" b="1">
                <a:latin typeface="Arial" pitchFamily="34" charset="0"/>
                <a:cs typeface="Arial" pitchFamily="34" charset="0"/>
              </a:defRPr>
            </a:lvl1pPr>
          </a:lstStyle>
          <a:p>
            <a:pPr lvl="0"/>
            <a:r>
              <a:rPr lang="en-US"/>
              <a:t>Click to edit Master text styles</a:t>
            </a:r>
          </a:p>
        </p:txBody>
      </p:sp>
      <p:sp>
        <p:nvSpPr>
          <p:cNvPr id="17" name="Text Placeholder 5"/>
          <p:cNvSpPr>
            <a:spLocks noGrp="1"/>
          </p:cNvSpPr>
          <p:nvPr>
            <p:ph type="body" sz="quarter" idx="12"/>
          </p:nvPr>
        </p:nvSpPr>
        <p:spPr>
          <a:xfrm>
            <a:off x="0" y="6019800"/>
            <a:ext cx="12192000" cy="457200"/>
          </a:xfrm>
          <a:prstGeom prst="rect">
            <a:avLst/>
          </a:prstGeom>
          <a:solidFill>
            <a:srgbClr val="F83124"/>
          </a:solidFill>
        </p:spPr>
        <p:txBody>
          <a:bodyPr/>
          <a:lstStyle>
            <a:lvl1pPr marL="0" indent="0" algn="ctr">
              <a:buNone/>
              <a:defRPr sz="2000" b="1" i="1" baseline="0">
                <a:solidFill>
                  <a:schemeClr val="bg1"/>
                </a:solidFill>
                <a:latin typeface="Arial Black"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5378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a:prstGeom prst="rect">
            <a:avLst/>
          </a:prstGeom>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a:xfrm>
            <a:off x="11645900" y="0"/>
            <a:ext cx="674688" cy="504825"/>
          </a:xfrm>
          <a:prstGeom prst="rect">
            <a:avLst/>
          </a:prstGeom>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314097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2370" y="350520"/>
            <a:ext cx="12004431" cy="571500"/>
          </a:xfrm>
          <a:prstGeom prst="rect">
            <a:avLst/>
          </a:prstGeom>
        </p:spPr>
        <p:txBody>
          <a:bodyPr lIns="91429" tIns="45715" rIns="91429" bIns="45715"/>
          <a:lstStyle>
            <a:lvl1pPr algn="l">
              <a:defRPr sz="2600" b="1" spc="-150">
                <a:solidFill>
                  <a:schemeClr val="bg1"/>
                </a:solidFill>
                <a:latin typeface="Arial Black" panose="020B0A04020102020204" pitchFamily="34" charset="0"/>
                <a:cs typeface="Arial" pitchFamily="34" charset="0"/>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346302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70" y="357810"/>
            <a:ext cx="10507948" cy="498610"/>
          </a:xfrm>
        </p:spPr>
        <p:txBody>
          <a:bodyPr/>
          <a:lstStyle>
            <a:lvl1pPr>
              <a:defRPr baseline="0">
                <a:solidFill>
                  <a:schemeClr val="tx1"/>
                </a:solidFill>
              </a:defRPr>
            </a:lvl1pPr>
          </a:lstStyle>
          <a:p>
            <a:r>
              <a:rPr lang="en-US"/>
              <a:t>Click to edit Master title style</a:t>
            </a:r>
            <a:endParaRPr lang="en-US" dirty="0"/>
          </a:p>
        </p:txBody>
      </p:sp>
      <p:sp>
        <p:nvSpPr>
          <p:cNvPr id="5" name="Content Placeholder 4"/>
          <p:cNvSpPr>
            <a:spLocks noGrp="1"/>
          </p:cNvSpPr>
          <p:nvPr>
            <p:ph sz="quarter" idx="12"/>
          </p:nvPr>
        </p:nvSpPr>
        <p:spPr>
          <a:xfrm>
            <a:off x="714568" y="1005840"/>
            <a:ext cx="10507947" cy="5308600"/>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p:txBody>
          <a:bodyPr/>
          <a:lstStyle>
            <a:lvl1pPr>
              <a:defRPr/>
            </a:lvl1pPr>
          </a:lstStyle>
          <a:p>
            <a:fld id="{FC1E5D37-8D63-EA40-A83B-B2B3144548F4}" type="slidenum">
              <a:rPr lang="en-US" altLang="en-US"/>
              <a:pPr/>
              <a:t>‹#›</a:t>
            </a:fld>
            <a:endParaRPr lang="en-US" altLang="en-US"/>
          </a:p>
        </p:txBody>
      </p:sp>
    </p:spTree>
    <p:extLst>
      <p:ext uri="{BB962C8B-B14F-4D97-AF65-F5344CB8AC3E}">
        <p14:creationId xmlns:p14="http://schemas.microsoft.com/office/powerpoint/2010/main" val="76450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13" name="Title 1"/>
          <p:cNvSpPr>
            <a:spLocks noGrp="1"/>
          </p:cNvSpPr>
          <p:nvPr>
            <p:ph type="title"/>
          </p:nvPr>
        </p:nvSpPr>
        <p:spPr>
          <a:xfrm>
            <a:off x="714572" y="357810"/>
            <a:ext cx="10499919" cy="498610"/>
          </a:xfrm>
        </p:spPr>
        <p:txBody>
          <a:bodyPr/>
          <a:lstStyle/>
          <a:p>
            <a:r>
              <a:rPr lang="en-US"/>
              <a:t>Click to edit Master title style</a:t>
            </a:r>
            <a:endParaRPr lang="en-US" dirty="0"/>
          </a:p>
        </p:txBody>
      </p:sp>
      <p:sp>
        <p:nvSpPr>
          <p:cNvPr id="7" name="Content Placeholder 4"/>
          <p:cNvSpPr>
            <a:spLocks noGrp="1"/>
          </p:cNvSpPr>
          <p:nvPr>
            <p:ph sz="quarter" idx="12"/>
          </p:nvPr>
        </p:nvSpPr>
        <p:spPr>
          <a:xfrm>
            <a:off x="714793" y="1005840"/>
            <a:ext cx="5160304" cy="5308600"/>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4"/>
          <p:cNvSpPr>
            <a:spLocks noGrp="1"/>
          </p:cNvSpPr>
          <p:nvPr>
            <p:ph sz="quarter" idx="15"/>
          </p:nvPr>
        </p:nvSpPr>
        <p:spPr>
          <a:xfrm>
            <a:off x="6150445" y="1005840"/>
            <a:ext cx="5064040" cy="5308600"/>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6"/>
          </p:nvPr>
        </p:nvSpPr>
        <p:spPr/>
        <p:txBody>
          <a:bodyPr/>
          <a:lstStyle>
            <a:lvl1pPr>
              <a:defRPr/>
            </a:lvl1pPr>
          </a:lstStyle>
          <a:p>
            <a:fld id="{F9179EA4-3974-BE44-BAEC-75AB08C74F5E}" type="slidenum">
              <a:rPr lang="en-US" altLang="en-US"/>
              <a:pPr/>
              <a:t>‹#›</a:t>
            </a:fld>
            <a:endParaRPr lang="en-US" altLang="en-US"/>
          </a:p>
        </p:txBody>
      </p:sp>
    </p:spTree>
    <p:extLst>
      <p:ext uri="{BB962C8B-B14F-4D97-AF65-F5344CB8AC3E}">
        <p14:creationId xmlns:p14="http://schemas.microsoft.com/office/powerpoint/2010/main" val="158090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8" name="Straight Connector 7"/>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9" name="TextBox 10"/>
          <p:cNvSpPr txBox="1">
            <a:spLocks noChangeArrowheads="1"/>
          </p:cNvSpPr>
          <p:nvPr userDrawn="1"/>
        </p:nvSpPr>
        <p:spPr bwMode="auto">
          <a:xfrm>
            <a:off x="1666875" y="6804025"/>
            <a:ext cx="1841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endParaRPr lang="en-US" sz="1800"/>
          </a:p>
        </p:txBody>
      </p:sp>
      <p:sp>
        <p:nvSpPr>
          <p:cNvPr id="20" name="Title 1"/>
          <p:cNvSpPr>
            <a:spLocks noGrp="1"/>
          </p:cNvSpPr>
          <p:nvPr>
            <p:ph type="title"/>
          </p:nvPr>
        </p:nvSpPr>
        <p:spPr>
          <a:xfrm>
            <a:off x="714250" y="364798"/>
            <a:ext cx="10531033" cy="512064"/>
          </a:xfrm>
        </p:spPr>
        <p:txBody>
          <a:bodyPr/>
          <a:lstStyle/>
          <a:p>
            <a:r>
              <a:rPr lang="en-US"/>
              <a:t>Click to edit Master title style</a:t>
            </a:r>
            <a:endParaRPr lang="en-US" dirty="0"/>
          </a:p>
        </p:txBody>
      </p:sp>
      <p:sp>
        <p:nvSpPr>
          <p:cNvPr id="10" name="Content Placeholder 4"/>
          <p:cNvSpPr>
            <a:spLocks noGrp="1"/>
          </p:cNvSpPr>
          <p:nvPr>
            <p:ph sz="quarter" idx="12"/>
          </p:nvPr>
        </p:nvSpPr>
        <p:spPr>
          <a:xfrm>
            <a:off x="714241" y="1005841"/>
            <a:ext cx="5172339"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p:cNvSpPr>
            <a:spLocks noGrp="1"/>
          </p:cNvSpPr>
          <p:nvPr>
            <p:ph sz="quarter" idx="15"/>
          </p:nvPr>
        </p:nvSpPr>
        <p:spPr>
          <a:xfrm>
            <a:off x="6134785"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22"/>
          </p:nvPr>
        </p:nvSpPr>
        <p:spPr>
          <a:xfrm>
            <a:off x="714241" y="3796581"/>
            <a:ext cx="5172339"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4"/>
          <p:cNvSpPr>
            <a:spLocks noGrp="1"/>
          </p:cNvSpPr>
          <p:nvPr>
            <p:ph sz="quarter" idx="23"/>
          </p:nvPr>
        </p:nvSpPr>
        <p:spPr>
          <a:xfrm>
            <a:off x="6134785" y="3796581"/>
            <a:ext cx="5110491"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p:cNvSpPr>
            <a:spLocks noGrp="1"/>
          </p:cNvSpPr>
          <p:nvPr>
            <p:ph type="sldNum" sz="quarter" idx="24"/>
          </p:nvPr>
        </p:nvSpPr>
        <p:spPr/>
        <p:txBody>
          <a:bodyPr/>
          <a:lstStyle>
            <a:lvl1pPr>
              <a:defRPr/>
            </a:lvl1pPr>
          </a:lstStyle>
          <a:p>
            <a:fld id="{EE4036DE-DE71-014C-968C-F6EEF5D1CA36}" type="slidenum">
              <a:rPr lang="en-US" altLang="en-US"/>
              <a:pPr/>
              <a:t>‹#›</a:t>
            </a:fld>
            <a:endParaRPr lang="en-US" altLang="en-US"/>
          </a:p>
        </p:txBody>
      </p:sp>
    </p:spTree>
    <p:extLst>
      <p:ext uri="{BB962C8B-B14F-4D97-AF65-F5344CB8AC3E}">
        <p14:creationId xmlns:p14="http://schemas.microsoft.com/office/powerpoint/2010/main" val="1522989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p:spPr>
        <p:txBody>
          <a:bodyPr/>
          <a:lstStyle>
            <a:lvl1pPr>
              <a:defRPr sz="2800" b="0" i="0">
                <a:latin typeface="Honeywell Sans Medium" charset="0"/>
                <a:ea typeface="Honeywell Sans Medium" charset="0"/>
                <a:cs typeface="Honeywell Sans Medium" charset="0"/>
              </a:defRPr>
            </a:lvl1pPr>
          </a:lstStyle>
          <a:p>
            <a:r>
              <a:rPr lang="en-US"/>
              <a:t>Click to edit Master title style</a:t>
            </a:r>
            <a:endParaRPr lang="en-US" dirty="0"/>
          </a:p>
        </p:txBody>
      </p:sp>
      <p:sp>
        <p:nvSpPr>
          <p:cNvPr id="3" name="Slide Number Placeholder 5"/>
          <p:cNvSpPr>
            <a:spLocks noGrp="1"/>
          </p:cNvSpPr>
          <p:nvPr>
            <p:ph type="sldNum" sz="quarter" idx="10"/>
          </p:nvPr>
        </p:nvSpPr>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561562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267345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492370" y="304800"/>
            <a:ext cx="12004431" cy="571500"/>
          </a:xfrm>
          <a:prstGeom prst="rect">
            <a:avLst/>
          </a:prstGeom>
        </p:spPr>
        <p:txBody>
          <a:bodyPr lIns="91429" tIns="45715" rIns="91429" bIns="45715"/>
          <a:lstStyle>
            <a:lvl1pPr algn="l">
              <a:defRPr sz="2600" b="1">
                <a:solidFill>
                  <a:schemeClr val="bg1"/>
                </a:solidFill>
                <a:latin typeface="Arial Black" panose="020B0A04020102020204"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lIns="91429" tIns="45715" rIns="91429" bIns="45715"/>
          <a:lstStyle>
            <a:lvl1pPr marL="173018" indent="-173018">
              <a:buClr>
                <a:srgbClr val="F83124"/>
              </a:buClr>
              <a:defRPr lang="en-US" sz="1800" kern="0" dirty="0" smtClean="0">
                <a:solidFill>
                  <a:srgbClr val="000000"/>
                </a:solidFill>
                <a:latin typeface="Arial" pitchFamily="34" charset="0"/>
                <a:ea typeface="+mn-ea"/>
                <a:cs typeface="Arial" pitchFamily="34" charset="0"/>
              </a:defRPr>
            </a:lvl1pPr>
            <a:lvl2pPr marL="568261" indent="-222224">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marL="800009" lvl="1" indent="-176193" algn="l" defTabSz="914296" rtl="0" eaLnBrk="0" latinLnBrk="0" hangingPunct="0">
              <a:spcBef>
                <a:spcPts val="900"/>
              </a:spcBef>
              <a:buClr>
                <a:srgbClr val="00B050"/>
              </a:buClr>
              <a:buSzPct val="80000"/>
              <a:buFont typeface="Wingdings" pitchFamily="2" charset="2"/>
              <a:buChar char="v"/>
              <a:defRPr/>
            </a:pPr>
            <a:r>
              <a:rPr lang="en-US" dirty="0"/>
              <a:t>Third level</a:t>
            </a:r>
          </a:p>
        </p:txBody>
      </p:sp>
      <p:sp>
        <p:nvSpPr>
          <p:cNvPr id="16" name="Text Placeholder 15"/>
          <p:cNvSpPr>
            <a:spLocks noGrp="1"/>
          </p:cNvSpPr>
          <p:nvPr>
            <p:ph type="body" sz="quarter" idx="11" hasCustomPrompt="1"/>
          </p:nvPr>
        </p:nvSpPr>
        <p:spPr>
          <a:xfrm>
            <a:off x="468923" y="1219200"/>
            <a:ext cx="11347939" cy="381000"/>
          </a:xfrm>
          <a:prstGeom prst="rect">
            <a:avLst/>
          </a:prstGeom>
        </p:spPr>
        <p:txBody>
          <a:bodyPr lIns="91429" tIns="45715" rIns="91429" bIns="45715"/>
          <a:lstStyle>
            <a:lvl1pPr>
              <a:buNone/>
              <a:defRPr sz="1800" b="1">
                <a:latin typeface="Arial" pitchFamily="34" charset="0"/>
                <a:cs typeface="Arial" pitchFamily="34" charset="0"/>
              </a:defRPr>
            </a:lvl1pPr>
          </a:lstStyle>
          <a:p>
            <a:pPr lvl="0"/>
            <a:r>
              <a:rPr lang="en-US" dirty="0"/>
              <a:t>Heading</a:t>
            </a:r>
          </a:p>
        </p:txBody>
      </p:sp>
    </p:spTree>
    <p:custDataLst>
      <p:tags r:id="rId1"/>
    </p:custDataLst>
    <p:extLst>
      <p:ext uri="{BB962C8B-B14F-4D97-AF65-F5344CB8AC3E}">
        <p14:creationId xmlns:p14="http://schemas.microsoft.com/office/powerpoint/2010/main" val="159203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5" name="Rectangle 4"/>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ound Single Corner Rectangle 5"/>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Title 1"/>
          <p:cNvSpPr>
            <a:spLocks noGrp="1"/>
          </p:cNvSpPr>
          <p:nvPr>
            <p:ph type="title"/>
          </p:nvPr>
        </p:nvSpPr>
        <p:spPr>
          <a:xfrm>
            <a:off x="709621" y="364015"/>
            <a:ext cx="10491779" cy="511862"/>
          </a:xfrm>
        </p:spPr>
        <p:txBody>
          <a:bodyPr/>
          <a:lstStyle/>
          <a:p>
            <a:r>
              <a:rPr lang="en-US"/>
              <a:t>Click to edit Master title style</a:t>
            </a:r>
            <a:endParaRPr lang="en-US" dirty="0"/>
          </a:p>
        </p:txBody>
      </p:sp>
      <p:sp>
        <p:nvSpPr>
          <p:cNvPr id="14"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6"/>
          </p:nvPr>
        </p:nvSpPr>
        <p:spPr/>
        <p:txBody>
          <a:bodyPr/>
          <a:lstStyle>
            <a:lvl1pPr>
              <a:defRPr sz="1000"/>
            </a:lvl1pPr>
          </a:lstStyle>
          <a:p>
            <a:fld id="{ADCFD273-3BA9-0844-8544-A4EE6CAE2C72}" type="slidenum">
              <a:rPr lang="en-US" altLang="en-US"/>
              <a:pPr/>
              <a:t>‹#›</a:t>
            </a:fld>
            <a:endParaRPr lang="en-US" altLang="en-US"/>
          </a:p>
        </p:txBody>
      </p:sp>
    </p:spTree>
    <p:extLst>
      <p:ext uri="{BB962C8B-B14F-4D97-AF65-F5344CB8AC3E}">
        <p14:creationId xmlns:p14="http://schemas.microsoft.com/office/powerpoint/2010/main" val="677556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sp>
        <p:nvSpPr>
          <p:cNvPr id="6" name="Rectangle 5"/>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ound Single Corner Rectangle 6"/>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a:extLst/>
        </p:spPr>
      </p:cxnSp>
      <p:sp>
        <p:nvSpPr>
          <p:cNvPr id="2" name="Title 1"/>
          <p:cNvSpPr>
            <a:spLocks noGrp="1"/>
          </p:cNvSpPr>
          <p:nvPr>
            <p:ph type="title"/>
          </p:nvPr>
        </p:nvSpPr>
        <p:spPr>
          <a:xfrm>
            <a:off x="714109" y="357192"/>
            <a:ext cx="10480347" cy="498475"/>
          </a:xfrm>
        </p:spPr>
        <p:txBody>
          <a:bodyPr/>
          <a:lstStyle/>
          <a:p>
            <a:r>
              <a:rPr lang="en-US"/>
              <a:t>Click to edit Master title style</a:t>
            </a:r>
            <a:endParaRPr lang="en-US" dirty="0"/>
          </a:p>
        </p:txBody>
      </p:sp>
      <p:sp>
        <p:nvSpPr>
          <p:cNvPr id="11" name="Content Placeholder 4"/>
          <p:cNvSpPr>
            <a:spLocks noGrp="1"/>
          </p:cNvSpPr>
          <p:nvPr>
            <p:ph sz="quarter" idx="12"/>
          </p:nvPr>
        </p:nvSpPr>
        <p:spPr>
          <a:xfrm>
            <a:off x="714110"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Slide Number Placeholder 2"/>
          <p:cNvSpPr>
            <a:spLocks noGrp="1"/>
          </p:cNvSpPr>
          <p:nvPr>
            <p:ph type="sldNum" sz="quarter" idx="17"/>
          </p:nvPr>
        </p:nvSpPr>
        <p:spPr/>
        <p:txBody>
          <a:bodyPr/>
          <a:lstStyle>
            <a:lvl1pPr>
              <a:defRPr/>
            </a:lvl1pPr>
          </a:lstStyle>
          <a:p>
            <a:fld id="{EF5F0A62-F77C-0641-A60D-6B56B0D9244C}" type="slidenum">
              <a:rPr lang="en-US" altLang="en-US"/>
              <a:pPr/>
              <a:t>‹#›</a:t>
            </a:fld>
            <a:endParaRPr lang="en-US" altLang="en-US"/>
          </a:p>
        </p:txBody>
      </p:sp>
    </p:spTree>
    <p:extLst>
      <p:ext uri="{BB962C8B-B14F-4D97-AF65-F5344CB8AC3E}">
        <p14:creationId xmlns:p14="http://schemas.microsoft.com/office/powerpoint/2010/main" val="1732622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sp>
        <p:nvSpPr>
          <p:cNvPr id="8" name="Rectangle 7"/>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ound Single Corner Rectangle 8"/>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a:extLst/>
        </p:spPr>
      </p:cxnSp>
      <p:sp>
        <p:nvSpPr>
          <p:cNvPr id="16" name="Title 1"/>
          <p:cNvSpPr>
            <a:spLocks noGrp="1"/>
          </p:cNvSpPr>
          <p:nvPr>
            <p:ph type="title"/>
          </p:nvPr>
        </p:nvSpPr>
        <p:spPr>
          <a:xfrm>
            <a:off x="714111" y="364859"/>
            <a:ext cx="10472508" cy="485358"/>
          </a:xfrm>
        </p:spPr>
        <p:txBody>
          <a:bodyPr/>
          <a:lstStyle/>
          <a:p>
            <a:r>
              <a:rPr lang="en-US"/>
              <a:t>Click to edit Master title style</a:t>
            </a:r>
            <a:endParaRPr lang="en-US" dirty="0"/>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Content Placeholder 4"/>
          <p:cNvSpPr>
            <a:spLocks noGrp="1"/>
          </p:cNvSpPr>
          <p:nvPr>
            <p:ph sz="quarter" idx="24"/>
          </p:nvPr>
        </p:nvSpPr>
        <p:spPr>
          <a:xfrm>
            <a:off x="6123491" y="3796577"/>
            <a:ext cx="5063135"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Content Placeholder 4"/>
          <p:cNvSpPr>
            <a:spLocks noGrp="1"/>
          </p:cNvSpPr>
          <p:nvPr>
            <p:ph sz="quarter" idx="25"/>
          </p:nvPr>
        </p:nvSpPr>
        <p:spPr>
          <a:xfrm>
            <a:off x="6123491" y="1005841"/>
            <a:ext cx="5063135"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12" name="Slide Number Placeholder 5"/>
          <p:cNvSpPr>
            <a:spLocks noGrp="1"/>
          </p:cNvSpPr>
          <p:nvPr>
            <p:ph type="sldNum" sz="quarter" idx="26"/>
          </p:nvPr>
        </p:nvSpPr>
        <p:spPr/>
        <p:txBody>
          <a:bodyPr/>
          <a:lstStyle>
            <a:lvl1pPr>
              <a:defRPr/>
            </a:lvl1pPr>
          </a:lstStyle>
          <a:p>
            <a:fld id="{1F4DDCF1-86F2-EE49-BE3C-309AC809379C}" type="slidenum">
              <a:rPr lang="en-US" altLang="en-US"/>
              <a:pPr/>
              <a:t>‹#›</a:t>
            </a:fld>
            <a:endParaRPr lang="en-US" altLang="en-US"/>
          </a:p>
        </p:txBody>
      </p:sp>
    </p:spTree>
    <p:extLst>
      <p:ext uri="{BB962C8B-B14F-4D97-AF65-F5344CB8AC3E}">
        <p14:creationId xmlns:p14="http://schemas.microsoft.com/office/powerpoint/2010/main" val="310053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4" name="Rectangle 3"/>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ound Single Corner Rectangle 4"/>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14242" y="357192"/>
            <a:ext cx="10455164" cy="498475"/>
          </a:xfrm>
        </p:spPr>
        <p:txBody>
          <a:bodyPr/>
          <a:lstStyle/>
          <a:p>
            <a:r>
              <a:rPr lang="en-US"/>
              <a:t>Click to edit Master title style</a:t>
            </a:r>
            <a:endParaRPr lang="en-US" dirty="0"/>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6" name="Slide Number Placeholder 2"/>
          <p:cNvSpPr>
            <a:spLocks noGrp="1"/>
          </p:cNvSpPr>
          <p:nvPr>
            <p:ph type="sldNum" sz="quarter" idx="16"/>
          </p:nvPr>
        </p:nvSpPr>
        <p:spPr/>
        <p:txBody>
          <a:bodyPr/>
          <a:lstStyle>
            <a:lvl1pPr>
              <a:defRPr/>
            </a:lvl1pPr>
          </a:lstStyle>
          <a:p>
            <a:fld id="{0E3C6540-DC68-5745-8920-98AA77304338}" type="slidenum">
              <a:rPr lang="en-US" altLang="en-US"/>
              <a:pPr/>
              <a:t>‹#›</a:t>
            </a:fld>
            <a:endParaRPr lang="en-US" altLang="en-US"/>
          </a:p>
        </p:txBody>
      </p:sp>
    </p:spTree>
    <p:extLst>
      <p:ext uri="{BB962C8B-B14F-4D97-AF65-F5344CB8AC3E}">
        <p14:creationId xmlns:p14="http://schemas.microsoft.com/office/powerpoint/2010/main" val="1278754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3"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2" y="5960249"/>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01"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0"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091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4.xml"/><Relationship Id="rId7"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11.png"/><Relationship Id="rId4" Type="http://schemas.openxmlformats.org/officeDocument/2006/relationships/slideLayout" Target="../slideLayouts/slideLayout10.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theme" Target="../theme/theme5.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9" descr="Picture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15875"/>
            <a:ext cx="4624388"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2"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108700"/>
            <a:ext cx="18954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4" descr="Corner-01 copy.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0"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0" r:id="rId1"/>
  </p:sldLayoutIdLst>
  <p:hf hdr="0" ftr="0" dt="0"/>
  <p:txStyles>
    <p:titleStyle>
      <a:lvl1pPr algn="l" defTabSz="457200" rtl="0" eaLnBrk="1" fontAlgn="base" hangingPunct="1">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1" fontAlgn="base" hangingPunct="1">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1" fontAlgn="base" hangingPunct="1">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1" fontAlgn="base" hangingPunct="1">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1" descr="ATail.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6" descr="\\localhost\Volumes\DMS-Server\Clients\Honeywell PPT \Honeywell - Freestanding Logos\Honeywell - Freestanding Logo RGB.png"/>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userDrawn="1"/>
        </p:nvSpPr>
        <p:spPr>
          <a:xfrm>
            <a:off x="5005388" y="1717675"/>
            <a:ext cx="1824037" cy="833438"/>
          </a:xfrm>
          <a:prstGeom prst="rect">
            <a:avLst/>
          </a:prstGeom>
        </p:spPr>
        <p:txBody>
          <a:bodyPr/>
          <a:lst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a:lstStyle>
          <a:p>
            <a:pPr>
              <a:defRPr/>
            </a:pPr>
            <a:r>
              <a:rPr lang="en-US" dirty="0">
                <a:solidFill>
                  <a:srgbClr val="FFFFFF"/>
                </a:solidFill>
                <a:latin typeface="Arial" charset="0"/>
              </a:rPr>
              <a:t>HUE</a:t>
            </a:r>
          </a:p>
        </p:txBody>
      </p:sp>
      <p:sp>
        <p:nvSpPr>
          <p:cNvPr id="2" name="Donut 1"/>
          <p:cNvSpPr/>
          <p:nvPr userDrawn="1"/>
        </p:nvSpPr>
        <p:spPr>
          <a:xfrm>
            <a:off x="4768850" y="1303338"/>
            <a:ext cx="1281113" cy="1281112"/>
          </a:xfrm>
          <a:prstGeom prst="donut">
            <a:avLst>
              <a:gd name="adj" fmla="val 4098"/>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94081" r:id="rId1"/>
    <p:sldLayoutId id="2147494090" r:id="rId2"/>
    <p:sldLayoutId id="2147494096" r:id="rId3"/>
    <p:sldLayoutId id="2147494103" r:id="rId4"/>
    <p:sldLayoutId id="2147494104" r:id="rId5"/>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corner.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42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368839" y="340410"/>
            <a:ext cx="104806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2A8CB18A-F66A-0349-9EA4-9C9209B05FC4}" type="slidenum">
              <a:rPr lang="en-US" altLang="en-US"/>
              <a:pPr/>
              <a:t>‹#›</a:t>
            </a:fld>
            <a:endParaRPr lang="en-US" altLang="en-US"/>
          </a:p>
        </p:txBody>
      </p:sp>
      <p:pic>
        <p:nvPicPr>
          <p:cNvPr id="5125" name="Picture 10" descr="\\localhost\Volumes\DMS-Server\Clients\Honeywell PPT \Honeywell - Freestanding Logos\Honeywell - Freestanding Logo RGB.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0388600" y="6519863"/>
            <a:ext cx="13716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23"/>
          <p:cNvSpPr>
            <a:spLocks noChangeArrowheads="1"/>
          </p:cNvSpPr>
          <p:nvPr/>
        </p:nvSpPr>
        <p:spPr bwMode="auto">
          <a:xfrm>
            <a:off x="1123677" y="6558210"/>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t>
            </a:r>
            <a:r>
              <a:rPr lang="en-US" altLang="en-US" sz="700" dirty="0">
                <a:solidFill>
                  <a:srgbClr val="707070"/>
                </a:solidFill>
              </a:rPr>
              <a:t>All rights reserved. </a:t>
            </a:r>
          </a:p>
        </p:txBody>
      </p:sp>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68839" y="6580188"/>
            <a:ext cx="578670" cy="186436"/>
          </a:xfrm>
          <a:prstGeom prst="rect">
            <a:avLst/>
          </a:prstGeom>
        </p:spPr>
      </p:pic>
    </p:spTree>
  </p:cSld>
  <p:clrMap bg1="lt1" tx1="dk1" bg2="lt2" tx2="dk2" accent1="accent1" accent2="accent2" accent3="accent3" accent4="accent4" accent5="accent5" accent6="accent6" hlink="hlink" folHlink="folHlink"/>
  <p:sldLayoutIdLst>
    <p:sldLayoutId id="2147494078" r:id="rId1"/>
    <p:sldLayoutId id="2147494082" r:id="rId2"/>
    <p:sldLayoutId id="2147494083" r:id="rId3"/>
    <p:sldLayoutId id="2147494079" r:id="rId4"/>
    <p:sldLayoutId id="2147494098" r:id="rId5"/>
    <p:sldLayoutId id="2147494101" r:id="rId6"/>
  </p:sldLayoutIdLst>
  <p:hf hdr="0" ftr="0" dt="0"/>
  <p:txStyles>
    <p:titleStyle>
      <a:lvl1pPr algn="l" defTabSz="457200" rtl="0" eaLnBrk="0" fontAlgn="base" hangingPunct="0">
        <a:spcBef>
          <a:spcPct val="0"/>
        </a:spcBef>
        <a:spcAft>
          <a:spcPct val="0"/>
        </a:spcAft>
        <a:defRPr lang="en-US" sz="2400" b="1" i="0" kern="1200" dirty="0">
          <a:solidFill>
            <a:schemeClr val="tx1"/>
          </a:solidFill>
          <a:latin typeface="Honeywell Sans" charset="0"/>
          <a:ea typeface="Honeywell Sans" charset="0"/>
          <a:cs typeface="Honeywell Sans"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1" descr="16-9 wTKaway.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207875"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1268" name="Rectangle 23"/>
          <p:cNvSpPr>
            <a:spLocks noChangeArrowheads="1"/>
          </p:cNvSpPr>
          <p:nvPr/>
        </p:nvSpPr>
        <p:spPr bwMode="auto">
          <a:xfrm>
            <a:off x="730250" y="6164263"/>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565D113E-1FDA-DC45-9CDC-9509235C1AF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94085" r:id="rId1"/>
    <p:sldLayoutId id="2147494086" r:id="rId2"/>
    <p:sldLayoutId id="2147494087" r:id="rId3"/>
    <p:sldLayoutId id="2147494088" r:id="rId4"/>
  </p:sldLayoutIdLst>
  <p:hf hdr="0" ftr="0" dt="0"/>
  <p:txStyles>
    <p:titleStyle>
      <a:lvl1pPr algn="l" defTabSz="457200" rtl="0" eaLnBrk="0" fontAlgn="base" hangingPunct="0">
        <a:spcBef>
          <a:spcPct val="0"/>
        </a:spcBef>
        <a:spcAft>
          <a:spcPct val="0"/>
        </a:spcAft>
        <a:defRPr lang="en-US" sz="2800" b="1" kern="1200" dirty="0">
          <a:solidFill>
            <a:schemeClr val="tx1"/>
          </a:solidFill>
          <a:latin typeface="Arial" pitchFamily="34" charset="0"/>
          <a:ea typeface="ＭＳ Ｐゴシック" charset="0"/>
          <a:cs typeface="Arial" pitchFamily="34"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386" name="Picture 4" descr="ATai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9938"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4" descr="Corner-01 copy.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4310063"/>
            <a:ext cx="12192000"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2" descr="\\localhost\Volumes\DMS-Server\Clients\Honeywell PPT \Honeywell - Freestanding Logos\Honeywell - Freestanding Logo RGB.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669463" y="6199188"/>
            <a:ext cx="19002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9" r:id="rId1"/>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Placeholder 4"/>
          <p:cNvSpPr>
            <a:spLocks noGrp="1"/>
          </p:cNvSpPr>
          <p:nvPr>
            <p:ph type="body" sz="quarter" idx="12"/>
          </p:nvPr>
        </p:nvSpPr>
        <p:spPr bwMode="auto">
          <a:xfrm>
            <a:off x="2875598" y="6070601"/>
            <a:ext cx="6616700" cy="254000"/>
          </a:xfrm>
          <a:extLst/>
        </p:spPr>
        <p:txBody>
          <a:bodyPr vert="horz" anchor="ctr"/>
          <a:lstStyle/>
          <a:p>
            <a:pPr marL="0">
              <a:spcBef>
                <a:spcPts val="0"/>
              </a:spcBef>
            </a:pPr>
            <a:r>
              <a:rPr lang="en-US" dirty="0">
                <a:solidFill>
                  <a:schemeClr val="tx1">
                    <a:lumMod val="75000"/>
                    <a:lumOff val="25000"/>
                  </a:schemeClr>
                </a:solidFill>
                <a:latin typeface="Honeywell Sans Web" charset="0"/>
                <a:ea typeface="Honeywell Sans Web" charset="0"/>
                <a:cs typeface="Honeywell Sans Web" charset="0"/>
              </a:rPr>
              <a:t>Usability Test Results </a:t>
            </a:r>
          </a:p>
          <a:p>
            <a:pPr marL="0">
              <a:spcBef>
                <a:spcPts val="0"/>
              </a:spcBef>
            </a:pPr>
            <a:r>
              <a:rPr lang="en-US" dirty="0">
                <a:solidFill>
                  <a:schemeClr val="tx1">
                    <a:lumMod val="75000"/>
                    <a:lumOff val="25000"/>
                  </a:schemeClr>
                </a:solidFill>
                <a:latin typeface="Honeywell Sans Web" charset="0"/>
                <a:ea typeface="Honeywell Sans Web" charset="0"/>
                <a:cs typeface="Honeywell Sans Web" charset="0"/>
              </a:rPr>
              <a:t>Presentation</a:t>
            </a:r>
          </a:p>
        </p:txBody>
      </p:sp>
      <p:sp>
        <p:nvSpPr>
          <p:cNvPr id="20483" name="Content Placeholder 1"/>
          <p:cNvSpPr>
            <a:spLocks noGrp="1"/>
          </p:cNvSpPr>
          <p:nvPr>
            <p:ph sz="quarter" idx="10"/>
          </p:nvPr>
        </p:nvSpPr>
        <p:spPr bwMode="auto">
          <a:xfrm>
            <a:off x="266700" y="5949950"/>
            <a:ext cx="2482850" cy="236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p>
            <a:pPr marL="0" indent="0"/>
            <a:r>
              <a:rPr lang="en-US" altLang="en-US" dirty="0">
                <a:solidFill>
                  <a:srgbClr val="595959"/>
                </a:solidFill>
                <a:latin typeface="Honeywell Sans" charset="0"/>
                <a:ea typeface="Honeywell Sans" charset="0"/>
                <a:cs typeface="Honeywell Sans" charset="0"/>
              </a:rPr>
              <a:t>Prasad</a:t>
            </a:r>
          </a:p>
        </p:txBody>
      </p:sp>
      <p:sp>
        <p:nvSpPr>
          <p:cNvPr id="20484" name="Text Placeholder 3"/>
          <p:cNvSpPr>
            <a:spLocks noGrp="1"/>
          </p:cNvSpPr>
          <p:nvPr>
            <p:ph type="body" sz="quarter" idx="11"/>
          </p:nvPr>
        </p:nvSpPr>
        <p:spPr bwMode="auto">
          <a:xfrm>
            <a:off x="266700" y="6199188"/>
            <a:ext cx="2482850" cy="2492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p>
            <a:pPr marL="0" indent="0"/>
            <a:r>
              <a:rPr lang="en-US" altLang="en-US" dirty="0">
                <a:solidFill>
                  <a:srgbClr val="595959"/>
                </a:solidFill>
                <a:latin typeface="Honeywell Sans" charset="0"/>
                <a:ea typeface="Honeywell Sans" charset="0"/>
                <a:cs typeface="Honeywell Sans" charset="0"/>
              </a:rPr>
              <a:t>Nov 2016</a:t>
            </a:r>
          </a:p>
        </p:txBody>
      </p:sp>
      <p:sp>
        <p:nvSpPr>
          <p:cNvPr id="20485" name="Slide Number Placeholder 3"/>
          <p:cNvSpPr>
            <a:spLocks noGrp="1"/>
          </p:cNvSpPr>
          <p:nvPr>
            <p:ph type="sldNum" sz="quarter" idx="4294967295"/>
          </p:nvPr>
        </p:nvSpPr>
        <p:spPr bwMode="auto">
          <a:xfrm>
            <a:off x="11517313" y="0"/>
            <a:ext cx="67468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76B4F42D-98EE-4A47-AEDA-D0FFDA8DDBEF}" type="slidenum">
              <a:rPr lang="en-US" altLang="en-US" sz="1100">
                <a:solidFill>
                  <a:schemeClr val="bg1"/>
                </a:solidFill>
              </a:rPr>
              <a:pPr eaLnBrk="1" hangingPunct="1"/>
              <a:t>0</a:t>
            </a:fld>
            <a:endParaRPr lang="en-US" altLang="en-US" sz="11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1</a:t>
            </a:fld>
            <a:endParaRPr lang="en-US" altLang="en-US"/>
          </a:p>
        </p:txBody>
      </p:sp>
      <p:sp>
        <p:nvSpPr>
          <p:cNvPr id="8" name="Rectangle 7"/>
          <p:cNvSpPr/>
          <p:nvPr/>
        </p:nvSpPr>
        <p:spPr>
          <a:xfrm>
            <a:off x="2825492" y="1266017"/>
            <a:ext cx="6096000" cy="4247317"/>
          </a:xfrm>
          <a:prstGeom prst="rect">
            <a:avLst/>
          </a:prstGeom>
        </p:spPr>
        <p:txBody>
          <a:bodyPr>
            <a:spAutoFit/>
          </a:bodyPr>
          <a:lstStyle/>
          <a:p>
            <a:pPr marL="0" marR="0" algn="ctr">
              <a:lnSpc>
                <a:spcPct val="150000"/>
              </a:lnSpc>
              <a:spcBef>
                <a:spcPts val="0"/>
              </a:spcBef>
              <a:spcAft>
                <a:spcPts val="0"/>
              </a:spcAft>
            </a:pPr>
            <a:r>
              <a:rPr lang="en-US" sz="3600" b="1" dirty="0">
                <a:solidFill>
                  <a:srgbClr val="41454C"/>
                </a:solidFill>
                <a:latin typeface="Honeywell Sans Web" charset="0"/>
                <a:ea typeface="Honeywell Sans Web" charset="0"/>
                <a:cs typeface="Honeywell Sans Web" charset="0"/>
              </a:rPr>
              <a:t>{Name of Product} Usability Test</a:t>
            </a:r>
            <a:endParaRPr lang="en-US" dirty="0">
              <a:latin typeface="Honeywell Sans Web" charset="0"/>
              <a:ea typeface="Honeywell Sans Web" charset="0"/>
              <a:cs typeface="Honeywell Sans Web" charset="0"/>
            </a:endParaRPr>
          </a:p>
          <a:p>
            <a:pPr marL="0" marR="0" algn="ctr">
              <a:lnSpc>
                <a:spcPct val="150000"/>
              </a:lnSpc>
              <a:spcBef>
                <a:spcPts val="0"/>
              </a:spcBef>
              <a:spcAft>
                <a:spcPts val="0"/>
              </a:spcAft>
            </a:pPr>
            <a:r>
              <a:rPr lang="en-US" dirty="0">
                <a:solidFill>
                  <a:schemeClr val="bg1">
                    <a:lumMod val="50000"/>
                  </a:schemeClr>
                </a:solidFill>
                <a:latin typeface="Honeywell Sans Web" charset="0"/>
                <a:ea typeface="Honeywell Sans Web" charset="0"/>
                <a:cs typeface="Honeywell Sans Web" charset="0"/>
              </a:rPr>
              <a:t>Test conducted by {Names of researchers}</a:t>
            </a:r>
          </a:p>
          <a:p>
            <a:pPr marL="0" marR="0" algn="just">
              <a:lnSpc>
                <a:spcPct val="150000"/>
              </a:lnSpc>
              <a:spcBef>
                <a:spcPts val="0"/>
              </a:spcBef>
              <a:spcAft>
                <a:spcPts val="0"/>
              </a:spcAft>
            </a:pPr>
            <a:r>
              <a:rPr lang="en-US" sz="3600" b="1" dirty="0">
                <a:solidFill>
                  <a:srgbClr val="41454C"/>
                </a:solidFill>
                <a:latin typeface="Honeywell Sans Web" charset="0"/>
                <a:ea typeface="Honeywell Sans Web" charset="0"/>
                <a:cs typeface="Honeywell Sans Web" charset="0"/>
              </a:rPr>
              <a:t> </a:t>
            </a:r>
            <a:endParaRPr lang="en-US" dirty="0">
              <a:latin typeface="Honeywell Sans Web" charset="0"/>
              <a:ea typeface="Honeywell Sans Web" charset="0"/>
              <a:cs typeface="Honeywell Sans Web" charset="0"/>
            </a:endParaRPr>
          </a:p>
          <a:p>
            <a:pPr marL="0" marR="0" algn="just">
              <a:lnSpc>
                <a:spcPct val="150000"/>
              </a:lnSpc>
              <a:spcBef>
                <a:spcPts val="0"/>
              </a:spcBef>
              <a:spcAft>
                <a:spcPts val="0"/>
              </a:spcAft>
            </a:pPr>
            <a:r>
              <a:rPr lang="en-US" sz="3600" b="1" dirty="0">
                <a:solidFill>
                  <a:srgbClr val="41454C"/>
                </a:solidFill>
                <a:latin typeface="Honeywell Sans Web" charset="0"/>
                <a:ea typeface="Honeywell Sans Web" charset="0"/>
                <a:cs typeface="Honeywell Sans Web" charset="0"/>
              </a:rPr>
              <a:t> </a:t>
            </a:r>
            <a:endParaRPr lang="en-US" dirty="0">
              <a:latin typeface="Honeywell Sans Web" charset="0"/>
              <a:ea typeface="Honeywell Sans Web" charset="0"/>
              <a:cs typeface="Honeywell Sans Web" charset="0"/>
            </a:endParaRPr>
          </a:p>
          <a:p>
            <a:pPr marL="0" marR="0" algn="ctr">
              <a:lnSpc>
                <a:spcPct val="150000"/>
              </a:lnSpc>
              <a:spcBef>
                <a:spcPts val="0"/>
              </a:spcBef>
              <a:spcAft>
                <a:spcPts val="0"/>
              </a:spcAft>
            </a:pPr>
            <a:r>
              <a:rPr lang="en-US" dirty="0">
                <a:solidFill>
                  <a:srgbClr val="41454C"/>
                </a:solidFill>
                <a:latin typeface="Honeywell Sans Web" charset="0"/>
                <a:ea typeface="Honeywell Sans Web" charset="0"/>
                <a:cs typeface="Honeywell Sans Web" charset="0"/>
              </a:rPr>
              <a:t>{Report Date}</a:t>
            </a:r>
            <a:endParaRPr lang="en-US" dirty="0">
              <a:effectLst/>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102665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Table of Contents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2</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8348" y="1342326"/>
            <a:ext cx="6096000" cy="4478149"/>
          </a:xfrm>
          <a:prstGeom prst="rect">
            <a:avLst/>
          </a:prstGeom>
        </p:spPr>
        <p:txBody>
          <a:bodyPr>
            <a:spAutoFit/>
          </a:bodyPr>
          <a:lstStyle/>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Objective and Goals------------------------  3</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Executive Summary------------------------  4</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Detailed Summary-------------------------	 5</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Participants--------------------------------   6</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Scenarios &amp; Tasks -------------------------   8</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Results  ------------------------------------	 9</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Key Findings  ------------------------------- 12</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Notable quotes	---------------------------	13</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Recommendations -------------------------	14</a:t>
            </a:r>
          </a:p>
          <a:p>
            <a:pPr lvl="0" defTabSz="914400" eaLnBrk="0" hangingPunct="0">
              <a:lnSpc>
                <a:spcPct val="150000"/>
              </a:lnSpc>
              <a:spcAft>
                <a:spcPts val="200"/>
              </a:spcAft>
            </a:pPr>
            <a:r>
              <a:rPr lang="en-US" altLang="en-US" dirty="0">
                <a:latin typeface="Honeywell Sans Medium" charset="0"/>
                <a:ea typeface="Honeywell Sans Medium" charset="0"/>
                <a:cs typeface="Honeywell Sans Medium" charset="0"/>
              </a:rPr>
              <a:t>Conclusion  ---------------------------------15</a:t>
            </a:r>
          </a:p>
        </p:txBody>
      </p:sp>
    </p:spTree>
    <p:extLst>
      <p:ext uri="{BB962C8B-B14F-4D97-AF65-F5344CB8AC3E}">
        <p14:creationId xmlns:p14="http://schemas.microsoft.com/office/powerpoint/2010/main" val="1908470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Objectives and Goals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3</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5124" y="1070813"/>
            <a:ext cx="1496205" cy="496626"/>
          </a:xfrm>
          <a:prstGeom prst="rect">
            <a:avLst/>
          </a:prstGeom>
          <a:no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lvl="0" defTabSz="914400" eaLnBrk="0" hangingPunct="0">
              <a:lnSpc>
                <a:spcPct val="150000"/>
              </a:lnSpc>
            </a:pPr>
            <a:r>
              <a:rPr lang="en-US" altLang="en-US" b="1" dirty="0">
                <a:solidFill>
                  <a:schemeClr val="tx1">
                    <a:lumMod val="65000"/>
                    <a:lumOff val="35000"/>
                  </a:schemeClr>
                </a:solidFill>
                <a:latin typeface="Honeywell Sans Web" charset="0"/>
                <a:ea typeface="Honeywell Sans Web" charset="0"/>
                <a:cs typeface="Honeywell Sans Web" charset="0"/>
              </a:rPr>
              <a:t>Objective</a:t>
            </a:r>
          </a:p>
        </p:txBody>
      </p:sp>
      <p:sp>
        <p:nvSpPr>
          <p:cNvPr id="10" name="Rectangle 9"/>
          <p:cNvSpPr/>
          <p:nvPr/>
        </p:nvSpPr>
        <p:spPr>
          <a:xfrm>
            <a:off x="345124" y="2691795"/>
            <a:ext cx="1496205" cy="496626"/>
          </a:xfrm>
          <a:prstGeom prst="rect">
            <a:avLst/>
          </a:prstGeom>
          <a:no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lvl="0" defTabSz="914400" eaLnBrk="0" hangingPunct="0">
              <a:lnSpc>
                <a:spcPct val="150000"/>
              </a:lnSpc>
            </a:pPr>
            <a:r>
              <a:rPr lang="en-US" altLang="en-US" b="1" dirty="0">
                <a:solidFill>
                  <a:schemeClr val="tx1">
                    <a:lumMod val="65000"/>
                    <a:lumOff val="35000"/>
                  </a:schemeClr>
                </a:solidFill>
                <a:latin typeface="Honeywell Sans Web" charset="0"/>
                <a:ea typeface="Honeywell Sans Web" charset="0"/>
                <a:cs typeface="Honeywell Sans Web" charset="0"/>
              </a:rPr>
              <a:t>Goals</a:t>
            </a:r>
          </a:p>
        </p:txBody>
      </p:sp>
      <p:sp>
        <p:nvSpPr>
          <p:cNvPr id="11" name="Rectangle 10"/>
          <p:cNvSpPr/>
          <p:nvPr/>
        </p:nvSpPr>
        <p:spPr>
          <a:xfrm>
            <a:off x="89617" y="1567439"/>
            <a:ext cx="11451301" cy="584775"/>
          </a:xfrm>
          <a:prstGeom prst="rect">
            <a:avLst/>
          </a:prstGeom>
        </p:spPr>
        <p:txBody>
          <a:bodyPr wrap="square">
            <a:spAutoFit/>
          </a:bodyPr>
          <a:lstStyle/>
          <a:p>
            <a:pPr marL="457200" marR="0">
              <a:spcBef>
                <a:spcPts val="0"/>
              </a:spcBef>
              <a:spcAft>
                <a:spcPts val="0"/>
              </a:spcAft>
            </a:pPr>
            <a:r>
              <a:rPr lang="en-US" sz="1600" dirty="0">
                <a:solidFill>
                  <a:schemeClr val="tx1">
                    <a:lumMod val="75000"/>
                    <a:lumOff val="25000"/>
                  </a:schemeClr>
                </a:solidFill>
                <a:effectLst/>
                <a:latin typeface="Honeywell Sans" charset="0"/>
                <a:ea typeface="Honeywell Sans" charset="0"/>
                <a:cs typeface="Honeywell Sans" charset="0"/>
              </a:rPr>
              <a:t>The Purpose of this document is to identify and recommend solutions to the most critical problems found during the Usability study of the _________________________  project.</a:t>
            </a:r>
          </a:p>
        </p:txBody>
      </p:sp>
      <p:sp>
        <p:nvSpPr>
          <p:cNvPr id="12" name="Rectangle 11"/>
          <p:cNvSpPr/>
          <p:nvPr/>
        </p:nvSpPr>
        <p:spPr>
          <a:xfrm>
            <a:off x="89617" y="3188421"/>
            <a:ext cx="11451301" cy="584775"/>
          </a:xfrm>
          <a:prstGeom prst="rect">
            <a:avLst/>
          </a:prstGeom>
        </p:spPr>
        <p:txBody>
          <a:bodyPr wrap="square">
            <a:spAutoFit/>
          </a:bodyPr>
          <a:lstStyle/>
          <a:p>
            <a:pPr marL="457200">
              <a:spcBef>
                <a:spcPts val="0"/>
              </a:spcBef>
              <a:spcAft>
                <a:spcPts val="0"/>
              </a:spcAft>
            </a:pPr>
            <a:r>
              <a:rPr lang="en-US" sz="1600" dirty="0">
                <a:solidFill>
                  <a:schemeClr val="tx1">
                    <a:lumMod val="75000"/>
                    <a:lumOff val="25000"/>
                  </a:schemeClr>
                </a:solidFill>
                <a:latin typeface="Honeywell Sans Web" charset="0"/>
                <a:ea typeface="Honeywell Sans Web" charset="0"/>
                <a:cs typeface="Honeywell Sans Web" charset="0"/>
              </a:rPr>
              <a:t>To make the users to do some key tasks within the application and get their qualitative  feedback on the task / System’s Learnability , Efficiency, Effectiveness and Satisfaction rate</a:t>
            </a:r>
          </a:p>
        </p:txBody>
      </p:sp>
      <p:sp>
        <p:nvSpPr>
          <p:cNvPr id="15" name="Rectangle 14"/>
          <p:cNvSpPr/>
          <p:nvPr/>
        </p:nvSpPr>
        <p:spPr>
          <a:xfrm>
            <a:off x="233191" y="4041943"/>
            <a:ext cx="10245353" cy="338554"/>
          </a:xfrm>
          <a:prstGeom prst="rect">
            <a:avLst/>
          </a:prstGeom>
        </p:spPr>
        <p:txBody>
          <a:bodyPr wrap="square">
            <a:spAutoFit/>
          </a:bodyPr>
          <a:lstStyle/>
          <a:p>
            <a:pPr marL="457200" marR="0">
              <a:spcBef>
                <a:spcPts val="0"/>
              </a:spcBef>
              <a:spcAft>
                <a:spcPts val="0"/>
              </a:spcAft>
            </a:pPr>
            <a:r>
              <a:rPr lang="en-US" sz="1600" dirty="0">
                <a:solidFill>
                  <a:schemeClr val="tx1">
                    <a:lumMod val="50000"/>
                    <a:lumOff val="50000"/>
                  </a:schemeClr>
                </a:solidFill>
                <a:latin typeface="Honeywell Sans" charset="0"/>
                <a:ea typeface="Honeywell Sans" charset="0"/>
                <a:cs typeface="Honeywell Sans" charset="0"/>
              </a:rPr>
              <a:t>&lt;!—  Customize this further based on your study  --&gt;</a:t>
            </a:r>
            <a:endParaRPr lang="en-US" sz="1600" dirty="0">
              <a:solidFill>
                <a:schemeClr val="tx1">
                  <a:lumMod val="50000"/>
                  <a:lumOff val="50000"/>
                </a:schemeClr>
              </a:solidFill>
              <a:effectLst/>
              <a:latin typeface="Honeywell Sans" charset="0"/>
              <a:ea typeface="Honeywell Sans" charset="0"/>
              <a:cs typeface="Honeywell Sans" charset="0"/>
            </a:endParaRPr>
          </a:p>
        </p:txBody>
      </p:sp>
    </p:spTree>
    <p:extLst>
      <p:ext uri="{BB962C8B-B14F-4D97-AF65-F5344CB8AC3E}">
        <p14:creationId xmlns:p14="http://schemas.microsoft.com/office/powerpoint/2010/main" val="2013124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a:xfrm>
            <a:off x="305396" y="1824182"/>
            <a:ext cx="3690851" cy="4015047"/>
          </a:xfrm>
          <a:prstGeom prst="roundRect">
            <a:avLst>
              <a:gd name="adj" fmla="val 2027"/>
            </a:avLst>
          </a:prstGeom>
          <a:solidFill>
            <a:srgbClr val="F2F2F2">
              <a:alpha val="63137"/>
            </a:srgbClr>
          </a:solidFill>
          <a:ln w="12700">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Executive Summary</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4</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08219" y="1824182"/>
            <a:ext cx="3690851" cy="4015047"/>
          </a:xfrm>
          <a:prstGeom prst="roundRect">
            <a:avLst>
              <a:gd name="adj" fmla="val 2027"/>
            </a:avLst>
          </a:prstGeom>
          <a:solidFill>
            <a:srgbClr val="F2F2F2">
              <a:alpha val="63137"/>
            </a:srgbClr>
          </a:solidFill>
          <a:ln w="12700">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14" name="TextBox 13"/>
          <p:cNvSpPr txBox="1"/>
          <p:nvPr/>
        </p:nvSpPr>
        <p:spPr>
          <a:xfrm>
            <a:off x="4546486" y="1245572"/>
            <a:ext cx="881973" cy="369332"/>
          </a:xfrm>
          <a:prstGeom prst="rect">
            <a:avLst/>
          </a:prstGeom>
          <a:noFill/>
        </p:spPr>
        <p:txBody>
          <a:bodyPr wrap="none" rtlCol="0">
            <a:spAutoFit/>
          </a:bodyPr>
          <a:lstStyle/>
          <a:p>
            <a:r>
              <a:rPr lang="en-US" b="1" dirty="0">
                <a:solidFill>
                  <a:schemeClr val="tx1">
                    <a:lumMod val="85000"/>
                    <a:lumOff val="15000"/>
                  </a:schemeClr>
                </a:solidFill>
                <a:latin typeface="Honeywell Sans Web" charset="0"/>
                <a:ea typeface="Honeywell Sans Web" charset="0"/>
                <a:cs typeface="Honeywell Sans Web" charset="0"/>
              </a:rPr>
              <a:t>Kudos</a:t>
            </a:r>
          </a:p>
        </p:txBody>
      </p:sp>
      <p:pic>
        <p:nvPicPr>
          <p:cNvPr id="16" name="Picture 15"/>
          <p:cNvPicPr>
            <a:picLocks noChangeAspect="1"/>
          </p:cNvPicPr>
          <p:nvPr/>
        </p:nvPicPr>
        <p:blipFill>
          <a:blip r:embed="rId2">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4208219" y="1298667"/>
            <a:ext cx="304800" cy="304800"/>
          </a:xfrm>
          <a:prstGeom prst="rect">
            <a:avLst/>
          </a:prstGeom>
        </p:spPr>
      </p:pic>
      <p:pic>
        <p:nvPicPr>
          <p:cNvPr id="17" name="Picture 16"/>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900235" y="1276504"/>
            <a:ext cx="397768" cy="397768"/>
          </a:xfrm>
          <a:prstGeom prst="rect">
            <a:avLst/>
          </a:prstGeom>
        </p:spPr>
      </p:pic>
      <p:sp>
        <p:nvSpPr>
          <p:cNvPr id="18" name="TextBox 17"/>
          <p:cNvSpPr txBox="1"/>
          <p:nvPr/>
        </p:nvSpPr>
        <p:spPr>
          <a:xfrm>
            <a:off x="8298003" y="1276504"/>
            <a:ext cx="1241045" cy="369332"/>
          </a:xfrm>
          <a:prstGeom prst="rect">
            <a:avLst/>
          </a:prstGeom>
          <a:noFill/>
        </p:spPr>
        <p:txBody>
          <a:bodyPr wrap="none" rtlCol="0">
            <a:spAutoFit/>
          </a:bodyPr>
          <a:lstStyle/>
          <a:p>
            <a:r>
              <a:rPr lang="en-US" b="1" dirty="0">
                <a:solidFill>
                  <a:schemeClr val="tx1">
                    <a:lumMod val="85000"/>
                    <a:lumOff val="15000"/>
                  </a:schemeClr>
                </a:solidFill>
                <a:latin typeface="Honeywell Sans Web" charset="0"/>
                <a:ea typeface="Honeywell Sans Web" charset="0"/>
                <a:cs typeface="Honeywell Sans Web" charset="0"/>
              </a:rPr>
              <a:t>Problems</a:t>
            </a:r>
          </a:p>
        </p:txBody>
      </p:sp>
      <p:sp>
        <p:nvSpPr>
          <p:cNvPr id="19" name="Rounded Rectangle 18"/>
          <p:cNvSpPr/>
          <p:nvPr/>
        </p:nvSpPr>
        <p:spPr>
          <a:xfrm>
            <a:off x="8082386" y="1824182"/>
            <a:ext cx="3690851" cy="4015047"/>
          </a:xfrm>
          <a:prstGeom prst="roundRect">
            <a:avLst>
              <a:gd name="adj" fmla="val 2027"/>
            </a:avLst>
          </a:prstGeom>
          <a:solidFill>
            <a:srgbClr val="F2F2F2">
              <a:alpha val="63137"/>
            </a:srgbClr>
          </a:solidFill>
          <a:ln w="12700">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en-US" dirty="0">
              <a:solidFill>
                <a:schemeClr val="accent3"/>
              </a:solidFill>
            </a:endParaRPr>
          </a:p>
        </p:txBody>
      </p:sp>
      <p:sp>
        <p:nvSpPr>
          <p:cNvPr id="20" name="TextBox 19"/>
          <p:cNvSpPr txBox="1"/>
          <p:nvPr/>
        </p:nvSpPr>
        <p:spPr>
          <a:xfrm>
            <a:off x="743693" y="1244851"/>
            <a:ext cx="1534394" cy="369332"/>
          </a:xfrm>
          <a:prstGeom prst="rect">
            <a:avLst/>
          </a:prstGeom>
          <a:noFill/>
        </p:spPr>
        <p:txBody>
          <a:bodyPr wrap="none" rtlCol="0">
            <a:spAutoFit/>
          </a:bodyPr>
          <a:lstStyle/>
          <a:p>
            <a:r>
              <a:rPr lang="en-US" b="1" dirty="0">
                <a:solidFill>
                  <a:schemeClr val="tx1">
                    <a:lumMod val="85000"/>
                    <a:lumOff val="15000"/>
                  </a:schemeClr>
                </a:solidFill>
                <a:latin typeface="Honeywell Sans Web" charset="0"/>
                <a:ea typeface="Honeywell Sans Web" charset="0"/>
                <a:cs typeface="Honeywell Sans Web" charset="0"/>
              </a:rPr>
              <a:t>Session info</a:t>
            </a:r>
          </a:p>
        </p:txBody>
      </p:sp>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394" y="1210368"/>
            <a:ext cx="438297" cy="438297"/>
          </a:xfrm>
          <a:prstGeom prst="rect">
            <a:avLst/>
          </a:prstGeom>
        </p:spPr>
      </p:pic>
      <p:sp>
        <p:nvSpPr>
          <p:cNvPr id="22" name="Rectangle 21"/>
          <p:cNvSpPr/>
          <p:nvPr/>
        </p:nvSpPr>
        <p:spPr>
          <a:xfrm>
            <a:off x="150736" y="1868472"/>
            <a:ext cx="3753853" cy="4031873"/>
          </a:xfrm>
          <a:prstGeom prst="rect">
            <a:avLst/>
          </a:prstGeom>
        </p:spPr>
        <p:txBody>
          <a:bodyPr wrap="square">
            <a:spAutoFit/>
          </a:bodyPr>
          <a:lstStyle/>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&lt;!-- The Executive Summary should tell when and where the usability test took place. Include the number of participants and the length of the sessions. </a:t>
            </a:r>
          </a:p>
          <a:p>
            <a:pPr marL="457200" marR="0">
              <a:spcBef>
                <a:spcPts val="0"/>
              </a:spcBef>
              <a:spcAft>
                <a:spcPts val="0"/>
              </a:spcAft>
            </a:pPr>
            <a:endParaRPr lang="en-US" sz="1600" dirty="0">
              <a:solidFill>
                <a:schemeClr val="tx1">
                  <a:lumMod val="50000"/>
                  <a:lumOff val="50000"/>
                </a:schemeClr>
              </a:solidFill>
              <a:latin typeface="Honeywell Sans Web" charset="0"/>
              <a:ea typeface="Honeywell Sans Web" charset="0"/>
              <a:cs typeface="Honeywell Sans Web" charset="0"/>
            </a:endParaRPr>
          </a:p>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Provide any additional information about the test.</a:t>
            </a:r>
          </a:p>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 </a:t>
            </a:r>
          </a:p>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Provide a bulleted list of the problems and list of what works well.</a:t>
            </a:r>
          </a:p>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 </a:t>
            </a:r>
          </a:p>
          <a:p>
            <a:pPr marL="457200" marR="0">
              <a:spcBef>
                <a:spcPts val="0"/>
              </a:spcBef>
              <a:spcAft>
                <a:spcPts val="0"/>
              </a:spcAft>
            </a:pPr>
            <a:r>
              <a:rPr lang="en-US" sz="1600" dirty="0">
                <a:solidFill>
                  <a:schemeClr val="tx1">
                    <a:lumMod val="50000"/>
                    <a:lumOff val="50000"/>
                  </a:schemeClr>
                </a:solidFill>
                <a:latin typeface="Honeywell Sans Web" charset="0"/>
                <a:ea typeface="Honeywell Sans Web" charset="0"/>
                <a:cs typeface="Honeywell Sans Web" charset="0"/>
              </a:rPr>
              <a:t>Provide a paragraph describing what is included in the document. --&gt;</a:t>
            </a:r>
            <a:endParaRPr lang="en-US" sz="1600" dirty="0">
              <a:solidFill>
                <a:schemeClr val="tx1">
                  <a:lumMod val="50000"/>
                  <a:lumOff val="50000"/>
                </a:schemeClr>
              </a:solidFill>
              <a:effectLst/>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12145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Detailed Summary</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5</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58348" y="1233548"/>
            <a:ext cx="11495315" cy="4893647"/>
          </a:xfrm>
          <a:prstGeom prst="rect">
            <a:avLst/>
          </a:prstGeom>
        </p:spPr>
        <p:txBody>
          <a:bodyPr wrap="square">
            <a:spAutoFit/>
          </a:bodyPr>
          <a:lstStyle/>
          <a:p>
            <a:pPr algn="just">
              <a:lnSpc>
                <a:spcPct val="150000"/>
              </a:lnSpc>
              <a:spcBef>
                <a:spcPts val="0"/>
              </a:spcBef>
              <a:spcAft>
                <a:spcPts val="0"/>
              </a:spcAft>
            </a:pPr>
            <a:r>
              <a:rPr lang="en-US" sz="1600" dirty="0">
                <a:solidFill>
                  <a:schemeClr val="tx1">
                    <a:lumMod val="50000"/>
                    <a:lumOff val="50000"/>
                  </a:schemeClr>
                </a:solidFill>
                <a:latin typeface="Honeywell Sans" charset="0"/>
                <a:ea typeface="Honeywell Sans" charset="0"/>
                <a:cs typeface="Honeywell Sans" charset="0"/>
              </a:rPr>
              <a:t>&lt;!-- Provide a brief overview of the usability test results. Include graphs and tables wherever is required.</a:t>
            </a:r>
          </a:p>
          <a:p>
            <a:pPr algn="just">
              <a:lnSpc>
                <a:spcPct val="150000"/>
              </a:lnSpc>
              <a:spcBef>
                <a:spcPts val="0"/>
              </a:spcBef>
              <a:spcAft>
                <a:spcPts val="0"/>
              </a:spcAft>
            </a:pPr>
            <a:endParaRPr lang="en-US" sz="1600" dirty="0">
              <a:solidFill>
                <a:schemeClr val="tx1">
                  <a:lumMod val="50000"/>
                  <a:lumOff val="50000"/>
                </a:schemeClr>
              </a:solidFill>
              <a:latin typeface="Honeywell Sans Medium" charset="0"/>
              <a:ea typeface="Honeywell Sans Medium" charset="0"/>
              <a:cs typeface="Honeywell Sans Medium" charset="0"/>
            </a:endParaRPr>
          </a:p>
          <a:p>
            <a:pPr algn="just">
              <a:lnSpc>
                <a:spcPct val="150000"/>
              </a:lnSpc>
              <a:spcBef>
                <a:spcPts val="0"/>
              </a:spcBef>
              <a:spcAft>
                <a:spcPts val="0"/>
              </a:spcAft>
            </a:pPr>
            <a:r>
              <a:rPr lang="en-US" sz="1600" dirty="0">
                <a:solidFill>
                  <a:schemeClr val="tx1">
                    <a:lumMod val="50000"/>
                    <a:lumOff val="50000"/>
                  </a:schemeClr>
                </a:solidFill>
                <a:latin typeface="Honeywell Sans Medium" charset="0"/>
                <a:ea typeface="Honeywell Sans Medium" charset="0"/>
                <a:cs typeface="Honeywell Sans Medium" charset="0"/>
              </a:rPr>
              <a:t>Describe about the</a:t>
            </a:r>
          </a:p>
          <a:p>
            <a:pPr marL="285750" indent="-285750" algn="just">
              <a:lnSpc>
                <a:spcPct val="150000"/>
              </a:lnSpc>
              <a:spcBef>
                <a:spcPts val="0"/>
              </a:spcBef>
              <a:spcAft>
                <a:spcPts val="0"/>
              </a:spcAft>
              <a:buFont typeface="Arial" charset="0"/>
              <a:buChar char="•"/>
            </a:pPr>
            <a:r>
              <a:rPr lang="en-US" sz="1600" dirty="0">
                <a:solidFill>
                  <a:schemeClr val="tx1">
                    <a:lumMod val="50000"/>
                    <a:lumOff val="50000"/>
                  </a:schemeClr>
                </a:solidFill>
                <a:latin typeface="Honeywell Sans Medium" charset="0"/>
                <a:ea typeface="Honeywell Sans Medium" charset="0"/>
                <a:cs typeface="Honeywell Sans Medium" charset="0"/>
              </a:rPr>
              <a:t>Participant information</a:t>
            </a:r>
          </a:p>
          <a:p>
            <a:pPr marL="285750" indent="-285750" algn="just">
              <a:lnSpc>
                <a:spcPct val="150000"/>
              </a:lnSpc>
              <a:spcBef>
                <a:spcPts val="0"/>
              </a:spcBef>
              <a:spcAft>
                <a:spcPts val="0"/>
              </a:spcAft>
              <a:buFont typeface="Arial" charset="0"/>
              <a:buChar char="•"/>
            </a:pPr>
            <a:r>
              <a:rPr lang="en-US" sz="1600" dirty="0">
                <a:solidFill>
                  <a:schemeClr val="tx1">
                    <a:lumMod val="50000"/>
                    <a:lumOff val="50000"/>
                  </a:schemeClr>
                </a:solidFill>
                <a:latin typeface="Honeywell Sans Medium" charset="0"/>
                <a:ea typeface="Honeywell Sans Medium" charset="0"/>
                <a:cs typeface="Honeywell Sans Medium" charset="0"/>
              </a:rPr>
              <a:t>Task &amp;Scenarios</a:t>
            </a:r>
          </a:p>
          <a:p>
            <a:pPr marL="285750" indent="-285750" algn="just">
              <a:lnSpc>
                <a:spcPct val="150000"/>
              </a:lnSpc>
              <a:spcBef>
                <a:spcPts val="0"/>
              </a:spcBef>
              <a:spcAft>
                <a:spcPts val="0"/>
              </a:spcAft>
              <a:buFont typeface="Arial" charset="0"/>
              <a:buChar char="•"/>
            </a:pPr>
            <a:r>
              <a:rPr lang="en-US" sz="1600" dirty="0">
                <a:solidFill>
                  <a:schemeClr val="tx1">
                    <a:lumMod val="50000"/>
                    <a:lumOff val="50000"/>
                  </a:schemeClr>
                </a:solidFill>
                <a:latin typeface="Honeywell Sans Medium" charset="0"/>
                <a:ea typeface="Honeywell Sans Medium" charset="0"/>
                <a:cs typeface="Honeywell Sans Medium" charset="0"/>
              </a:rPr>
              <a:t>Results</a:t>
            </a:r>
          </a:p>
          <a:p>
            <a:pPr marL="285750" indent="-285750" algn="just">
              <a:lnSpc>
                <a:spcPct val="150000"/>
              </a:lnSpc>
              <a:spcBef>
                <a:spcPts val="0"/>
              </a:spcBef>
              <a:spcAft>
                <a:spcPts val="0"/>
              </a:spcAft>
              <a:buFont typeface="Arial" charset="0"/>
              <a:buChar char="•"/>
            </a:pPr>
            <a:r>
              <a:rPr lang="en-US" sz="1600" dirty="0">
                <a:solidFill>
                  <a:schemeClr val="tx1">
                    <a:lumMod val="50000"/>
                    <a:lumOff val="50000"/>
                  </a:schemeClr>
                </a:solidFill>
                <a:latin typeface="Honeywell Sans Medium" charset="0"/>
                <a:ea typeface="Honeywell Sans Medium" charset="0"/>
                <a:cs typeface="Honeywell Sans Medium" charset="0"/>
              </a:rPr>
              <a:t>Key Findings</a:t>
            </a:r>
          </a:p>
          <a:p>
            <a:pPr marL="285750" indent="-285750" algn="just">
              <a:lnSpc>
                <a:spcPct val="150000"/>
              </a:lnSpc>
              <a:spcBef>
                <a:spcPts val="0"/>
              </a:spcBef>
              <a:spcAft>
                <a:spcPts val="0"/>
              </a:spcAft>
              <a:buFont typeface="Arial" charset="0"/>
              <a:buChar char="•"/>
            </a:pPr>
            <a:r>
              <a:rPr lang="en-US" sz="1600" dirty="0">
                <a:solidFill>
                  <a:schemeClr val="tx1">
                    <a:lumMod val="50000"/>
                    <a:lumOff val="50000"/>
                  </a:schemeClr>
                </a:solidFill>
                <a:latin typeface="Honeywell Sans Medium" charset="0"/>
                <a:ea typeface="Honeywell Sans Medium" charset="0"/>
                <a:cs typeface="Honeywell Sans Medium" charset="0"/>
              </a:rPr>
              <a:t>Recommendations</a:t>
            </a:r>
          </a:p>
          <a:p>
            <a:pPr marL="285750" indent="-285750" algn="just">
              <a:lnSpc>
                <a:spcPct val="150000"/>
              </a:lnSpc>
              <a:spcBef>
                <a:spcPts val="0"/>
              </a:spcBef>
              <a:spcAft>
                <a:spcPts val="0"/>
              </a:spcAft>
              <a:buFont typeface="Arial" charset="0"/>
              <a:buChar char="•"/>
            </a:pPr>
            <a:endParaRPr lang="en-US" sz="1600" dirty="0">
              <a:solidFill>
                <a:schemeClr val="tx1">
                  <a:lumMod val="50000"/>
                  <a:lumOff val="50000"/>
                </a:schemeClr>
              </a:solidFill>
              <a:latin typeface="Honeywell Sans Medium" charset="0"/>
              <a:ea typeface="Honeywell Sans Medium" charset="0"/>
              <a:cs typeface="Honeywell Sans Medium" charset="0"/>
            </a:endParaRPr>
          </a:p>
          <a:p>
            <a:pPr algn="just">
              <a:lnSpc>
                <a:spcPct val="150000"/>
              </a:lnSpc>
              <a:spcBef>
                <a:spcPts val="0"/>
              </a:spcBef>
              <a:spcAft>
                <a:spcPts val="0"/>
              </a:spcAft>
            </a:pPr>
            <a:r>
              <a:rPr lang="en-US" sz="1600" dirty="0">
                <a:solidFill>
                  <a:schemeClr val="tx1">
                    <a:lumMod val="50000"/>
                    <a:lumOff val="50000"/>
                  </a:schemeClr>
                </a:solidFill>
                <a:latin typeface="Honeywell Sans Medium" charset="0"/>
                <a:ea typeface="Honeywell Sans Medium" charset="0"/>
                <a:cs typeface="Honeywell Sans Medium" charset="0"/>
              </a:rPr>
              <a:t>--&gt;</a:t>
            </a:r>
          </a:p>
          <a:p>
            <a:pPr algn="just">
              <a:lnSpc>
                <a:spcPct val="150000"/>
              </a:lnSpc>
              <a:spcBef>
                <a:spcPts val="0"/>
              </a:spcBef>
              <a:spcAft>
                <a:spcPts val="0"/>
              </a:spcAft>
            </a:pPr>
            <a:endParaRPr lang="en-US" sz="1600" dirty="0">
              <a:solidFill>
                <a:schemeClr val="tx1">
                  <a:lumMod val="50000"/>
                  <a:lumOff val="50000"/>
                </a:schemeClr>
              </a:solidFill>
              <a:latin typeface="Honeywell Sans Medium" charset="0"/>
              <a:ea typeface="Honeywell Sans Medium" charset="0"/>
              <a:cs typeface="Honeywell Sans Medium" charset="0"/>
            </a:endParaRPr>
          </a:p>
          <a:p>
            <a:pPr algn="just">
              <a:lnSpc>
                <a:spcPct val="150000"/>
              </a:lnSpc>
              <a:spcBef>
                <a:spcPts val="0"/>
              </a:spcBef>
              <a:spcAft>
                <a:spcPts val="0"/>
              </a:spcAft>
            </a:pPr>
            <a:endParaRPr lang="en-US" sz="1600" dirty="0">
              <a:solidFill>
                <a:schemeClr val="tx1">
                  <a:lumMod val="50000"/>
                  <a:lumOff val="50000"/>
                </a:schemeClr>
              </a:solidFill>
              <a:latin typeface="Honeywell Sans Medium" charset="0"/>
              <a:ea typeface="Honeywell Sans Medium" charset="0"/>
              <a:cs typeface="Honeywell Sans Medium" charset="0"/>
            </a:endParaRPr>
          </a:p>
          <a:p>
            <a:pPr marL="0" marR="0" algn="just">
              <a:lnSpc>
                <a:spcPct val="150000"/>
              </a:lnSpc>
              <a:spcBef>
                <a:spcPts val="0"/>
              </a:spcBef>
              <a:spcAft>
                <a:spcPts val="0"/>
              </a:spcAft>
            </a:pPr>
            <a:endParaRPr lang="en-US" sz="1600" u="none" strike="noStrike" dirty="0">
              <a:solidFill>
                <a:schemeClr val="tx1">
                  <a:lumMod val="50000"/>
                  <a:lumOff val="50000"/>
                </a:schemeClr>
              </a:solidFill>
              <a:effectLst/>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185976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Participants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6</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45124" y="1153853"/>
            <a:ext cx="10808537" cy="830997"/>
          </a:xfrm>
          <a:prstGeom prst="rect">
            <a:avLst/>
          </a:prstGeom>
        </p:spPr>
        <p:txBody>
          <a:bodyPr wrap="square">
            <a:spAutoFit/>
          </a:bodyPr>
          <a:lstStyle/>
          <a:p>
            <a:r>
              <a:rPr lang="en-US" sz="1600" dirty="0">
                <a:solidFill>
                  <a:schemeClr val="bg1">
                    <a:lumMod val="50000"/>
                  </a:schemeClr>
                </a:solidFill>
                <a:latin typeface="Honeywell Sans" charset="0"/>
                <a:ea typeface="Honeywell Sans" charset="0"/>
                <a:cs typeface="Honeywell Sans" charset="0"/>
              </a:rPr>
              <a:t> &lt;!—In this section you should provide a description of the participants. Any information that you gathered about the demographics should be summarized here. Include the number of participants, dates and the number of participants on each testing day. --&gt;</a:t>
            </a:r>
          </a:p>
        </p:txBody>
      </p:sp>
      <p:graphicFrame>
        <p:nvGraphicFramePr>
          <p:cNvPr id="7" name="Table 6"/>
          <p:cNvGraphicFramePr>
            <a:graphicFrameLocks noGrp="1"/>
          </p:cNvGraphicFramePr>
          <p:nvPr>
            <p:extLst>
              <p:ext uri="{D42A27DB-BD31-4B8C-83A1-F6EECF244321}">
                <p14:modId xmlns:p14="http://schemas.microsoft.com/office/powerpoint/2010/main" val="419533"/>
              </p:ext>
            </p:extLst>
          </p:nvPr>
        </p:nvGraphicFramePr>
        <p:xfrm>
          <a:off x="579908" y="2727699"/>
          <a:ext cx="10397038" cy="3741034"/>
        </p:xfrm>
        <a:graphic>
          <a:graphicData uri="http://schemas.openxmlformats.org/drawingml/2006/table">
            <a:tbl>
              <a:tblPr firstRow="1" firstCol="1" bandRow="1"/>
              <a:tblGrid>
                <a:gridCol w="1290450">
                  <a:extLst>
                    <a:ext uri="{9D8B030D-6E8A-4147-A177-3AD203B41FA5}">
                      <a16:colId xmlns:a16="http://schemas.microsoft.com/office/drawing/2014/main" val="20000"/>
                    </a:ext>
                  </a:extLst>
                </a:gridCol>
                <a:gridCol w="996654">
                  <a:extLst>
                    <a:ext uri="{9D8B030D-6E8A-4147-A177-3AD203B41FA5}">
                      <a16:colId xmlns:a16="http://schemas.microsoft.com/office/drawing/2014/main" val="20001"/>
                    </a:ext>
                  </a:extLst>
                </a:gridCol>
                <a:gridCol w="1563841">
                  <a:extLst>
                    <a:ext uri="{9D8B030D-6E8A-4147-A177-3AD203B41FA5}">
                      <a16:colId xmlns:a16="http://schemas.microsoft.com/office/drawing/2014/main" val="20002"/>
                    </a:ext>
                  </a:extLst>
                </a:gridCol>
                <a:gridCol w="1709717">
                  <a:extLst>
                    <a:ext uri="{9D8B030D-6E8A-4147-A177-3AD203B41FA5}">
                      <a16:colId xmlns:a16="http://schemas.microsoft.com/office/drawing/2014/main" val="20003"/>
                    </a:ext>
                  </a:extLst>
                </a:gridCol>
                <a:gridCol w="1534256">
                  <a:extLst>
                    <a:ext uri="{9D8B030D-6E8A-4147-A177-3AD203B41FA5}">
                      <a16:colId xmlns:a16="http://schemas.microsoft.com/office/drawing/2014/main" val="20004"/>
                    </a:ext>
                  </a:extLst>
                </a:gridCol>
                <a:gridCol w="2014731">
                  <a:extLst>
                    <a:ext uri="{9D8B030D-6E8A-4147-A177-3AD203B41FA5}">
                      <a16:colId xmlns:a16="http://schemas.microsoft.com/office/drawing/2014/main" val="20005"/>
                    </a:ext>
                  </a:extLst>
                </a:gridCol>
                <a:gridCol w="1287389">
                  <a:extLst>
                    <a:ext uri="{9D8B030D-6E8A-4147-A177-3AD203B41FA5}">
                      <a16:colId xmlns:a16="http://schemas.microsoft.com/office/drawing/2014/main" val="20006"/>
                    </a:ext>
                  </a:extLst>
                </a:gridCol>
              </a:tblGrid>
              <a:tr h="433913">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Gender</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Age</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City</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Occupation</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User since…</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Other products used</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Income</a:t>
                      </a: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487859">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3913">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87859">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3913">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87859">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7859">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87859">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spcBef>
                          <a:spcPts val="0"/>
                        </a:spcBef>
                        <a:spcAft>
                          <a:spcPts val="0"/>
                        </a:spcAft>
                      </a:pPr>
                      <a:endParaRPr lang="en-US" sz="1500" dirty="0">
                        <a:effectLst/>
                        <a:latin typeface="Honeywell Sans Web" charset="0"/>
                        <a:ea typeface="Honeywell Sans Web" charset="0"/>
                        <a:cs typeface="Honeywell Sans Web" charset="0"/>
                      </a:endParaRPr>
                    </a:p>
                  </a:txBody>
                  <a:tcPr marL="84437" marR="8443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458348" y="2207654"/>
            <a:ext cx="9421587" cy="338554"/>
          </a:xfrm>
          <a:prstGeom prst="rect">
            <a:avLst/>
          </a:prstGeom>
        </p:spPr>
        <p:txBody>
          <a:bodyPr wrap="square">
            <a:spAutoFit/>
          </a:bodyPr>
          <a:lstStyle/>
          <a:p>
            <a:r>
              <a:rPr lang="en-US" sz="1600" dirty="0">
                <a:solidFill>
                  <a:schemeClr val="bg1">
                    <a:lumMod val="50000"/>
                  </a:schemeClr>
                </a:solidFill>
                <a:latin typeface="Honeywell Sans" charset="0"/>
                <a:ea typeface="Honeywell Sans" charset="0"/>
                <a:cs typeface="Honeywell Sans" charset="0"/>
              </a:rPr>
              <a:t>&lt;!— Customize below table based on needs. --&gt;</a:t>
            </a:r>
          </a:p>
        </p:txBody>
      </p:sp>
    </p:spTree>
    <p:extLst>
      <p:ext uri="{BB962C8B-B14F-4D97-AF65-F5344CB8AC3E}">
        <p14:creationId xmlns:p14="http://schemas.microsoft.com/office/powerpoint/2010/main" val="1956858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7</a:t>
            </a:fld>
            <a:endParaRPr lang="en-US" altLang="en-US"/>
          </a:p>
        </p:txBody>
      </p:sp>
      <p:sp>
        <p:nvSpPr>
          <p:cNvPr id="9" name="Rectangle 8"/>
          <p:cNvSpPr/>
          <p:nvPr/>
        </p:nvSpPr>
        <p:spPr>
          <a:xfrm>
            <a:off x="1198406" y="297076"/>
            <a:ext cx="9994761" cy="415498"/>
          </a:xfrm>
          <a:prstGeom prst="rect">
            <a:avLst/>
          </a:prstGeom>
        </p:spPr>
        <p:txBody>
          <a:bodyPr wrap="square">
            <a:spAutoFit/>
          </a:bodyPr>
          <a:lstStyle/>
          <a:p>
            <a:pPr marL="0" marR="0" algn="just">
              <a:lnSpc>
                <a:spcPct val="150000"/>
              </a:lnSpc>
              <a:spcBef>
                <a:spcPts val="0"/>
              </a:spcBef>
              <a:spcAft>
                <a:spcPts val="0"/>
              </a:spcAft>
            </a:pPr>
            <a:r>
              <a:rPr lang="en-US" sz="1400" dirty="0">
                <a:solidFill>
                  <a:schemeClr val="bg1">
                    <a:lumMod val="50000"/>
                  </a:schemeClr>
                </a:solidFill>
                <a:latin typeface="Honeywell Sans Web" charset="0"/>
                <a:ea typeface="Honeywell Sans Web" charset="0"/>
                <a:cs typeface="Honeywell Sans Web" charset="0"/>
              </a:rPr>
              <a:t>&lt;!—Charts are a very good way of communicating demographics data --&gt;</a:t>
            </a:r>
            <a:endParaRPr lang="en-US" sz="1400" dirty="0">
              <a:solidFill>
                <a:schemeClr val="bg1">
                  <a:lumMod val="50000"/>
                </a:schemeClr>
              </a:solidFill>
              <a:effectLst/>
              <a:latin typeface="Honeywell Sans Web" charset="0"/>
              <a:ea typeface="Honeywell Sans Web" charset="0"/>
              <a:cs typeface="Honeywell Sans Web" charset="0"/>
            </a:endParaRPr>
          </a:p>
        </p:txBody>
      </p:sp>
      <p:graphicFrame>
        <p:nvGraphicFramePr>
          <p:cNvPr id="10" name="Chart 9"/>
          <p:cNvGraphicFramePr/>
          <p:nvPr>
            <p:extLst>
              <p:ext uri="{D42A27DB-BD31-4B8C-83A1-F6EECF244321}">
                <p14:modId xmlns:p14="http://schemas.microsoft.com/office/powerpoint/2010/main" val="596596011"/>
              </p:ext>
            </p:extLst>
          </p:nvPr>
        </p:nvGraphicFramePr>
        <p:xfrm>
          <a:off x="1198406" y="776350"/>
          <a:ext cx="4583598" cy="26737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388009034"/>
              </p:ext>
            </p:extLst>
          </p:nvPr>
        </p:nvGraphicFramePr>
        <p:xfrm>
          <a:off x="6236240" y="776350"/>
          <a:ext cx="4583595" cy="267376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p:nvPr>
            <p:extLst>
              <p:ext uri="{D42A27DB-BD31-4B8C-83A1-F6EECF244321}">
                <p14:modId xmlns:p14="http://schemas.microsoft.com/office/powerpoint/2010/main" val="1507482146"/>
              </p:ext>
            </p:extLst>
          </p:nvPr>
        </p:nvGraphicFramePr>
        <p:xfrm>
          <a:off x="3725797" y="3785947"/>
          <a:ext cx="4606185" cy="275246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9795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Scenarios and Tasks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8</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8348" y="1296720"/>
            <a:ext cx="9667616" cy="2185214"/>
          </a:xfrm>
          <a:prstGeom prst="rect">
            <a:avLst/>
          </a:prstGeom>
        </p:spPr>
        <p:txBody>
          <a:bodyPr wrap="square">
            <a:spAutoFit/>
          </a:bodyPr>
          <a:lstStyle/>
          <a:p>
            <a:pPr marL="0" marR="0">
              <a:spcBef>
                <a:spcPts val="0"/>
              </a:spcBef>
              <a:spcAft>
                <a:spcPts val="0"/>
              </a:spcAft>
            </a:pPr>
            <a:endParaRPr lang="en-US" sz="1600" dirty="0">
              <a:latin typeface="Honeywell Sans" charset="0"/>
              <a:ea typeface="Honeywell Sans" charset="0"/>
              <a:cs typeface="Honeywell Sans" charset="0"/>
            </a:endParaRPr>
          </a:p>
          <a:p>
            <a:pPr marL="0" marR="0" algn="just">
              <a:lnSpc>
                <a:spcPct val="150000"/>
              </a:lnSpc>
              <a:spcBef>
                <a:spcPts val="0"/>
              </a:spcBef>
              <a:spcAft>
                <a:spcPts val="0"/>
              </a:spcAft>
            </a:pPr>
            <a:r>
              <a:rPr lang="en-US" sz="1600" dirty="0">
                <a:solidFill>
                  <a:schemeClr val="bg1">
                    <a:lumMod val="50000"/>
                  </a:schemeClr>
                </a:solidFill>
                <a:latin typeface="Honeywell Sans" charset="0"/>
                <a:ea typeface="Honeywell Sans" charset="0"/>
                <a:cs typeface="Honeywell Sans" charset="0"/>
              </a:rPr>
              <a:t>&lt;!—This section should include a detailed description of scenarios and tasks that were used during the test.  --&gt;</a:t>
            </a:r>
          </a:p>
          <a:p>
            <a:pPr marL="0" algn="just">
              <a:lnSpc>
                <a:spcPct val="150000"/>
              </a:lnSpc>
              <a:spcBef>
                <a:spcPts val="0"/>
              </a:spcBef>
              <a:spcAft>
                <a:spcPts val="0"/>
              </a:spcAft>
            </a:pPr>
            <a:r>
              <a:rPr lang="en-US" sz="1600" dirty="0">
                <a:solidFill>
                  <a:srgbClr val="808080"/>
                </a:solidFill>
                <a:latin typeface="Honeywell Sans" charset="0"/>
                <a:ea typeface="Honeywell Sans" charset="0"/>
                <a:cs typeface="Honeywell Sans" charset="0"/>
              </a:rPr>
              <a:t> </a:t>
            </a:r>
          </a:p>
          <a:p>
            <a:pPr marL="0" marR="0" algn="just">
              <a:lnSpc>
                <a:spcPct val="150000"/>
              </a:lnSpc>
              <a:spcBef>
                <a:spcPts val="0"/>
              </a:spcBef>
              <a:spcAft>
                <a:spcPts val="0"/>
              </a:spcAft>
            </a:pPr>
            <a:r>
              <a:rPr lang="en-US" sz="1600" dirty="0">
                <a:solidFill>
                  <a:schemeClr val="bg1">
                    <a:lumMod val="50000"/>
                  </a:schemeClr>
                </a:solidFill>
                <a:latin typeface="Honeywell Sans" charset="0"/>
                <a:ea typeface="Honeywell Sans" charset="0"/>
                <a:cs typeface="Honeywell Sans" charset="0"/>
              </a:rPr>
              <a:t>&lt;!—The best tasks are descriptive and contextual  --&gt;</a:t>
            </a:r>
          </a:p>
          <a:p>
            <a:pPr marL="0" algn="just">
              <a:lnSpc>
                <a:spcPct val="150000"/>
              </a:lnSpc>
              <a:spcBef>
                <a:spcPts val="0"/>
              </a:spcBef>
              <a:spcAft>
                <a:spcPts val="0"/>
              </a:spcAft>
            </a:pPr>
            <a:r>
              <a:rPr lang="en-US" sz="1600" dirty="0">
                <a:solidFill>
                  <a:srgbClr val="808080"/>
                </a:solidFill>
                <a:latin typeface="Honeywell Sans" charset="0"/>
                <a:ea typeface="Honeywell Sans" charset="0"/>
                <a:cs typeface="Honeywell Sans" charset="0"/>
              </a:rPr>
              <a:t> </a:t>
            </a:r>
            <a:endParaRPr lang="en-US" sz="1600" dirty="0">
              <a:solidFill>
                <a:srgbClr val="808080"/>
              </a:solidFill>
              <a:effectLst/>
              <a:latin typeface="Honeywell Sans" charset="0"/>
              <a:ea typeface="Honeywell Sans" charset="0"/>
              <a:cs typeface="Honeywell Sans" charset="0"/>
            </a:endParaRPr>
          </a:p>
        </p:txBody>
      </p:sp>
    </p:spTree>
    <p:extLst>
      <p:ext uri="{BB962C8B-B14F-4D97-AF65-F5344CB8AC3E}">
        <p14:creationId xmlns:p14="http://schemas.microsoft.com/office/powerpoint/2010/main" val="322452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Results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9</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531941239"/>
              </p:ext>
            </p:extLst>
          </p:nvPr>
        </p:nvGraphicFramePr>
        <p:xfrm>
          <a:off x="458348" y="1660312"/>
          <a:ext cx="10659445" cy="4218872"/>
        </p:xfrm>
        <a:graphic>
          <a:graphicData uri="http://schemas.openxmlformats.org/drawingml/2006/table">
            <a:tbl>
              <a:tblPr firstRow="1" firstCol="1" bandRow="1"/>
              <a:tblGrid>
                <a:gridCol w="2459609">
                  <a:extLst>
                    <a:ext uri="{9D8B030D-6E8A-4147-A177-3AD203B41FA5}">
                      <a16:colId xmlns:a16="http://schemas.microsoft.com/office/drawing/2014/main" val="20000"/>
                    </a:ext>
                  </a:extLst>
                </a:gridCol>
                <a:gridCol w="1919499">
                  <a:extLst>
                    <a:ext uri="{9D8B030D-6E8A-4147-A177-3AD203B41FA5}">
                      <a16:colId xmlns:a16="http://schemas.microsoft.com/office/drawing/2014/main" val="20001"/>
                    </a:ext>
                  </a:extLst>
                </a:gridCol>
                <a:gridCol w="3006569">
                  <a:extLst>
                    <a:ext uri="{9D8B030D-6E8A-4147-A177-3AD203B41FA5}">
                      <a16:colId xmlns:a16="http://schemas.microsoft.com/office/drawing/2014/main" val="20002"/>
                    </a:ext>
                  </a:extLst>
                </a:gridCol>
                <a:gridCol w="3273768">
                  <a:extLst>
                    <a:ext uri="{9D8B030D-6E8A-4147-A177-3AD203B41FA5}">
                      <a16:colId xmlns:a16="http://schemas.microsoft.com/office/drawing/2014/main" val="20003"/>
                    </a:ext>
                  </a:extLst>
                </a:gridCol>
              </a:tblGrid>
              <a:tr h="527359">
                <a:tc>
                  <a:txBody>
                    <a:bodyPr/>
                    <a:lstStyle/>
                    <a:p>
                      <a:pPr marL="0" marR="0" algn="ctr">
                        <a:lnSpc>
                          <a:spcPct val="150000"/>
                        </a:lnSpc>
                        <a:spcBef>
                          <a:spcPts val="0"/>
                        </a:spcBef>
                        <a:spcAft>
                          <a:spcPts val="0"/>
                        </a:spcAft>
                      </a:pPr>
                      <a:r>
                        <a:rPr lang="en-US" sz="1100" b="1" dirty="0">
                          <a:solidFill>
                            <a:srgbClr val="FFFFFF"/>
                          </a:solidFill>
                          <a:effectLst/>
                          <a:latin typeface="Honeywell Sans Web" charset="0"/>
                          <a:ea typeface="Honeywell Sans Web" charset="0"/>
                          <a:cs typeface="Honeywell Sans Web" charset="0"/>
                        </a:rPr>
                        <a:t>Subject</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lnSpc>
                          <a:spcPct val="150000"/>
                        </a:lnSpc>
                        <a:spcBef>
                          <a:spcPts val="0"/>
                        </a:spcBef>
                        <a:spcAft>
                          <a:spcPts val="0"/>
                        </a:spcAft>
                      </a:pPr>
                      <a:r>
                        <a:rPr lang="en-US" sz="1100" b="1" dirty="0">
                          <a:solidFill>
                            <a:srgbClr val="FFFFFF"/>
                          </a:solidFill>
                          <a:effectLst/>
                          <a:latin typeface="Honeywell Sans Web" charset="0"/>
                          <a:ea typeface="Honeywell Sans Web" charset="0"/>
                          <a:cs typeface="Honeywell Sans Web" charset="0"/>
                        </a:rPr>
                        <a:t>Task 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lnSpc>
                          <a:spcPct val="150000"/>
                        </a:lnSpc>
                        <a:spcBef>
                          <a:spcPts val="0"/>
                        </a:spcBef>
                        <a:spcAft>
                          <a:spcPts val="0"/>
                        </a:spcAft>
                      </a:pPr>
                      <a:r>
                        <a:rPr lang="en-US" sz="1100" b="1" dirty="0">
                          <a:solidFill>
                            <a:srgbClr val="FFFFFF"/>
                          </a:solidFill>
                          <a:effectLst/>
                          <a:latin typeface="Honeywell Sans Web" charset="0"/>
                          <a:ea typeface="Honeywell Sans Web" charset="0"/>
                          <a:cs typeface="Honeywell Sans Web" charset="0"/>
                        </a:rPr>
                        <a:t>Task 2</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tc>
                  <a:txBody>
                    <a:bodyPr/>
                    <a:lstStyle/>
                    <a:p>
                      <a:pPr marL="0" marR="0" algn="ctr">
                        <a:lnSpc>
                          <a:spcPct val="150000"/>
                        </a:lnSpc>
                        <a:spcBef>
                          <a:spcPts val="0"/>
                        </a:spcBef>
                        <a:spcAft>
                          <a:spcPts val="0"/>
                        </a:spcAft>
                      </a:pPr>
                      <a:r>
                        <a:rPr lang="en-US" sz="1100" b="1" dirty="0">
                          <a:solidFill>
                            <a:srgbClr val="FFFFFF"/>
                          </a:solidFill>
                          <a:effectLst/>
                          <a:latin typeface="Honeywell Sans Web" charset="0"/>
                          <a:ea typeface="Honeywell Sans Web" charset="0"/>
                          <a:cs typeface="Honeywell Sans Web" charset="0"/>
                        </a:rPr>
                        <a:t>Task 3</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527359">
                <a:tc>
                  <a:txBody>
                    <a:bodyPr/>
                    <a:lstStyle/>
                    <a:p>
                      <a:pPr marL="0" marR="0" algn="ctr">
                        <a:lnSpc>
                          <a:spcPct val="150000"/>
                        </a:lnSpc>
                        <a:spcBef>
                          <a:spcPts val="0"/>
                        </a:spcBef>
                        <a:spcAft>
                          <a:spcPts val="0"/>
                        </a:spcAft>
                      </a:pPr>
                      <a:r>
                        <a:rPr lang="en-US" sz="1300" dirty="0">
                          <a:solidFill>
                            <a:srgbClr val="6C6C6C"/>
                          </a:solidFill>
                          <a:effectLst/>
                          <a:latin typeface="Honeywell Sans Web" charset="0"/>
                          <a:ea typeface="Honeywell Sans Web" charset="0"/>
                          <a:cs typeface="Honeywell Sans Web" charset="0"/>
                        </a:rPr>
                        <a:t>Subject 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dirty="0">
                          <a:solidFill>
                            <a:srgbClr val="6C6C6C"/>
                          </a:solidFill>
                          <a:effectLst/>
                          <a:latin typeface="Honeywell Sans Web" charset="0"/>
                          <a:ea typeface="Honeywell Sans Web" charset="0"/>
                          <a:cs typeface="Honeywell Sans Web" charset="0"/>
                        </a:rPr>
                        <a:t>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dirty="0">
                          <a:solidFill>
                            <a:srgbClr val="6C6C6C"/>
                          </a:solidFill>
                          <a:effectLst/>
                          <a:latin typeface="Honeywell Sans Web" charset="0"/>
                          <a:ea typeface="Honeywell Sans Web" charset="0"/>
                          <a:cs typeface="Honeywell Sans Web" charset="0"/>
                        </a:rPr>
                        <a:t>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7359">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Subject 2</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dirty="0">
                          <a:solidFill>
                            <a:srgbClr val="6C6C6C"/>
                          </a:solidFill>
                          <a:effectLst/>
                          <a:latin typeface="Honeywell Sans Web" charset="0"/>
                          <a:ea typeface="Honeywell Sans Web" charset="0"/>
                          <a:cs typeface="Honeywell Sans Web" charset="0"/>
                        </a:rPr>
                        <a:t>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27359">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Subject 3</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7359">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Subject 4</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27359">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Subject 5</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dirty="0">
                          <a:solidFill>
                            <a:srgbClr val="6C6C6C"/>
                          </a:solidFill>
                          <a:effectLst/>
                          <a:latin typeface="Honeywell Sans Web" charset="0"/>
                          <a:ea typeface="Honeywell Sans Web" charset="0"/>
                          <a:cs typeface="Honeywell Sans Web" charset="0"/>
                        </a:rPr>
                        <a:t>1</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300">
                          <a:solidFill>
                            <a:srgbClr val="6C6C6C"/>
                          </a:solidFill>
                          <a:effectLst/>
                          <a:latin typeface="Honeywell Sans Web" charset="0"/>
                          <a:ea typeface="Honeywell Sans Web" charset="0"/>
                          <a:cs typeface="Honeywell Sans Web" charset="0"/>
                        </a:rPr>
                        <a:t>1</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7359">
                <a:tc>
                  <a:txBody>
                    <a:bodyPr/>
                    <a:lstStyle/>
                    <a:p>
                      <a:pPr marL="0" marR="0" algn="ctr">
                        <a:lnSpc>
                          <a:spcPct val="150000"/>
                        </a:lnSpc>
                        <a:spcBef>
                          <a:spcPts val="0"/>
                        </a:spcBef>
                        <a:spcAft>
                          <a:spcPts val="0"/>
                        </a:spcAft>
                      </a:pPr>
                      <a:r>
                        <a:rPr lang="en-US" sz="1300" b="1">
                          <a:solidFill>
                            <a:srgbClr val="6C6C6C"/>
                          </a:solidFill>
                          <a:effectLst/>
                          <a:latin typeface="Honeywell Sans Web" charset="0"/>
                          <a:ea typeface="Honeywell Sans Web" charset="0"/>
                          <a:cs typeface="Honeywell Sans Web" charset="0"/>
                        </a:rPr>
                        <a:t>SUM</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dirty="0">
                          <a:solidFill>
                            <a:srgbClr val="6C6C6C"/>
                          </a:solidFill>
                          <a:effectLst/>
                          <a:latin typeface="Honeywell Sans Web" charset="0"/>
                          <a:ea typeface="Honeywell Sans Web" charset="0"/>
                          <a:cs typeface="Honeywell Sans Web" charset="0"/>
                        </a:rPr>
                        <a:t>3</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a:solidFill>
                            <a:srgbClr val="6C6C6C"/>
                          </a:solidFill>
                          <a:effectLst/>
                          <a:latin typeface="Honeywell Sans Web" charset="0"/>
                          <a:ea typeface="Honeywell Sans Web" charset="0"/>
                          <a:cs typeface="Honeywell Sans Web" charset="0"/>
                        </a:rPr>
                        <a:t>2</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a:solidFill>
                            <a:srgbClr val="6C6C6C"/>
                          </a:solidFill>
                          <a:effectLst/>
                          <a:latin typeface="Honeywell Sans Web" charset="0"/>
                          <a:ea typeface="Honeywell Sans Web" charset="0"/>
                          <a:cs typeface="Honeywell Sans Web" charset="0"/>
                        </a:rPr>
                        <a:t>5</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0006"/>
                  </a:ext>
                </a:extLst>
              </a:tr>
              <a:tr h="527359">
                <a:tc>
                  <a:txBody>
                    <a:bodyPr/>
                    <a:lstStyle/>
                    <a:p>
                      <a:pPr marL="0" marR="0" algn="ctr">
                        <a:lnSpc>
                          <a:spcPct val="150000"/>
                        </a:lnSpc>
                        <a:spcBef>
                          <a:spcPts val="0"/>
                        </a:spcBef>
                        <a:spcAft>
                          <a:spcPts val="0"/>
                        </a:spcAft>
                      </a:pPr>
                      <a:r>
                        <a:rPr lang="en-US" sz="1300" b="1">
                          <a:solidFill>
                            <a:srgbClr val="6C6C6C"/>
                          </a:solidFill>
                          <a:effectLst/>
                          <a:latin typeface="Honeywell Sans Web" charset="0"/>
                          <a:ea typeface="Honeywell Sans Web" charset="0"/>
                          <a:cs typeface="Honeywell Sans Web" charset="0"/>
                        </a:rPr>
                        <a:t>Success Rate</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dirty="0">
                          <a:solidFill>
                            <a:srgbClr val="6C6C6C"/>
                          </a:solidFill>
                          <a:effectLst/>
                          <a:latin typeface="Honeywell Sans Web" charset="0"/>
                          <a:ea typeface="Honeywell Sans Web" charset="0"/>
                          <a:cs typeface="Honeywell Sans Web" charset="0"/>
                        </a:rPr>
                        <a:t>60%</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a:solidFill>
                            <a:srgbClr val="6C6C6C"/>
                          </a:solidFill>
                          <a:effectLst/>
                          <a:latin typeface="Honeywell Sans Web" charset="0"/>
                          <a:ea typeface="Honeywell Sans Web" charset="0"/>
                          <a:cs typeface="Honeywell Sans Web" charset="0"/>
                        </a:rPr>
                        <a:t>40%</a:t>
                      </a:r>
                      <a:endParaRPr lang="en-US" sz="120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marL="0" marR="0" algn="ctr">
                        <a:lnSpc>
                          <a:spcPct val="150000"/>
                        </a:lnSpc>
                        <a:spcBef>
                          <a:spcPts val="0"/>
                        </a:spcBef>
                        <a:spcAft>
                          <a:spcPts val="0"/>
                        </a:spcAft>
                      </a:pPr>
                      <a:r>
                        <a:rPr lang="en-US" sz="1300" b="1" dirty="0">
                          <a:solidFill>
                            <a:srgbClr val="6C6C6C"/>
                          </a:solidFill>
                          <a:effectLst/>
                          <a:latin typeface="Honeywell Sans Web" charset="0"/>
                          <a:ea typeface="Honeywell Sans Web" charset="0"/>
                          <a:cs typeface="Honeywell Sans Web" charset="0"/>
                        </a:rPr>
                        <a:t>100%</a:t>
                      </a:r>
                      <a:endParaRPr lang="en-US" sz="1200" dirty="0">
                        <a:effectLst/>
                        <a:latin typeface="Honeywell Sans Web" charset="0"/>
                        <a:ea typeface="Honeywell Sans Web" charset="0"/>
                        <a:cs typeface="Honeywell Sans Web"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458348" y="1070813"/>
            <a:ext cx="6096000" cy="461665"/>
          </a:xfrm>
          <a:prstGeom prst="rect">
            <a:avLst/>
          </a:prstGeom>
        </p:spPr>
        <p:txBody>
          <a:bodyPr>
            <a:spAutoFit/>
          </a:bodyPr>
          <a:lstStyle/>
          <a:p>
            <a:pPr marL="0" marR="0" algn="just">
              <a:lnSpc>
                <a:spcPct val="150000"/>
              </a:lnSpc>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&lt;!—Describe performance of users here --&gt;</a:t>
            </a:r>
            <a:endParaRPr lang="en-US" sz="1600" dirty="0">
              <a:solidFill>
                <a:schemeClr val="bg1">
                  <a:lumMod val="50000"/>
                </a:schemeClr>
              </a:solidFill>
              <a:effectLst/>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1225470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10</a:t>
            </a:fld>
            <a:endParaRPr lang="en-US" altLang="en-US"/>
          </a:p>
        </p:txBody>
      </p:sp>
      <p:graphicFrame>
        <p:nvGraphicFramePr>
          <p:cNvPr id="8" name="Chart 7"/>
          <p:cNvGraphicFramePr/>
          <p:nvPr>
            <p:extLst>
              <p:ext uri="{D42A27DB-BD31-4B8C-83A1-F6EECF244321}">
                <p14:modId xmlns:p14="http://schemas.microsoft.com/office/powerpoint/2010/main" val="1350719578"/>
              </p:ext>
            </p:extLst>
          </p:nvPr>
        </p:nvGraphicFramePr>
        <p:xfrm>
          <a:off x="398575" y="299374"/>
          <a:ext cx="5078186" cy="28125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p:nvPr>
            <p:extLst>
              <p:ext uri="{D42A27DB-BD31-4B8C-83A1-F6EECF244321}">
                <p14:modId xmlns:p14="http://schemas.microsoft.com/office/powerpoint/2010/main" val="494315009"/>
              </p:ext>
            </p:extLst>
          </p:nvPr>
        </p:nvGraphicFramePr>
        <p:xfrm>
          <a:off x="5734455" y="2670752"/>
          <a:ext cx="5118092" cy="309122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3501" y="3202353"/>
            <a:ext cx="214015" cy="214015"/>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7308" y="4277632"/>
            <a:ext cx="214015" cy="214015"/>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3874" y="4063617"/>
            <a:ext cx="214015" cy="214015"/>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26630" y="3605007"/>
            <a:ext cx="214015" cy="214015"/>
          </a:xfrm>
          <a:prstGeom prst="rect">
            <a:avLst/>
          </a:prstGeom>
        </p:spPr>
      </p:pic>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5327" y="4726198"/>
            <a:ext cx="214015" cy="214015"/>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0315" y="5885526"/>
            <a:ext cx="200607" cy="200607"/>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7576" y="5923721"/>
            <a:ext cx="200607" cy="200607"/>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26023" y="5924387"/>
            <a:ext cx="200607" cy="200607"/>
          </a:xfrm>
          <a:prstGeom prst="rect">
            <a:avLst/>
          </a:prstGeom>
        </p:spPr>
      </p:pic>
      <p:sp>
        <p:nvSpPr>
          <p:cNvPr id="18" name="TextBox 17"/>
          <p:cNvSpPr txBox="1"/>
          <p:nvPr/>
        </p:nvSpPr>
        <p:spPr>
          <a:xfrm>
            <a:off x="6365761" y="5847329"/>
            <a:ext cx="808235" cy="276999"/>
          </a:xfrm>
          <a:prstGeom prst="rect">
            <a:avLst/>
          </a:prstGeom>
          <a:noFill/>
        </p:spPr>
        <p:txBody>
          <a:bodyPr wrap="none" rtlCol="0">
            <a:spAutoFit/>
          </a:bodyPr>
          <a:lstStyle/>
          <a:p>
            <a:r>
              <a:rPr lang="en-US" sz="1200" dirty="0">
                <a:latin typeface="Honeywell Sans Web" charset="0"/>
                <a:ea typeface="Honeywell Sans Web" charset="0"/>
                <a:cs typeface="Honeywell Sans Web" charset="0"/>
              </a:rPr>
              <a:t>Satisfied</a:t>
            </a:r>
          </a:p>
        </p:txBody>
      </p:sp>
      <p:sp>
        <p:nvSpPr>
          <p:cNvPr id="19" name="TextBox 18"/>
          <p:cNvSpPr txBox="1"/>
          <p:nvPr/>
        </p:nvSpPr>
        <p:spPr>
          <a:xfrm>
            <a:off x="8036428" y="5874537"/>
            <a:ext cx="716863" cy="276999"/>
          </a:xfrm>
          <a:prstGeom prst="rect">
            <a:avLst/>
          </a:prstGeom>
          <a:noFill/>
        </p:spPr>
        <p:txBody>
          <a:bodyPr wrap="none" rtlCol="0">
            <a:spAutoFit/>
          </a:bodyPr>
          <a:lstStyle/>
          <a:p>
            <a:r>
              <a:rPr lang="en-US" sz="1200" dirty="0">
                <a:latin typeface="Honeywell Sans Web" charset="0"/>
                <a:ea typeface="Honeywell Sans Web" charset="0"/>
                <a:cs typeface="Honeywell Sans Web" charset="0"/>
              </a:rPr>
              <a:t>Neutral</a:t>
            </a:r>
          </a:p>
        </p:txBody>
      </p:sp>
      <p:sp>
        <p:nvSpPr>
          <p:cNvPr id="20" name="TextBox 19"/>
          <p:cNvSpPr txBox="1"/>
          <p:nvPr/>
        </p:nvSpPr>
        <p:spPr>
          <a:xfrm>
            <a:off x="9187934" y="5886190"/>
            <a:ext cx="1106393" cy="276999"/>
          </a:xfrm>
          <a:prstGeom prst="rect">
            <a:avLst/>
          </a:prstGeom>
          <a:noFill/>
        </p:spPr>
        <p:txBody>
          <a:bodyPr wrap="none" rtlCol="0">
            <a:spAutoFit/>
          </a:bodyPr>
          <a:lstStyle/>
          <a:p>
            <a:r>
              <a:rPr lang="en-US" sz="1200" dirty="0">
                <a:latin typeface="Honeywell Sans Web" charset="0"/>
                <a:ea typeface="Honeywell Sans Web" charset="0"/>
                <a:cs typeface="Honeywell Sans Web" charset="0"/>
              </a:rPr>
              <a:t>Not Satisfied</a:t>
            </a:r>
          </a:p>
        </p:txBody>
      </p:sp>
    </p:spTree>
    <p:extLst>
      <p:ext uri="{BB962C8B-B14F-4D97-AF65-F5344CB8AC3E}">
        <p14:creationId xmlns:p14="http://schemas.microsoft.com/office/powerpoint/2010/main" val="951062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11</a:t>
            </a:fld>
            <a:endParaRPr lang="en-US" altLang="en-US"/>
          </a:p>
        </p:txBody>
      </p:sp>
      <p:graphicFrame>
        <p:nvGraphicFramePr>
          <p:cNvPr id="21" name="Chart 20"/>
          <p:cNvGraphicFramePr/>
          <p:nvPr>
            <p:extLst>
              <p:ext uri="{D42A27DB-BD31-4B8C-83A1-F6EECF244321}">
                <p14:modId xmlns:p14="http://schemas.microsoft.com/office/powerpoint/2010/main" val="2071876331"/>
              </p:ext>
            </p:extLst>
          </p:nvPr>
        </p:nvGraphicFramePr>
        <p:xfrm>
          <a:off x="573579" y="504825"/>
          <a:ext cx="4954385" cy="27439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p:cNvGraphicFramePr/>
          <p:nvPr>
            <p:extLst>
              <p:ext uri="{D42A27DB-BD31-4B8C-83A1-F6EECF244321}">
                <p14:modId xmlns:p14="http://schemas.microsoft.com/office/powerpoint/2010/main" val="578159012"/>
              </p:ext>
            </p:extLst>
          </p:nvPr>
        </p:nvGraphicFramePr>
        <p:xfrm>
          <a:off x="6164073" y="3248792"/>
          <a:ext cx="5134441" cy="28436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02495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Key Findings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12</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2033524900"/>
              </p:ext>
            </p:extLst>
          </p:nvPr>
        </p:nvGraphicFramePr>
        <p:xfrm>
          <a:off x="458348" y="2904844"/>
          <a:ext cx="10108392" cy="2911416"/>
        </p:xfrm>
        <a:graphic>
          <a:graphicData uri="http://schemas.openxmlformats.org/drawingml/2006/table">
            <a:tbl>
              <a:tblPr firstRow="1" firstCol="1" bandRow="1"/>
              <a:tblGrid>
                <a:gridCol w="1633701">
                  <a:extLst>
                    <a:ext uri="{9D8B030D-6E8A-4147-A177-3AD203B41FA5}">
                      <a16:colId xmlns:a16="http://schemas.microsoft.com/office/drawing/2014/main" val="20000"/>
                    </a:ext>
                  </a:extLst>
                </a:gridCol>
                <a:gridCol w="4361533">
                  <a:extLst>
                    <a:ext uri="{9D8B030D-6E8A-4147-A177-3AD203B41FA5}">
                      <a16:colId xmlns:a16="http://schemas.microsoft.com/office/drawing/2014/main" val="20001"/>
                    </a:ext>
                  </a:extLst>
                </a:gridCol>
                <a:gridCol w="4113158">
                  <a:extLst>
                    <a:ext uri="{9D8B030D-6E8A-4147-A177-3AD203B41FA5}">
                      <a16:colId xmlns:a16="http://schemas.microsoft.com/office/drawing/2014/main" val="20002"/>
                    </a:ext>
                  </a:extLst>
                </a:gridCol>
              </a:tblGrid>
              <a:tr h="485236">
                <a:tc>
                  <a:txBody>
                    <a:bodyPr/>
                    <a:lstStyle/>
                    <a:p>
                      <a:pPr marL="0" marR="0" algn="ctr">
                        <a:lnSpc>
                          <a:spcPct val="150000"/>
                        </a:lnSpc>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Task </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tc>
                  <a:txBody>
                    <a:bodyPr/>
                    <a:lstStyle/>
                    <a:p>
                      <a:pPr marL="0" marR="0" algn="ctr">
                        <a:lnSpc>
                          <a:spcPct val="150000"/>
                        </a:lnSpc>
                        <a:spcBef>
                          <a:spcPts val="0"/>
                        </a:spcBef>
                        <a:spcAft>
                          <a:spcPts val="0"/>
                        </a:spcAft>
                      </a:pPr>
                      <a:r>
                        <a:rPr lang="en-US" sz="1400" b="1">
                          <a:solidFill>
                            <a:srgbClr val="FFFFFF"/>
                          </a:solidFill>
                          <a:effectLst/>
                          <a:latin typeface="Honeywell Sans Web" charset="0"/>
                          <a:ea typeface="Honeywell Sans Web" charset="0"/>
                          <a:cs typeface="Honeywell Sans Web" charset="0"/>
                        </a:rPr>
                        <a:t>Description</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tc>
                  <a:txBody>
                    <a:bodyPr/>
                    <a:lstStyle/>
                    <a:p>
                      <a:pPr marL="0" marR="0" algn="ctr">
                        <a:lnSpc>
                          <a:spcPct val="150000"/>
                        </a:lnSpc>
                        <a:spcBef>
                          <a:spcPts val="0"/>
                        </a:spcBef>
                        <a:spcAft>
                          <a:spcPts val="0"/>
                        </a:spcAft>
                      </a:pPr>
                      <a:r>
                        <a:rPr lang="en-US" sz="1400" b="1" dirty="0" err="1">
                          <a:solidFill>
                            <a:srgbClr val="FFFFFF"/>
                          </a:solidFill>
                          <a:effectLst/>
                          <a:latin typeface="Honeywell Sans Web" charset="0"/>
                          <a:ea typeface="Honeywell Sans Web" charset="0"/>
                          <a:cs typeface="Honeywell Sans Web" charset="0"/>
                        </a:rPr>
                        <a:t>Occured</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extLst>
                  <a:ext uri="{0D108BD9-81ED-4DB2-BD59-A6C34878D82A}">
                    <a16:rowId xmlns:a16="http://schemas.microsoft.com/office/drawing/2014/main" val="10000"/>
                  </a:ext>
                </a:extLst>
              </a:tr>
              <a:tr h="485236">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Task 1</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&lt;!—description of the error--&gt;</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5</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5236">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Task 1</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&lt;!—description of the error--&gt;</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4</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85236">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Task 2</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&lt;!—description of the error--&gt;</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3</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5236">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Task 3</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&lt;!—description of the error--&gt;</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2</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85236">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Task 3</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a:solidFill>
                            <a:srgbClr val="6C6C6C"/>
                          </a:solidFill>
                          <a:effectLst/>
                          <a:latin typeface="Honeywell Sans Web" charset="0"/>
                          <a:ea typeface="Honeywell Sans Web" charset="0"/>
                          <a:cs typeface="Honeywell Sans Web" charset="0"/>
                        </a:rPr>
                        <a:t>&lt;!—description of the error--&gt;</a:t>
                      </a:r>
                      <a:endParaRPr lang="en-US" sz="160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700" dirty="0">
                          <a:solidFill>
                            <a:srgbClr val="6C6C6C"/>
                          </a:solidFill>
                          <a:effectLst/>
                          <a:latin typeface="Honeywell Sans Web" charset="0"/>
                          <a:ea typeface="Honeywell Sans Web" charset="0"/>
                          <a:cs typeface="Honeywell Sans Web" charset="0"/>
                        </a:rPr>
                        <a:t>5</a:t>
                      </a:r>
                      <a:endParaRPr lang="en-US" sz="1600" dirty="0">
                        <a:effectLst/>
                        <a:latin typeface="Honeywell Sans Web" charset="0"/>
                        <a:ea typeface="Honeywell Sans Web" charset="0"/>
                        <a:cs typeface="Honeywell Sans Web" charset="0"/>
                      </a:endParaRPr>
                    </a:p>
                  </a:txBody>
                  <a:tcPr marL="90199" marR="90199"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458348" y="1070813"/>
            <a:ext cx="9532536" cy="1569660"/>
          </a:xfrm>
          <a:prstGeom prst="rect">
            <a:avLst/>
          </a:prstGeom>
        </p:spPr>
        <p:txBody>
          <a:bodyPr wrap="square">
            <a:spAutoFit/>
          </a:bodyPr>
          <a:lstStyle/>
          <a:p>
            <a:pPr marL="0" marR="0" algn="just">
              <a:lnSpc>
                <a:spcPct val="150000"/>
              </a:lnSpc>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&lt;!— In this section list the most important errors that happened during the test --&gt;</a:t>
            </a:r>
          </a:p>
          <a:p>
            <a:pPr marL="0" marR="0" algn="just">
              <a:lnSpc>
                <a:spcPct val="150000"/>
              </a:lnSpc>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 </a:t>
            </a:r>
          </a:p>
          <a:p>
            <a:pPr marL="0" marR="0" algn="just">
              <a:lnSpc>
                <a:spcPct val="150000"/>
              </a:lnSpc>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&lt;!— If you’ve used any other methods and metrics – include a description of the results in additional sub-sections.</a:t>
            </a:r>
            <a:r>
              <a:rPr lang="en-US" sz="1600" dirty="0">
                <a:solidFill>
                  <a:schemeClr val="bg1">
                    <a:lumMod val="50000"/>
                  </a:schemeClr>
                </a:solidFill>
                <a:latin typeface="Honeywell Sans Web" charset="0"/>
                <a:ea typeface="Honeywell Sans Web" charset="0"/>
                <a:cs typeface="Honeywell Sans Web" charset="0"/>
                <a:sym typeface="Wingdings"/>
              </a:rPr>
              <a:t></a:t>
            </a:r>
            <a:endParaRPr lang="en-US" sz="1600" dirty="0">
              <a:solidFill>
                <a:schemeClr val="bg1">
                  <a:lumMod val="50000"/>
                </a:schemeClr>
              </a:solidFill>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933868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Notable Quotes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13</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8348" y="1406502"/>
            <a:ext cx="10557469" cy="830997"/>
          </a:xfrm>
          <a:prstGeom prst="rect">
            <a:avLst/>
          </a:prstGeom>
        </p:spPr>
        <p:txBody>
          <a:bodyPr wrap="square">
            <a:spAutoFit/>
          </a:bodyPr>
          <a:lstStyle/>
          <a:p>
            <a:pPr marL="0" marR="0" algn="just">
              <a:lnSpc>
                <a:spcPct val="150000"/>
              </a:lnSpc>
              <a:spcBef>
                <a:spcPts val="0"/>
              </a:spcBef>
              <a:spcAft>
                <a:spcPts val="0"/>
              </a:spcAft>
            </a:pPr>
            <a:r>
              <a:rPr lang="en-US" sz="1600">
                <a:solidFill>
                  <a:schemeClr val="bg1">
                    <a:lumMod val="50000"/>
                  </a:schemeClr>
                </a:solidFill>
                <a:latin typeface="Honeywell Sans Web" charset="0"/>
                <a:ea typeface="Honeywell Sans Web" charset="0"/>
                <a:cs typeface="Honeywell Sans Web" charset="0"/>
              </a:rPr>
              <a:t>&lt;!— </a:t>
            </a:r>
            <a:r>
              <a:rPr lang="en-US" sz="1600" dirty="0">
                <a:solidFill>
                  <a:schemeClr val="bg1">
                    <a:lumMod val="50000"/>
                  </a:schemeClr>
                </a:solidFill>
                <a:latin typeface="Honeywell Sans Web" charset="0"/>
                <a:ea typeface="Honeywell Sans Web" charset="0"/>
                <a:cs typeface="Honeywell Sans Web" charset="0"/>
              </a:rPr>
              <a:t>List 3 to 5 of the most notable user quotes. These can help support your findings during stakeholder reviews.--&gt;</a:t>
            </a:r>
            <a:endParaRPr lang="en-US" sz="1600" dirty="0">
              <a:solidFill>
                <a:schemeClr val="bg1">
                  <a:lumMod val="50000"/>
                </a:schemeClr>
              </a:solidFill>
              <a:effectLst/>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1405783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Recommendations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14</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8348" y="1070813"/>
            <a:ext cx="10848871" cy="1077218"/>
          </a:xfrm>
          <a:prstGeom prst="rect">
            <a:avLst/>
          </a:prstGeom>
        </p:spPr>
        <p:txBody>
          <a:bodyPr wrap="square">
            <a:spAutoFit/>
          </a:bodyPr>
          <a:lstStyle/>
          <a:p>
            <a:pPr marL="0" marR="0">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 &lt;!--The findings and recommendations section is the most detailed section of the report and may be represented in various ways. One way can be like put recommendation as a table with four sections: observations, interpretations, severity and recommendations. To further illustrate the most severe problems, place screenshots of the relevant interface underneath the table. Include captions that clearly describe the problem. </a:t>
            </a:r>
            <a:endParaRPr lang="en-US" sz="1600" dirty="0">
              <a:solidFill>
                <a:schemeClr val="bg1">
                  <a:lumMod val="50000"/>
                </a:schemeClr>
              </a:solidFill>
              <a:effectLst/>
              <a:latin typeface="Honeywell Sans Web" charset="0"/>
              <a:ea typeface="Honeywell Sans Web" charset="0"/>
              <a:cs typeface="Honeywell Sans Web"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80116506"/>
              </p:ext>
            </p:extLst>
          </p:nvPr>
        </p:nvGraphicFramePr>
        <p:xfrm>
          <a:off x="523459" y="2507557"/>
          <a:ext cx="10824658" cy="3312379"/>
        </p:xfrm>
        <a:graphic>
          <a:graphicData uri="http://schemas.openxmlformats.org/drawingml/2006/table">
            <a:tbl>
              <a:tblPr firstRow="1" firstCol="1" bandRow="1"/>
              <a:tblGrid>
                <a:gridCol w="2901309">
                  <a:extLst>
                    <a:ext uri="{9D8B030D-6E8A-4147-A177-3AD203B41FA5}">
                      <a16:colId xmlns:a16="http://schemas.microsoft.com/office/drawing/2014/main" val="20000"/>
                    </a:ext>
                  </a:extLst>
                </a:gridCol>
                <a:gridCol w="2532649">
                  <a:extLst>
                    <a:ext uri="{9D8B030D-6E8A-4147-A177-3AD203B41FA5}">
                      <a16:colId xmlns:a16="http://schemas.microsoft.com/office/drawing/2014/main" val="20001"/>
                    </a:ext>
                  </a:extLst>
                </a:gridCol>
                <a:gridCol w="1419763">
                  <a:extLst>
                    <a:ext uri="{9D8B030D-6E8A-4147-A177-3AD203B41FA5}">
                      <a16:colId xmlns:a16="http://schemas.microsoft.com/office/drawing/2014/main" val="20002"/>
                    </a:ext>
                  </a:extLst>
                </a:gridCol>
                <a:gridCol w="3970937">
                  <a:extLst>
                    <a:ext uri="{9D8B030D-6E8A-4147-A177-3AD203B41FA5}">
                      <a16:colId xmlns:a16="http://schemas.microsoft.com/office/drawing/2014/main" val="20003"/>
                    </a:ext>
                  </a:extLst>
                </a:gridCol>
              </a:tblGrid>
              <a:tr h="473197">
                <a:tc>
                  <a:txBody>
                    <a:bodyPr/>
                    <a:lstStyle/>
                    <a:p>
                      <a:pPr marL="0" marR="0" algn="ctr">
                        <a:lnSpc>
                          <a:spcPct val="150000"/>
                        </a:lnSpc>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Observation</a:t>
                      </a: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tc>
                  <a:txBody>
                    <a:bodyPr/>
                    <a:lstStyle/>
                    <a:p>
                      <a:pPr marL="0" marR="0" algn="ctr">
                        <a:lnSpc>
                          <a:spcPct val="150000"/>
                        </a:lnSpc>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Interpretation</a:t>
                      </a: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tc>
                  <a:txBody>
                    <a:bodyPr/>
                    <a:lstStyle/>
                    <a:p>
                      <a:pPr marL="0" marR="0" algn="ctr">
                        <a:lnSpc>
                          <a:spcPct val="150000"/>
                        </a:lnSpc>
                        <a:spcBef>
                          <a:spcPts val="0"/>
                        </a:spcBef>
                        <a:spcAft>
                          <a:spcPts val="0"/>
                        </a:spcAft>
                      </a:pPr>
                      <a:r>
                        <a:rPr lang="en-US" sz="1400" b="1">
                          <a:solidFill>
                            <a:srgbClr val="FFFFFF"/>
                          </a:solidFill>
                          <a:effectLst/>
                          <a:latin typeface="Honeywell Sans Web" charset="0"/>
                          <a:ea typeface="Honeywell Sans Web" charset="0"/>
                          <a:cs typeface="Honeywell Sans Web" charset="0"/>
                        </a:rPr>
                        <a:t>Severity (1-5)</a:t>
                      </a: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tc>
                  <a:txBody>
                    <a:bodyPr/>
                    <a:lstStyle/>
                    <a:p>
                      <a:pPr marL="0" marR="0" algn="ctr">
                        <a:lnSpc>
                          <a:spcPct val="150000"/>
                        </a:lnSpc>
                        <a:spcBef>
                          <a:spcPts val="0"/>
                        </a:spcBef>
                        <a:spcAft>
                          <a:spcPts val="0"/>
                        </a:spcAft>
                      </a:pPr>
                      <a:r>
                        <a:rPr lang="en-US" sz="1400" b="1" dirty="0">
                          <a:solidFill>
                            <a:srgbClr val="FFFFFF"/>
                          </a:solidFill>
                          <a:effectLst/>
                          <a:latin typeface="Honeywell Sans Web" charset="0"/>
                          <a:ea typeface="Honeywell Sans Web" charset="0"/>
                          <a:cs typeface="Honeywell Sans Web" charset="0"/>
                        </a:rPr>
                        <a:t>Recommendations</a:t>
                      </a: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B85D2"/>
                    </a:solidFill>
                  </a:tcPr>
                </a:tc>
                <a:extLst>
                  <a:ext uri="{0D108BD9-81ED-4DB2-BD59-A6C34878D82A}">
                    <a16:rowId xmlns:a16="http://schemas.microsoft.com/office/drawing/2014/main" val="10000"/>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r h="473197">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algn="ctr">
                        <a:lnSpc>
                          <a:spcPct val="150000"/>
                        </a:lnSpc>
                        <a:spcBef>
                          <a:spcPts val="0"/>
                        </a:spcBef>
                        <a:spcAft>
                          <a:spcPts val="0"/>
                        </a:spcAft>
                      </a:pPr>
                      <a:endParaRPr lang="en-US" sz="1400" dirty="0">
                        <a:effectLst/>
                        <a:latin typeface="Honeywell Sans Web" charset="0"/>
                        <a:ea typeface="Honeywell Sans Web" charset="0"/>
                        <a:cs typeface="Honeywell Sans Web" charset="0"/>
                      </a:endParaRPr>
                    </a:p>
                  </a:txBody>
                  <a:tcPr marL="51697" marR="51697"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95247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solidFill>
                  <a:schemeClr val="tx1">
                    <a:lumMod val="75000"/>
                    <a:lumOff val="25000"/>
                  </a:schemeClr>
                </a:solidFill>
              </a:rPr>
              <a:t>Conclusion</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15</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8348" y="1330514"/>
            <a:ext cx="11059886" cy="1200329"/>
          </a:xfrm>
          <a:prstGeom prst="rect">
            <a:avLst/>
          </a:prstGeom>
        </p:spPr>
        <p:txBody>
          <a:bodyPr wrap="square">
            <a:spAutoFit/>
          </a:bodyPr>
          <a:lstStyle/>
          <a:p>
            <a:pPr marL="0" marR="0" algn="just">
              <a:lnSpc>
                <a:spcPct val="150000"/>
              </a:lnSpc>
              <a:spcBef>
                <a:spcPts val="0"/>
              </a:spcBef>
              <a:spcAft>
                <a:spcPts val="0"/>
              </a:spcAft>
            </a:pPr>
            <a:r>
              <a:rPr lang="en-US" sz="1600" dirty="0">
                <a:solidFill>
                  <a:schemeClr val="bg1">
                    <a:lumMod val="50000"/>
                  </a:schemeClr>
                </a:solidFill>
                <a:latin typeface="Honeywell Sans Web" charset="0"/>
                <a:ea typeface="Honeywell Sans Web" charset="0"/>
                <a:cs typeface="Honeywell Sans Web" charset="0"/>
              </a:rPr>
              <a:t>&lt;!--Provide a short conclusion paragraph. Begin with an overall statement of what the participants found and how it should affect the product design]. --&gt;</a:t>
            </a:r>
          </a:p>
          <a:p>
            <a:pPr marL="0" marR="0" algn="just">
              <a:lnSpc>
                <a:spcPct val="150000"/>
              </a:lnSpc>
              <a:spcBef>
                <a:spcPts val="0"/>
              </a:spcBef>
              <a:spcAft>
                <a:spcPts val="0"/>
              </a:spcAft>
            </a:pPr>
            <a:r>
              <a:rPr lang="en-US" sz="1600" dirty="0">
                <a:solidFill>
                  <a:srgbClr val="FF0000"/>
                </a:solidFill>
                <a:latin typeface="Honeywell Sans Web" charset="0"/>
                <a:ea typeface="Honeywell Sans Web" charset="0"/>
                <a:cs typeface="Honeywell Sans Web" charset="0"/>
              </a:rPr>
              <a:t> </a:t>
            </a:r>
            <a:endParaRPr lang="en-US" sz="1600" dirty="0">
              <a:effectLst/>
              <a:latin typeface="Honeywell Sans Web" charset="0"/>
              <a:ea typeface="Honeywell Sans Web" charset="0"/>
              <a:cs typeface="Honeywell Sans Web" charset="0"/>
            </a:endParaRPr>
          </a:p>
        </p:txBody>
      </p:sp>
    </p:spTree>
    <p:extLst>
      <p:ext uri="{BB962C8B-B14F-4D97-AF65-F5344CB8AC3E}">
        <p14:creationId xmlns:p14="http://schemas.microsoft.com/office/powerpoint/2010/main" val="9361924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HUE Overview">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E93590D-DE32-7E41-83F0-9F0A8EFB44B5}"/>
    </a:ext>
  </a:extLst>
</a:theme>
</file>

<file path=ppt/theme/theme2.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8B3562B-CF69-AB42-A5A2-1E0A29CED889}"/>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622A9A6-0BFA-C441-BD7B-7CE6A044E240}"/>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3ED0FC25-E379-3149-BA08-294511981F51}"/>
    </a:ext>
  </a:extLst>
</a:theme>
</file>

<file path=ppt/theme/theme5.xml><?xml version="1.0" encoding="utf-8"?>
<a:theme xmlns:a="http://schemas.openxmlformats.org/drawingml/2006/main" name="1_Honeywell Single Image Cover">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8E944E06-72BD-0440-A1D1-44F548CF8B9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EAEF24CE16714DBFF89EBB24D23B04" ma:contentTypeVersion="8" ma:contentTypeDescription="Create a new document." ma:contentTypeScope="" ma:versionID="fa174c6afff32858f53b06cc5e25cc73">
  <xsd:schema xmlns:xsd="http://www.w3.org/2001/XMLSchema" xmlns:xs="http://www.w3.org/2001/XMLSchema" xmlns:p="http://schemas.microsoft.com/office/2006/metadata/properties" xmlns:ns2="4c1981db-d8fb-4ca3-9d14-523ffc40b38c" xmlns:ns3="6ea289bd-17f2-459a-993b-2af49462c21e" targetNamespace="http://schemas.microsoft.com/office/2006/metadata/properties" ma:root="true" ma:fieldsID="bc283a575266b0a8c5b580b2751d02af" ns2:_="" ns3:_="">
    <xsd:import namespace="4c1981db-d8fb-4ca3-9d14-523ffc40b38c"/>
    <xsd:import namespace="6ea289bd-17f2-459a-993b-2af49462c21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1981db-d8fb-4ca3-9d14-523ffc40b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ea289bd-17f2-459a-993b-2af49462c21e"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A8EE25-9A18-4214-9993-701BEF4E47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1981db-d8fb-4ca3-9d14-523ffc40b38c"/>
    <ds:schemaRef ds:uri="6ea289bd-17f2-459a-993b-2af49462c2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628DAA-47B3-4C46-82F9-8E8AF9831FF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BB9CB84-8DEB-4274-8DE4-90B2E13C97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Honeywell Widescreen</Template>
  <TotalTime>10828</TotalTime>
  <Words>452</Words>
  <Application>Microsoft Office PowerPoint</Application>
  <PresentationFormat>Widescreen</PresentationFormat>
  <Paragraphs>160</Paragraphs>
  <Slides>16</Slides>
  <Notes>1</Notes>
  <HiddenSlides>0</HiddenSlides>
  <MMClips>0</MMClips>
  <ScaleCrop>false</ScaleCrop>
  <HeadingPairs>
    <vt:vector size="4" baseType="variant">
      <vt:variant>
        <vt:lpstr>Theme</vt:lpstr>
      </vt:variant>
      <vt:variant>
        <vt:i4>5</vt:i4>
      </vt:variant>
      <vt:variant>
        <vt:lpstr>Slide Titles</vt:lpstr>
      </vt:variant>
      <vt:variant>
        <vt:i4>16</vt:i4>
      </vt:variant>
    </vt:vector>
  </HeadingPairs>
  <TitlesOfParts>
    <vt:vector size="21" baseType="lpstr">
      <vt:lpstr>HUE Overview</vt:lpstr>
      <vt:lpstr>Honeywell Single Image Cover</vt:lpstr>
      <vt:lpstr>Honeywell Theme</vt:lpstr>
      <vt:lpstr>1_Honeywell Theme</vt:lpstr>
      <vt:lpstr>1_Honeywell Single Image Cover</vt:lpstr>
      <vt:lpstr>PowerPoint Presentation</vt:lpstr>
      <vt:lpstr>PowerPoint Presentation</vt:lpstr>
      <vt:lpstr>Table of Contents</vt:lpstr>
      <vt:lpstr>Objectives and Goals</vt:lpstr>
      <vt:lpstr>Executive Summary</vt:lpstr>
      <vt:lpstr>Detailed Summary</vt:lpstr>
      <vt:lpstr>Participants</vt:lpstr>
      <vt:lpstr>PowerPoint Presentation</vt:lpstr>
      <vt:lpstr>Scenarios and Tasks</vt:lpstr>
      <vt:lpstr>Results</vt:lpstr>
      <vt:lpstr>PowerPoint Presentation</vt:lpstr>
      <vt:lpstr>PowerPoint Presentation</vt:lpstr>
      <vt:lpstr>Key Findings</vt:lpstr>
      <vt:lpstr>Notable Quotes</vt:lpstr>
      <vt:lpstr>Recommendations</vt:lpstr>
      <vt:lpstr>Conclusion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Dungey, David</dc:creator>
  <cp:lastModifiedBy>Boominathan, Prasad</cp:lastModifiedBy>
  <cp:revision>142</cp:revision>
  <cp:lastPrinted>2015-07-29T21:30:37Z</cp:lastPrinted>
  <dcterms:created xsi:type="dcterms:W3CDTF">2016-03-25T02:45:32Z</dcterms:created>
  <dcterms:modified xsi:type="dcterms:W3CDTF">2018-07-11T18:02:04Z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0x010100DDEAEF24CE16714DBFF89EBB24D23B04</vt:lpwstr>
  </property>
  <property fmtid="{D5CDD505-2E9C-101B-9397-08002B2CF9AE}" pid="3" name="Source">
    <vt:lpwstr>8f9874da50388e0acb1f5bab1b4b753b</vt:lpwstr>
  </property>
</Properties>
</file>