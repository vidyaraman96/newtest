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ags/tag3.xml" ContentType="application/vnd.openxmlformats-officedocument.presentationml.tags+xml"/>
  <Override PartName="/ppt/theme/theme7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93482" r:id="rId5"/>
    <p:sldMasterId id="2147493480" r:id="rId6"/>
    <p:sldMasterId id="2147493455" r:id="rId7"/>
    <p:sldMasterId id="2147493521" r:id="rId8"/>
    <p:sldMasterId id="2147493600" r:id="rId9"/>
  </p:sldMasterIdLst>
  <p:notesMasterIdLst>
    <p:notesMasterId r:id="rId18"/>
  </p:notesMasterIdLst>
  <p:handoutMasterIdLst>
    <p:handoutMasterId r:id="rId19"/>
  </p:handoutMasterIdLst>
  <p:sldIdLst>
    <p:sldId id="560" r:id="rId10"/>
    <p:sldId id="561" r:id="rId11"/>
    <p:sldId id="562" r:id="rId12"/>
    <p:sldId id="563" r:id="rId13"/>
    <p:sldId id="566" r:id="rId14"/>
    <p:sldId id="564" r:id="rId15"/>
    <p:sldId id="569" r:id="rId16"/>
    <p:sldId id="573" r:id="rId17"/>
  </p:sldIdLst>
  <p:sldSz cx="12192000" cy="6858000"/>
  <p:notesSz cx="7023100" cy="93091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ngey, David" initials="DD" lastIdx="2" clrIdx="0">
    <p:extLst/>
  </p:cmAuthor>
  <p:cmAuthor id="2" name="Dungey, David" initials="DD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7D971"/>
    <a:srgbClr val="7F7F7F"/>
    <a:srgbClr val="595959"/>
    <a:srgbClr val="E71D1D"/>
    <a:srgbClr val="EB2819"/>
    <a:srgbClr val="E4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344D84-9AFB-497E-A393-DC336BA19D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23"/>
    <p:restoredTop sz="50159"/>
  </p:normalViewPr>
  <p:slideViewPr>
    <p:cSldViewPr snapToGrid="0">
      <p:cViewPr varScale="1">
        <p:scale>
          <a:sx n="110" d="100"/>
          <a:sy n="110" d="100"/>
        </p:scale>
        <p:origin x="951" y="39"/>
      </p:cViewPr>
      <p:guideLst>
        <p:guide orient="horz" pos="31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192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4.xml"/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9EB080D-8358-9C4A-BF6C-85EBED410712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842375"/>
            <a:ext cx="7023100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z="700">
                <a:solidFill>
                  <a:srgbClr val="7F7F7F"/>
                </a:solidFill>
              </a:rPr>
              <a:t>Honeywell Internal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CF15CF-47E5-6A48-B866-FAA1ADE5BE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29783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5138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5F9174-45C6-974E-B1D1-976677190D1F}" type="datetimeFigureOut">
              <a:rPr lang="en-US" altLang="en-US"/>
              <a:pPr/>
              <a:t>7/11/2018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39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21188"/>
            <a:ext cx="5619750" cy="4189412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842375"/>
            <a:ext cx="7023100" cy="465138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700" b="0" i="0" u="none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5138"/>
          </a:xfrm>
          <a:prstGeom prst="rect">
            <a:avLst/>
          </a:prstGeom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E644BB-4AA9-6C46-86D0-5ECC59FDEA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550910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0" y="8842375"/>
            <a:ext cx="7023100" cy="465138"/>
          </a:xfrm>
        </p:spPr>
        <p:txBody>
          <a:bodyPr/>
          <a:lstStyle/>
          <a:p>
            <a:pPr>
              <a:defRPr/>
            </a:pPr>
            <a:r>
              <a:rPr lang="en-US"/>
              <a:t>Honeywell Internal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644BB-4AA9-6C46-86D0-5ECC59FDEAC6}" type="slidenum">
              <a:rPr lang="en-US" altLang="en-US" smtClean="0"/>
              <a:pPr/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9737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F2243E-9093-4D80-A0DE-B98DAB87841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892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F2243E-9093-4D80-A0DE-B98DAB87841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73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want</a:t>
            </a:r>
            <a:r>
              <a:rPr lang="en-US" baseline="0" dirty="0"/>
              <a:t> to read more you will have the guide.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F2243E-9093-4D80-A0DE-B98DAB87841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888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F2243E-9093-4D80-A0DE-B98DAB87841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837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F2243E-9093-4D80-A0DE-B98DAB87841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858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F2243E-9093-4D80-A0DE-B98DAB87841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87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F2243E-9093-4D80-A0DE-B98DAB87841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00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26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4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8" y="5960263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10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1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51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6105" y="357810"/>
            <a:ext cx="10669812" cy="49861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645901" y="-28574"/>
            <a:ext cx="675217" cy="504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14D0C-58DA-754D-96DF-668AE432F1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86104" y="1005840"/>
            <a:ext cx="10669813" cy="5308600"/>
          </a:xfrm>
          <a:prstGeom prst="rect">
            <a:avLst/>
          </a:prstGeom>
        </p:spPr>
        <p:txBody>
          <a:bodyPr/>
          <a:lstStyle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2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079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70" y="508436"/>
            <a:ext cx="12004431" cy="571500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/>
          <a:lstStyle>
            <a:lvl1pPr marL="173038" indent="-17303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325" indent="-222250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0" y="6019800"/>
            <a:ext cx="12192000" cy="457200"/>
          </a:xfrm>
          <a:prstGeom prst="rect">
            <a:avLst/>
          </a:prstGeom>
          <a:solidFill>
            <a:srgbClr val="F83124"/>
          </a:solidFill>
        </p:spPr>
        <p:txBody>
          <a:bodyPr/>
          <a:lstStyle>
            <a:lvl1pPr marL="0" indent="0" algn="ctr">
              <a:buNone/>
              <a:defRPr sz="2000" b="1" i="1" baseline="0">
                <a:solidFill>
                  <a:schemeClr val="bg1"/>
                </a:solidFill>
                <a:latin typeface="Arial Black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3782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4570" y="357810"/>
            <a:ext cx="10507948" cy="49861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14568" y="1005840"/>
            <a:ext cx="10507947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FC1E5D37-8D63-EA40-A83B-B2B3144548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450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14572" y="357810"/>
            <a:ext cx="10499919" cy="4986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4"/>
          <p:cNvSpPr>
            <a:spLocks noGrp="1"/>
          </p:cNvSpPr>
          <p:nvPr>
            <p:ph sz="quarter" idx="12"/>
          </p:nvPr>
        </p:nvSpPr>
        <p:spPr>
          <a:xfrm>
            <a:off x="714793" y="1005840"/>
            <a:ext cx="5160304" cy="5308600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15"/>
          </p:nvPr>
        </p:nvSpPr>
        <p:spPr>
          <a:xfrm>
            <a:off x="6150445" y="1005840"/>
            <a:ext cx="5064040" cy="53086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F9179EA4-3974-BE44-BAEC-75AB08C74F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900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33400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9" name="TextBox 10"/>
          <p:cNvSpPr txBox="1">
            <a:spLocks noChangeArrowheads="1"/>
          </p:cNvSpPr>
          <p:nvPr userDrawn="1"/>
        </p:nvSpPr>
        <p:spPr bwMode="auto">
          <a:xfrm>
            <a:off x="1666875" y="6804025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80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14250" y="364798"/>
            <a:ext cx="10531033" cy="51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2"/>
          </p:nvPr>
        </p:nvSpPr>
        <p:spPr>
          <a:xfrm>
            <a:off x="714241" y="1005841"/>
            <a:ext cx="5172339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5"/>
          </p:nvPr>
        </p:nvSpPr>
        <p:spPr>
          <a:xfrm>
            <a:off x="6134785" y="1005841"/>
            <a:ext cx="5110491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22"/>
          </p:nvPr>
        </p:nvSpPr>
        <p:spPr>
          <a:xfrm>
            <a:off x="714241" y="3796581"/>
            <a:ext cx="5172339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quarter" idx="23"/>
          </p:nvPr>
        </p:nvSpPr>
        <p:spPr>
          <a:xfrm>
            <a:off x="6134785" y="3796581"/>
            <a:ext cx="5110491" cy="25342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EE4036DE-DE71-014C-968C-F6EEF5D1CA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98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0" y="357192"/>
            <a:ext cx="10523336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BA9B0B-FAEF-6F4E-AA9D-4763F23C33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56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304800"/>
            <a:ext cx="12004431" cy="571500"/>
          </a:xfrm>
          <a:prstGeom prst="rect">
            <a:avLst/>
          </a:prstGeom>
        </p:spPr>
        <p:txBody>
          <a:bodyPr lIns="91429" tIns="45715" rIns="91429" bIns="45715"/>
          <a:lstStyle>
            <a:lvl1pPr algn="l">
              <a:defRPr sz="2600" b="1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468923" y="1676400"/>
            <a:ext cx="11347939" cy="2057400"/>
          </a:xfrm>
          <a:prstGeom prst="rect">
            <a:avLst/>
          </a:prstGeom>
        </p:spPr>
        <p:txBody>
          <a:bodyPr lIns="91429" tIns="45715" rIns="91429" bIns="45715"/>
          <a:lstStyle>
            <a:lvl1pPr marL="173018" indent="-173018">
              <a:buClr>
                <a:srgbClr val="F83124"/>
              </a:buClr>
              <a:defRPr lang="en-US" sz="1800" kern="0" dirty="0" smtClean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68261" indent="-222224">
              <a:buClr>
                <a:srgbClr val="002060"/>
              </a:buClr>
              <a:defRPr sz="1800">
                <a:latin typeface="Arial" pitchFamily="34" charset="0"/>
                <a:cs typeface="Arial" pitchFamily="34" charset="0"/>
              </a:defRPr>
            </a:lvl2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marL="800009" lvl="1" indent="-176193" algn="l" defTabSz="914296" rtl="0" eaLnBrk="0" latinLnBrk="0" hangingPunct="0">
              <a:spcBef>
                <a:spcPts val="900"/>
              </a:spcBef>
              <a:buClr>
                <a:srgbClr val="00B050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/>
              <a:t>Third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68923" y="1219200"/>
            <a:ext cx="11347939" cy="381000"/>
          </a:xfrm>
          <a:prstGeom prst="rect">
            <a:avLst/>
          </a:prstGeom>
        </p:spPr>
        <p:txBody>
          <a:bodyPr lIns="91429" tIns="45715" rIns="91429" bIns="45715"/>
          <a:lstStyle>
            <a:lvl1pPr>
              <a:buNone/>
              <a:defRPr sz="1800" b="1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2038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eake.jpg"/>
          <p:cNvPicPr>
            <a:picLocks/>
          </p:cNvPicPr>
          <p:nvPr userDrawn="1"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6933" y="0"/>
            <a:ext cx="12208933" cy="68834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3690938"/>
            <a:ext cx="8263467" cy="627062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sz="4000">
                <a:solidFill>
                  <a:srgbClr val="F4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221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ontent Placeholder 30"/>
          <p:cNvSpPr>
            <a:spLocks noGrp="1"/>
          </p:cNvSpPr>
          <p:nvPr>
            <p:ph sz="quarter" idx="11"/>
          </p:nvPr>
        </p:nvSpPr>
        <p:spPr>
          <a:xfrm>
            <a:off x="721255" y="1674772"/>
            <a:ext cx="9625012" cy="987910"/>
          </a:xfrm>
          <a:prstGeom prst="rect">
            <a:avLst/>
          </a:prstGeom>
        </p:spPr>
        <p:txBody>
          <a:bodyPr vert="horz" wrap="square" lIns="87272" tIns="43636" rIns="87272" bIns="0">
            <a:spAutoFit/>
          </a:bodyPr>
          <a:lstStyle>
            <a:lvl1pPr marL="34290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Wingdings" charset="2"/>
              <a:buChar char="§"/>
              <a:defRPr sz="1800" b="0"/>
            </a:lvl1pPr>
            <a:lvl2pPr marL="539496" indent="-21215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Pct val="100000"/>
              <a:buFont typeface="Arial"/>
              <a:buChar char="•"/>
              <a:defRPr sz="1600" b="0"/>
            </a:lvl2pPr>
            <a:lvl3pPr marL="740664" indent="-167417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Lucida Grande"/>
              <a:buChar char="-"/>
              <a:defRPr sz="1400" b="0"/>
            </a:lvl3pPr>
            <a:lvl4pPr>
              <a:spcBef>
                <a:spcPts val="0"/>
              </a:spcBef>
              <a:spcAft>
                <a:spcPts val="573"/>
              </a:spcAft>
              <a:buClr>
                <a:schemeClr val="tx2"/>
              </a:buClr>
              <a:buSzPct val="80000"/>
              <a:buFont typeface="Wingdings" charset="2"/>
              <a:buChar char="§"/>
              <a:defRPr sz="1300"/>
            </a:lvl4pPr>
            <a:lvl5pPr>
              <a:spcBef>
                <a:spcPts val="0"/>
              </a:spcBef>
              <a:spcAft>
                <a:spcPts val="573"/>
              </a:spcAft>
              <a:buClr>
                <a:srgbClr val="1F497D"/>
              </a:buClr>
              <a:buSzPct val="80000"/>
              <a:buFont typeface="Wingdings" charset="2"/>
              <a:buChar char="§"/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Rectangle 34"/>
          <p:cNvSpPr/>
          <p:nvPr userDrawn="1"/>
        </p:nvSpPr>
        <p:spPr bwMode="auto">
          <a:xfrm rot="5400000">
            <a:off x="53445" y="819679"/>
            <a:ext cx="774699" cy="202143"/>
          </a:xfrm>
          <a:prstGeom prst="rect">
            <a:avLst/>
          </a:prstGeom>
          <a:solidFill>
            <a:schemeClr val="accent3"/>
          </a:solidFill>
          <a:ln w="12699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738189" y="540347"/>
            <a:ext cx="9715499" cy="430887"/>
          </a:xfrm>
          <a:prstGeom prst="rect">
            <a:avLst/>
          </a:prstGeom>
        </p:spPr>
        <p:txBody>
          <a:bodyPr vert="horz" wrap="square" lIns="0" tIns="0" rIns="64288" bIns="0">
            <a:spAutoFit/>
          </a:bodyPr>
          <a:lstStyle>
            <a:lvl1pPr>
              <a:spcBef>
                <a:spcPts val="0"/>
              </a:spcBef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738189" y="962621"/>
            <a:ext cx="10945811" cy="307777"/>
          </a:xfrm>
          <a:prstGeom prst="rect">
            <a:avLst/>
          </a:prstGeom>
        </p:spPr>
        <p:txBody>
          <a:bodyPr vert="horz" wrap="square" lIns="0" tIns="0" rIns="91425" bIns="0" rtlCol="0">
            <a:spAutoFit/>
          </a:bodyPr>
          <a:lstStyle>
            <a:lvl1pPr marL="0" indent="0" algn="l" defTabSz="91425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2000" b="0" i="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14" name="Rectangle 15"/>
          <p:cNvSpPr>
            <a:spLocks/>
          </p:cNvSpPr>
          <p:nvPr userDrawn="1"/>
        </p:nvSpPr>
        <p:spPr bwMode="auto">
          <a:xfrm>
            <a:off x="11453816" y="6739128"/>
            <a:ext cx="389929" cy="92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88892" tIns="0" rIns="88892" bIns="0"/>
          <a:lstStyle/>
          <a:p>
            <a:pPr algn="r" defTabSz="456490"/>
            <a:fld id="{4DDAB0AE-C598-0546-92E9-BED5B4FA3C7E}" type="slidenum">
              <a:rPr lang="en-US" sz="60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pPr algn="r" defTabSz="456490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13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ontent Placeholder 30"/>
          <p:cNvSpPr>
            <a:spLocks noGrp="1"/>
          </p:cNvSpPr>
          <p:nvPr>
            <p:ph sz="quarter" idx="11"/>
          </p:nvPr>
        </p:nvSpPr>
        <p:spPr>
          <a:xfrm>
            <a:off x="721255" y="1674772"/>
            <a:ext cx="9625012" cy="987910"/>
          </a:xfrm>
          <a:prstGeom prst="rect">
            <a:avLst/>
          </a:prstGeom>
        </p:spPr>
        <p:txBody>
          <a:bodyPr vert="horz" wrap="square" lIns="87272" tIns="43636" rIns="87272" bIns="0">
            <a:spAutoFit/>
          </a:bodyPr>
          <a:lstStyle>
            <a:lvl1pPr marL="342900" indent="-3429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accent3"/>
              </a:buClr>
              <a:buFont typeface="Wingdings" charset="2"/>
              <a:buChar char="§"/>
              <a:defRPr sz="1800" b="0"/>
            </a:lvl1pPr>
            <a:lvl2pPr marL="539496" indent="-21215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Pct val="100000"/>
              <a:buFont typeface="Arial"/>
              <a:buChar char="•"/>
              <a:defRPr sz="1600" b="0"/>
            </a:lvl2pPr>
            <a:lvl3pPr marL="740664" indent="-167417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Lucida Grande"/>
              <a:buChar char="-"/>
              <a:defRPr sz="1400" b="0"/>
            </a:lvl3pPr>
            <a:lvl4pPr>
              <a:spcBef>
                <a:spcPts val="0"/>
              </a:spcBef>
              <a:spcAft>
                <a:spcPts val="573"/>
              </a:spcAft>
              <a:buClr>
                <a:schemeClr val="tx2"/>
              </a:buClr>
              <a:buSzPct val="80000"/>
              <a:buFont typeface="Wingdings" charset="2"/>
              <a:buChar char="§"/>
              <a:defRPr sz="1300"/>
            </a:lvl4pPr>
            <a:lvl5pPr>
              <a:spcBef>
                <a:spcPts val="0"/>
              </a:spcBef>
              <a:spcAft>
                <a:spcPts val="573"/>
              </a:spcAft>
              <a:buClr>
                <a:srgbClr val="1F497D"/>
              </a:buClr>
              <a:buSzPct val="80000"/>
              <a:buFont typeface="Wingdings" charset="2"/>
              <a:buChar char="§"/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738189" y="908647"/>
            <a:ext cx="9715499" cy="430887"/>
          </a:xfrm>
          <a:prstGeom prst="rect">
            <a:avLst/>
          </a:prstGeom>
        </p:spPr>
        <p:txBody>
          <a:bodyPr vert="horz" wrap="square" lIns="0" tIns="0" rIns="64288" bIns="0">
            <a:spAutoFit/>
          </a:bodyPr>
          <a:lstStyle>
            <a:lvl1pPr>
              <a:spcBef>
                <a:spcPts val="0"/>
              </a:spcBef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738189" y="530821"/>
            <a:ext cx="10945811" cy="307777"/>
          </a:xfrm>
          <a:prstGeom prst="rect">
            <a:avLst/>
          </a:prstGeom>
        </p:spPr>
        <p:txBody>
          <a:bodyPr vert="horz" wrap="square" lIns="0" tIns="0" rIns="91425" bIns="0" rtlCol="0">
            <a:spAutoFit/>
          </a:bodyPr>
          <a:lstStyle>
            <a:lvl1pPr marL="0" indent="0" algn="l" defTabSz="91425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2000" b="0" i="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14" name="Rectangle 15"/>
          <p:cNvSpPr>
            <a:spLocks/>
          </p:cNvSpPr>
          <p:nvPr userDrawn="1"/>
        </p:nvSpPr>
        <p:spPr bwMode="auto">
          <a:xfrm>
            <a:off x="11453816" y="6739128"/>
            <a:ext cx="389929" cy="92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88892" tIns="0" rIns="88892" bIns="0"/>
          <a:lstStyle/>
          <a:p>
            <a:pPr algn="r" defTabSz="456490"/>
            <a:fld id="{4DDAB0AE-C598-0546-92E9-BED5B4FA3C7E}" type="slidenum">
              <a:rPr lang="en-US" sz="60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pPr algn="r" defTabSz="456490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 rot="5400000">
            <a:off x="53445" y="819679"/>
            <a:ext cx="774699" cy="202143"/>
          </a:xfrm>
          <a:prstGeom prst="rect">
            <a:avLst/>
          </a:prstGeom>
          <a:solidFill>
            <a:schemeClr val="accent3"/>
          </a:solidFill>
          <a:ln w="12699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80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38189" y="540347"/>
            <a:ext cx="9715499" cy="430887"/>
          </a:xfrm>
          <a:prstGeom prst="rect">
            <a:avLst/>
          </a:prstGeom>
        </p:spPr>
        <p:txBody>
          <a:bodyPr vert="horz" wrap="square" lIns="0" tIns="0" rIns="64288" bIns="0">
            <a:spAutoFit/>
          </a:bodyPr>
          <a:lstStyle>
            <a:lvl1pPr>
              <a:spcBef>
                <a:spcPts val="0"/>
              </a:spcBef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738190" y="962621"/>
            <a:ext cx="11030477" cy="307777"/>
          </a:xfrm>
          <a:prstGeom prst="rect">
            <a:avLst/>
          </a:prstGeom>
        </p:spPr>
        <p:txBody>
          <a:bodyPr vert="horz" wrap="square" lIns="0" tIns="0" rIns="91425" bIns="0" rtlCol="0">
            <a:spAutoFit/>
          </a:bodyPr>
          <a:lstStyle>
            <a:lvl1pPr marL="0" indent="0" algn="l" defTabSz="91425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2000" b="0" i="0" kern="1200">
                <a:solidFill>
                  <a:srgbClr val="000000"/>
                </a:solidFill>
                <a:latin typeface="Arial"/>
                <a:ea typeface="+mn-ea"/>
                <a:cs typeface="Arial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14" name="Rectangle 15"/>
          <p:cNvSpPr>
            <a:spLocks/>
          </p:cNvSpPr>
          <p:nvPr userDrawn="1"/>
        </p:nvSpPr>
        <p:spPr bwMode="auto">
          <a:xfrm>
            <a:off x="11453816" y="6739128"/>
            <a:ext cx="389929" cy="92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88892" tIns="0" rIns="88892" bIns="0"/>
          <a:lstStyle/>
          <a:p>
            <a:pPr algn="r" defTabSz="456490"/>
            <a:fld id="{4DDAB0AE-C598-0546-92E9-BED5B4FA3C7E}" type="slidenum">
              <a:rPr lang="en-US" sz="60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pPr algn="r" defTabSz="456490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 bwMode="auto">
          <a:xfrm rot="5400000">
            <a:off x="53445" y="819679"/>
            <a:ext cx="774699" cy="202143"/>
          </a:xfrm>
          <a:prstGeom prst="rect">
            <a:avLst/>
          </a:prstGeom>
          <a:solidFill>
            <a:schemeClr val="accent3"/>
          </a:solidFill>
          <a:ln w="12699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7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ound Single Corner Rectangle 5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09621" y="364015"/>
            <a:ext cx="10491779" cy="5118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2"/>
          </p:nvPr>
        </p:nvSpPr>
        <p:spPr>
          <a:xfrm>
            <a:off x="709621" y="1005463"/>
            <a:ext cx="10491779" cy="5075237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fld id="{ADCFD273-3BA9-0844-8544-A4EE6CAE2C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556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ound Single Corner Rectangle 6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 bwMode="auto">
          <a:xfrm>
            <a:off x="6008688" y="996950"/>
            <a:ext cx="0" cy="5056188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109" y="357192"/>
            <a:ext cx="10480347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2"/>
          </p:nvPr>
        </p:nvSpPr>
        <p:spPr>
          <a:xfrm>
            <a:off x="714110" y="1005840"/>
            <a:ext cx="517230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"/>
          <p:cNvSpPr>
            <a:spLocks noGrp="1"/>
          </p:cNvSpPr>
          <p:nvPr>
            <p:ph sz="quarter" idx="16"/>
          </p:nvPr>
        </p:nvSpPr>
        <p:spPr>
          <a:xfrm>
            <a:off x="6143515" y="1005840"/>
            <a:ext cx="5050940" cy="50479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EF5F0A62-F77C-0641-A60D-6B56B0D924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2622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Layout With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ound Single Corner Rectangle 8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 flipH="1">
            <a:off x="714375" y="3709988"/>
            <a:ext cx="10531475" cy="0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6008688" y="996950"/>
            <a:ext cx="0" cy="5184775"/>
          </a:xfrm>
          <a:prstGeom prst="lin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14111" y="364859"/>
            <a:ext cx="10472508" cy="485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"/>
          <p:cNvSpPr>
            <a:spLocks noGrp="1"/>
          </p:cNvSpPr>
          <p:nvPr>
            <p:ph sz="quarter" idx="23"/>
          </p:nvPr>
        </p:nvSpPr>
        <p:spPr>
          <a:xfrm>
            <a:off x="714108" y="3796577"/>
            <a:ext cx="5165333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Content Placeholder 4"/>
          <p:cNvSpPr>
            <a:spLocks noGrp="1"/>
          </p:cNvSpPr>
          <p:nvPr>
            <p:ph sz="quarter" idx="24"/>
          </p:nvPr>
        </p:nvSpPr>
        <p:spPr>
          <a:xfrm>
            <a:off x="6123491" y="3796577"/>
            <a:ext cx="5063135" cy="238514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Placeholder 4"/>
          <p:cNvSpPr>
            <a:spLocks noGrp="1"/>
          </p:cNvSpPr>
          <p:nvPr>
            <p:ph sz="quarter" idx="12"/>
          </p:nvPr>
        </p:nvSpPr>
        <p:spPr>
          <a:xfrm>
            <a:off x="714108" y="1005841"/>
            <a:ext cx="5165333" cy="262442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Content Placeholder 4"/>
          <p:cNvSpPr>
            <a:spLocks noGrp="1"/>
          </p:cNvSpPr>
          <p:nvPr>
            <p:ph sz="quarter" idx="25"/>
          </p:nvPr>
        </p:nvSpPr>
        <p:spPr>
          <a:xfrm>
            <a:off x="6123491" y="1005841"/>
            <a:ext cx="5063135" cy="2624429"/>
          </a:xfrm>
          <a:prstGeom prst="rect">
            <a:avLst/>
          </a:prstGeom>
        </p:spPr>
        <p:txBody>
          <a:bodyPr/>
          <a:lstStyle>
            <a:lvl2pPr>
              <a:buClr>
                <a:schemeClr val="accent3"/>
              </a:buClr>
              <a:defRPr>
                <a:latin typeface="+mn-lt"/>
              </a:defRPr>
            </a:lvl2pPr>
            <a:lvl3pPr>
              <a:buClr>
                <a:schemeClr val="accent3"/>
              </a:buClr>
              <a:defRPr>
                <a:latin typeface="+mn-lt"/>
              </a:defRPr>
            </a:lvl3pPr>
            <a:lvl4pPr marL="1600200" indent="-228600">
              <a:buClr>
                <a:schemeClr val="accent3"/>
              </a:buClr>
              <a:buFont typeface="Arial" panose="020B0604020202020204" pitchFamily="34" charset="0"/>
              <a:buChar char="-"/>
              <a:defRPr sz="1400">
                <a:latin typeface="+mn-lt"/>
                <a:cs typeface="Arial" panose="020B0604020202020204" pitchFamily="34" charset="0"/>
              </a:defRPr>
            </a:lvl4pPr>
            <a:lvl5pPr>
              <a:buClr>
                <a:schemeClr val="accent3"/>
              </a:buClr>
              <a:defRPr sz="1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1F4DDCF1-86F2-EE49-BE3C-309AC80937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0537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Layout W/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14313" y="6364288"/>
            <a:ext cx="11977687" cy="493712"/>
          </a:xfrm>
          <a:prstGeom prst="rect">
            <a:avLst/>
          </a:prstGeom>
          <a:solidFill>
            <a:schemeClr val="bg1"/>
          </a:solidFill>
          <a:ln w="952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ound Single Corner Rectangle 4"/>
          <p:cNvSpPr/>
          <p:nvPr userDrawn="1"/>
        </p:nvSpPr>
        <p:spPr>
          <a:xfrm>
            <a:off x="0" y="6364288"/>
            <a:ext cx="11583988" cy="504825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242" y="357192"/>
            <a:ext cx="10455164" cy="4984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15384" y="6384610"/>
            <a:ext cx="11063816" cy="4572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0E3C6540-DC68-5745-8920-98AA773043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7545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2852738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2851150" y="5959475"/>
            <a:ext cx="0" cy="492125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9"/>
          <p:cNvSpPr>
            <a:spLocks noGrp="1"/>
          </p:cNvSpPr>
          <p:nvPr>
            <p:ph type="body" sz="quarter" idx="13"/>
          </p:nvPr>
        </p:nvSpPr>
        <p:spPr>
          <a:xfrm>
            <a:off x="2864783" y="6222292"/>
            <a:ext cx="6617885" cy="254118"/>
          </a:xfrm>
          <a:prstGeom prst="rect">
            <a:avLst/>
          </a:prstGeom>
        </p:spPr>
        <p:txBody>
          <a:bodyPr vert="horz" anchor="ctr"/>
          <a:lstStyle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2864782" y="5960249"/>
            <a:ext cx="6617887" cy="249655"/>
          </a:xfrm>
          <a:prstGeom prst="rect">
            <a:avLst/>
          </a:prstGeom>
        </p:spPr>
        <p:txBody>
          <a:bodyPr vert="horz" anchor="ctr"/>
          <a:lstStyle>
            <a:lvl1pPr>
              <a:defRPr sz="2400" b="1" i="0" cap="all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0"/>
          </p:nvPr>
        </p:nvSpPr>
        <p:spPr>
          <a:xfrm>
            <a:off x="266701" y="5949950"/>
            <a:ext cx="2483273" cy="236792"/>
          </a:xfrm>
          <a:prstGeom prst="rect">
            <a:avLst/>
          </a:prstGeom>
        </p:spPr>
        <p:txBody>
          <a:bodyPr vert="horz" anchor="t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6700" y="6199311"/>
            <a:ext cx="2483275" cy="248524"/>
          </a:xfrm>
          <a:prstGeom prst="rect">
            <a:avLst/>
          </a:prstGeom>
        </p:spPr>
        <p:txBody>
          <a:bodyPr vert="horz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image" Target="../media/image9.png"/><Relationship Id="rId5" Type="http://schemas.openxmlformats.org/officeDocument/2006/relationships/slideLayout" Target="../slideLayouts/slideLayout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213" y="1973263"/>
            <a:ext cx="3644900" cy="366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9" descr="Picture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75"/>
            <a:ext cx="4624388" cy="5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2" descr="Picture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-15875"/>
            <a:ext cx="7424737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3" descr="Picture3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88" y="1973263"/>
            <a:ext cx="3668712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4" descr="Picture5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4052888"/>
            <a:ext cx="3659187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08700"/>
            <a:ext cx="189547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4" descr="Corner-01 copy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0" r:id="rId1"/>
  </p:sldLayoutIdLst>
  <p:hf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 descr="ATail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1525" cy="607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5" descr="Corner-01 copy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92538"/>
            <a:ext cx="12188825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6" descr="\\localhost\Volumes\DMS-Server\Clients\Honeywell PPT \Honeywell - Freestanding Logos\Honeywell - Freestanding Logo RGB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097588"/>
            <a:ext cx="189547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 userDrawn="1"/>
        </p:nvSpPr>
        <p:spPr>
          <a:xfrm>
            <a:off x="5005388" y="1717675"/>
            <a:ext cx="1824037" cy="833438"/>
          </a:xfrm>
          <a:prstGeom prst="rect">
            <a:avLst/>
          </a:prstGeom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ＭＳ Ｐゴシック" charset="0"/>
                <a:cs typeface="HelveticaNeue BoldCond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Neue BoldCond"/>
                <a:ea typeface="HelveticaNeue BoldCond"/>
                <a:cs typeface="HelveticaNeue BoldCond"/>
              </a:defRPr>
            </a:lvl9pPr>
          </a:lstStyle>
          <a:p>
            <a:pPr>
              <a:defRPr/>
            </a:pPr>
            <a:r>
              <a:rPr lang="en-US" dirty="0">
                <a:solidFill>
                  <a:srgbClr val="FFFFFF"/>
                </a:solidFill>
                <a:latin typeface="Arial" charset="0"/>
              </a:rPr>
              <a:t>HUE</a:t>
            </a:r>
          </a:p>
        </p:txBody>
      </p:sp>
      <p:sp>
        <p:nvSpPr>
          <p:cNvPr id="2" name="Donut 1"/>
          <p:cNvSpPr/>
          <p:nvPr userDrawn="1"/>
        </p:nvSpPr>
        <p:spPr>
          <a:xfrm>
            <a:off x="4768850" y="1303338"/>
            <a:ext cx="1281113" cy="1281112"/>
          </a:xfrm>
          <a:prstGeom prst="donut">
            <a:avLst>
              <a:gd name="adj" fmla="val 409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1" r:id="rId1"/>
    <p:sldLayoutId id="2147494090" r:id="rId2"/>
    <p:sldLayoutId id="2147494096" r:id="rId3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rner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4806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2A8CB18A-F66A-0349-9EA4-9C9209B05FC4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125" name="Picture 10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8600" y="6519863"/>
            <a:ext cx="13716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Rectangle 23"/>
          <p:cNvSpPr>
            <a:spLocks noChangeArrowheads="1"/>
          </p:cNvSpPr>
          <p:nvPr/>
        </p:nvSpPr>
        <p:spPr bwMode="auto">
          <a:xfrm>
            <a:off x="730250" y="6586538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78" r:id="rId1"/>
    <p:sldLayoutId id="2147494082" r:id="rId2"/>
    <p:sldLayoutId id="2147494083" r:id="rId3"/>
    <p:sldLayoutId id="2147494079" r:id="rId4"/>
    <p:sldLayoutId id="2147494101" r:id="rId5"/>
    <p:sldLayoutId id="2147494111" r:id="rId6"/>
    <p:sldLayoutId id="2147494112" r:id="rId7"/>
    <p:sldLayoutId id="2147494113" r:id="rId8"/>
    <p:sldLayoutId id="2147494114" r:id="rId9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 descr="16-9 wTKaway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07875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357188"/>
            <a:ext cx="105092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1268" name="Rectangle 23"/>
          <p:cNvSpPr>
            <a:spLocks noChangeArrowheads="1"/>
          </p:cNvSpPr>
          <p:nvPr/>
        </p:nvSpPr>
        <p:spPr bwMode="auto">
          <a:xfrm>
            <a:off x="730250" y="6164263"/>
            <a:ext cx="25177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707070"/>
                </a:solidFill>
              </a:rPr>
              <a:t>© 2016 by Honeywell International Inc. All rights reserved. 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45900" y="0"/>
            <a:ext cx="674688" cy="5048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b="1">
                <a:solidFill>
                  <a:schemeClr val="bg1"/>
                </a:solidFill>
              </a:defRPr>
            </a:lvl1pPr>
          </a:lstStyle>
          <a:p>
            <a:fld id="{565D113E-1FDA-DC45-9CDC-9509235C1A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085" r:id="rId1"/>
    <p:sldLayoutId id="2147494086" r:id="rId2"/>
    <p:sldLayoutId id="2147494087" r:id="rId3"/>
    <p:sldLayoutId id="2147494088" r:id="rId4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lang="en-US" sz="2800" b="1" kern="1200" dirty="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698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1pPr>
      <a:lvl2pPr marL="627063" indent="-169863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-"/>
        <a:defRPr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084263" indent="-169863" algn="l" defTabSz="457200" rtl="0" eaLnBrk="0" fontAlgn="base" hangingPunct="0">
        <a:spcBef>
          <a:spcPct val="20000"/>
        </a:spcBef>
        <a:spcAft>
          <a:spcPct val="0"/>
        </a:spcAft>
        <a:buClr>
          <a:srgbClr val="7F7F7F"/>
        </a:buClr>
        <a:buSzPct val="90000"/>
        <a:buFont typeface="Wingdings" charset="2"/>
        <a:buChar char="§"/>
        <a:defRPr sz="16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ATai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9938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4" descr="Corner-01 cop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10063"/>
            <a:ext cx="1219200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" descr="\\localhost\Volumes\DMS-Server\Clients\Honeywell PPT \Honeywell - Freestanding Logos\Honeywell - Freestanding Logo RGB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63" y="6199188"/>
            <a:ext cx="1900237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4089" r:id="rId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ＭＳ Ｐゴシック" charset="0"/>
          <a:cs typeface="HelveticaNeue BoldCond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HelveticaNeue BoldCond"/>
          <a:ea typeface="HelveticaNeue BoldCond"/>
          <a:cs typeface="HelveticaNeue BoldCond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chemeClr val="tx1"/>
          </a:solidFill>
          <a:latin typeface="Helvetica 55 Roman"/>
          <a:ea typeface="ＭＳ Ｐゴシック" charset="0"/>
          <a:cs typeface="Helvetica 55 Roman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Helvetica Neue"/>
          <a:ea typeface="ＭＳ Ｐゴシック" charset="0"/>
          <a:cs typeface="Helvetica Neue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SzPct val="90000"/>
        <a:buFont typeface="Courier New" charset="0"/>
        <a:buChar char="o"/>
        <a:defRPr sz="1400" kern="1200">
          <a:solidFill>
            <a:schemeClr val="tx1"/>
          </a:solidFill>
          <a:latin typeface="Helvetica Neue"/>
          <a:ea typeface="Helvetica Neue"/>
          <a:cs typeface="Helvetica Neue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Helvetica Neue"/>
          <a:ea typeface="Helvetica Neue"/>
          <a:cs typeface="Helvetica Neu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6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hyperlink" Target="http://www.measuringusability.com/sus.php" TargetMode="External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9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2.jpe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690938"/>
            <a:ext cx="6286500" cy="2125662"/>
          </a:xfrm>
        </p:spPr>
        <p:txBody>
          <a:bodyPr/>
          <a:lstStyle/>
          <a:p>
            <a:r>
              <a:rPr lang="en-US" dirty="0">
                <a:cs typeface="Arial" pitchFamily="34" charset="0"/>
              </a:rPr>
              <a:t>System Usability Scale (SUS)</a:t>
            </a:r>
            <a:endParaRPr lang="en-US" dirty="0"/>
          </a:p>
        </p:txBody>
      </p:sp>
      <p:sp>
        <p:nvSpPr>
          <p:cNvPr id="3" name="BJPseudoFooter"/>
          <p:cNvSpPr txBox="1"/>
          <p:nvPr>
            <p:custDataLst>
              <p:tags r:id="rId2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9060641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 txBox="1">
            <a:spLocks/>
          </p:cNvSpPr>
          <p:nvPr/>
        </p:nvSpPr>
        <p:spPr>
          <a:xfrm>
            <a:off x="1908809" y="992189"/>
            <a:ext cx="4944783" cy="50323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Arial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2064941" y="1905000"/>
            <a:ext cx="4161508" cy="4127232"/>
          </a:xfrm>
        </p:spPr>
        <p:txBody>
          <a:bodyPr/>
          <a:lstStyle/>
          <a:p>
            <a:r>
              <a:rPr lang="en-US" dirty="0"/>
              <a:t>The System Usability Scale (SUS) is a simple, ten-item scale giving a global view of subjective assessments of usability.</a:t>
            </a:r>
          </a:p>
          <a:p>
            <a:r>
              <a:rPr lang="en-US" dirty="0"/>
              <a:t>It was developed by John Brooke at Digital Equipment Corporation in the UK in 1986 as a tool to be used in usability engineering of electronic office systems.</a:t>
            </a:r>
          </a:p>
          <a:p>
            <a:r>
              <a:rPr lang="en-US" dirty="0"/>
              <a:t>Maintains it’s relevance today and is still the most used questionnaire for measuring perceptions of usability.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8189" y="962621"/>
            <a:ext cx="10945811" cy="615553"/>
          </a:xfrm>
        </p:spPr>
        <p:txBody>
          <a:bodyPr/>
          <a:lstStyle/>
          <a:p>
            <a:r>
              <a:rPr lang="en-US" dirty="0"/>
              <a:t>A simple, ten-item attitude </a:t>
            </a:r>
            <a:r>
              <a:rPr lang="en-US" dirty="0" err="1"/>
              <a:t>Likert</a:t>
            </a:r>
            <a:r>
              <a:rPr lang="en-US" dirty="0"/>
              <a:t> scale giving a global view of subjective assessments of usability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298694" y="4527181"/>
            <a:ext cx="4102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0" i="1" dirty="0"/>
          </a:p>
        </p:txBody>
      </p:sp>
      <p:pic>
        <p:nvPicPr>
          <p:cNvPr id="5" name="Picture 4" descr="188021269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506" y="1690226"/>
            <a:ext cx="3996050" cy="4484017"/>
          </a:xfrm>
          <a:prstGeom prst="rect">
            <a:avLst/>
          </a:prstGeom>
        </p:spPr>
      </p:pic>
      <p:sp>
        <p:nvSpPr>
          <p:cNvPr id="6" name="BJPseudoFooter"/>
          <p:cNvSpPr txBox="1"/>
          <p:nvPr>
            <p:custDataLst>
              <p:tags r:id="rId2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7313226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 txBox="1">
            <a:spLocks/>
          </p:cNvSpPr>
          <p:nvPr/>
        </p:nvSpPr>
        <p:spPr>
          <a:xfrm>
            <a:off x="1985771" y="992189"/>
            <a:ext cx="3790358" cy="50323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Arial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738189" y="1674771"/>
            <a:ext cx="2820305" cy="347064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</a:rPr>
              <a:t>It consists of a 10 item questionnaire with five response options for respondents; from Strongly agree to Strongly disagree.  </a:t>
            </a:r>
            <a:br>
              <a:rPr lang="en-US" dirty="0">
                <a:latin typeface="Arial" charset="0"/>
              </a:rPr>
            </a:br>
            <a:endParaRPr lang="en-US" dirty="0">
              <a:latin typeface="Arial" charset="0"/>
            </a:endParaRPr>
          </a:p>
          <a:p>
            <a:pPr marL="0" indent="0">
              <a:buNone/>
            </a:pPr>
            <a:r>
              <a:rPr lang="en-GB" dirty="0">
                <a:latin typeface="Arial" charset="0"/>
              </a:rPr>
              <a:t>The statements cover a variety of aspects of system usability, such as the need for support, training, and complexity</a:t>
            </a:r>
            <a:endParaRPr lang="en-US" dirty="0">
              <a:latin typeface="Arial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SUS Tool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318" y="714702"/>
            <a:ext cx="6704876" cy="5433850"/>
          </a:xfrm>
          <a:prstGeom prst="rect">
            <a:avLst/>
          </a:prstGeom>
        </p:spPr>
      </p:pic>
      <p:sp>
        <p:nvSpPr>
          <p:cNvPr id="2" name="BJPseudoFooter"/>
          <p:cNvSpPr txBox="1"/>
          <p:nvPr>
            <p:custDataLst>
              <p:tags r:id="rId2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111045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 txBox="1">
            <a:spLocks/>
          </p:cNvSpPr>
          <p:nvPr/>
        </p:nvSpPr>
        <p:spPr>
          <a:xfrm>
            <a:off x="1985771" y="992189"/>
            <a:ext cx="8237729" cy="50323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Arial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716259" y="1585872"/>
            <a:ext cx="3954858" cy="2465238"/>
          </a:xfrm>
        </p:spPr>
        <p:txBody>
          <a:bodyPr/>
          <a:lstStyle/>
          <a:p>
            <a:r>
              <a:rPr lang="en-US" sz="1600" dirty="0"/>
              <a:t>The SUS tool is an Excel workbook into which one enters the user rating scores. </a:t>
            </a:r>
          </a:p>
          <a:p>
            <a:r>
              <a:rPr lang="en-US" sz="1600" dirty="0"/>
              <a:t>The SUS workbook uses the results and calculates a score for the interface ranging from 0-100.</a:t>
            </a:r>
          </a:p>
          <a:p>
            <a:r>
              <a:rPr lang="en-US" sz="1600" dirty="0"/>
              <a:t>A SUS score above a 68 would be considered above average and anything below 68 is below average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SUS Tool</a:t>
            </a:r>
            <a:endParaRPr lang="en-US" dirty="0"/>
          </a:p>
        </p:txBody>
      </p:sp>
      <p:pic>
        <p:nvPicPr>
          <p:cNvPr id="6" name="Picture 5" descr="sus-curv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95"/>
          <a:stretch/>
        </p:blipFill>
        <p:spPr>
          <a:xfrm>
            <a:off x="5661982" y="2093567"/>
            <a:ext cx="4269613" cy="2049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00107" y="1633622"/>
            <a:ext cx="5891356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How a SUS score compares to a traditional letter grade.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 </a:t>
            </a:r>
          </a:p>
          <a:p>
            <a:r>
              <a:rPr lang="en-US" b="0" dirty="0">
                <a:solidFill>
                  <a:schemeClr val="accent3"/>
                </a:solidFill>
                <a:hlinkClick r:id="rId6"/>
              </a:rPr>
              <a:t>http://www.measuringusability.com/sus.php</a:t>
            </a:r>
            <a:endParaRPr lang="en-US" b="0" dirty="0">
              <a:solidFill>
                <a:schemeClr val="accent3"/>
              </a:solidFill>
            </a:endParaRPr>
          </a:p>
        </p:txBody>
      </p:sp>
      <p:sp>
        <p:nvSpPr>
          <p:cNvPr id="2" name="BJPseudoFooter"/>
          <p:cNvSpPr txBox="1"/>
          <p:nvPr>
            <p:custDataLst>
              <p:tags r:id="rId2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197176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/>
          <p:cNvSpPr>
            <a:spLocks noGrp="1"/>
          </p:cNvSpPr>
          <p:nvPr>
            <p:ph type="title"/>
          </p:nvPr>
        </p:nvSpPr>
        <p:spPr>
          <a:xfrm>
            <a:off x="758128" y="540347"/>
            <a:ext cx="7286624" cy="430887"/>
          </a:xfrm>
        </p:spPr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SUS in Practice</a:t>
            </a:r>
            <a:endParaRPr lang="en-US" dirty="0"/>
          </a:p>
        </p:txBody>
      </p:sp>
      <p:sp>
        <p:nvSpPr>
          <p:cNvPr id="21" name="Subtitle 3"/>
          <p:cNvSpPr>
            <a:spLocks noGrp="1"/>
          </p:cNvSpPr>
          <p:nvPr>
            <p:ph type="subTitle" idx="1"/>
          </p:nvPr>
        </p:nvSpPr>
        <p:spPr>
          <a:xfrm>
            <a:off x="758128" y="962621"/>
            <a:ext cx="8272858" cy="830997"/>
          </a:xfrm>
        </p:spPr>
        <p:txBody>
          <a:bodyPr/>
          <a:lstStyle/>
          <a:p>
            <a:r>
              <a:rPr lang="en-US" sz="1800" dirty="0">
                <a:latin typeface="Arial" charset="0"/>
              </a:rPr>
              <a:t>The SUS will be done iteratively – once at the beginning of the project to uncover issues with the current experience and once after changes are made to measure impact and improvements. </a:t>
            </a:r>
          </a:p>
        </p:txBody>
      </p:sp>
      <p:pic>
        <p:nvPicPr>
          <p:cNvPr id="22" name="Picture 21" descr="Figure 4. A comparison of the adjective ratings, acceptability scores, and school grading scales, in relation to the average SUS score"/>
          <p:cNvPicPr/>
          <p:nvPr/>
        </p:nvPicPr>
        <p:blipFill>
          <a:blip r:embed="rId5" cstate="print"/>
          <a:srcRect l="14713" b="79863"/>
          <a:stretch>
            <a:fillRect/>
          </a:stretch>
        </p:blipFill>
        <p:spPr bwMode="auto">
          <a:xfrm>
            <a:off x="3743326" y="3365004"/>
            <a:ext cx="5968297" cy="444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2"/>
          <p:cNvSpPr/>
          <p:nvPr/>
        </p:nvSpPr>
        <p:spPr bwMode="auto">
          <a:xfrm>
            <a:off x="3780563" y="2901170"/>
            <a:ext cx="2758440" cy="232012"/>
          </a:xfrm>
          <a:prstGeom prst="rect">
            <a:avLst/>
          </a:prstGeom>
          <a:solidFill>
            <a:srgbClr val="FF0000"/>
          </a:solidFill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hangingPunct="0">
              <a:lnSpc>
                <a:spcPct val="110000"/>
              </a:lnSpc>
              <a:defRPr/>
            </a:pPr>
            <a:r>
              <a:rPr lang="en-US" sz="1100" b="1" kern="0" dirty="0">
                <a:solidFill>
                  <a:srgbClr val="FFFFFF"/>
                </a:solidFill>
              </a:rPr>
              <a:t>Red: 0-50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6552339" y="2901170"/>
            <a:ext cx="981075" cy="232012"/>
          </a:xfrm>
          <a:prstGeom prst="rect">
            <a:avLst/>
          </a:prstGeom>
          <a:solidFill>
            <a:srgbClr val="FFFF00"/>
          </a:solidFill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hangingPunct="0">
              <a:lnSpc>
                <a:spcPct val="110000"/>
              </a:lnSpc>
              <a:defRPr/>
            </a:pPr>
            <a:r>
              <a:rPr lang="en-US" sz="1100" b="1" kern="0" dirty="0">
                <a:solidFill>
                  <a:sysClr val="windowText" lastClr="000000"/>
                </a:solidFill>
              </a:rPr>
              <a:t>Yellow: 50-67</a:t>
            </a:r>
          </a:p>
        </p:txBody>
      </p:sp>
      <p:sp>
        <p:nvSpPr>
          <p:cNvPr id="25" name="Rectangle 24"/>
          <p:cNvSpPr/>
          <p:nvPr/>
        </p:nvSpPr>
        <p:spPr bwMode="auto">
          <a:xfrm>
            <a:off x="7529603" y="2901170"/>
            <a:ext cx="1729741" cy="232012"/>
          </a:xfrm>
          <a:prstGeom prst="rect">
            <a:avLst/>
          </a:prstGeom>
          <a:solidFill>
            <a:srgbClr val="00B050"/>
          </a:solidFill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hangingPunct="0">
              <a:lnSpc>
                <a:spcPct val="110000"/>
              </a:lnSpc>
              <a:defRPr/>
            </a:pPr>
            <a:r>
              <a:rPr lang="en-US" sz="1100" b="1" kern="0" dirty="0">
                <a:solidFill>
                  <a:srgbClr val="FFFFFF"/>
                </a:solidFill>
              </a:rPr>
              <a:t>Green: 68-100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9254263" y="3199904"/>
            <a:ext cx="0" cy="317500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7527063" y="3199904"/>
            <a:ext cx="0" cy="317500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Arrow Connector 27"/>
          <p:cNvCxnSpPr/>
          <p:nvPr/>
        </p:nvCxnSpPr>
        <p:spPr bwMode="auto">
          <a:xfrm>
            <a:off x="6561863" y="3199904"/>
            <a:ext cx="0" cy="317500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3805963" y="3199904"/>
            <a:ext cx="0" cy="317500"/>
          </a:xfrm>
          <a:prstGeom prst="straightConnector1">
            <a:avLst/>
          </a:prstGeom>
          <a:noFill/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Rectangle 29"/>
          <p:cNvSpPr/>
          <p:nvPr/>
        </p:nvSpPr>
        <p:spPr bwMode="auto">
          <a:xfrm>
            <a:off x="2135016" y="2661062"/>
            <a:ext cx="8316684" cy="2461311"/>
          </a:xfrm>
          <a:prstGeom prst="rect">
            <a:avLst/>
          </a:prstGeom>
          <a:noFill/>
          <a:ln w="12699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defTabSz="914400" eaLnBrk="0" hangingPunct="0">
              <a:lnSpc>
                <a:spcPct val="110000"/>
              </a:lnSpc>
              <a:defRPr/>
            </a:pPr>
            <a:endParaRPr lang="en-US" sz="5400" b="1" kern="0">
              <a:solidFill>
                <a:srgbClr val="0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57004" y="2336304"/>
            <a:ext cx="2465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chemeClr val="accent3"/>
                </a:solidFill>
              </a:rPr>
              <a:t>SUS Score Interpretation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3759200" y="4014935"/>
            <a:ext cx="2822575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hangingPunct="0"/>
            <a:r>
              <a:rPr lang="en-US" sz="1100" b="1" dirty="0"/>
              <a:t>F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6581776" y="4014935"/>
            <a:ext cx="666749" cy="152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hangingPunct="0"/>
            <a:r>
              <a:rPr lang="en-US" sz="1100" b="1" dirty="0"/>
              <a:t>D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7246938" y="4014935"/>
            <a:ext cx="563562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hangingPunct="0"/>
            <a:r>
              <a:rPr lang="en-US" sz="1100" b="1" dirty="0"/>
              <a:t>C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7808913" y="4014935"/>
            <a:ext cx="334963" cy="1524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hangingPunct="0"/>
            <a:r>
              <a:rPr lang="en-US" sz="1100" b="1" dirty="0"/>
              <a:t>B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8143876" y="4014935"/>
            <a:ext cx="1142999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eaLnBrk="0" hangingPunct="0"/>
            <a:r>
              <a:rPr lang="en-US" sz="1100" b="1" dirty="0"/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9341" y="3375660"/>
            <a:ext cx="140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ACCEPTABILITY RANGES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77467" y="3899365"/>
            <a:ext cx="1171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GRADE SCALE (CURVE)</a:t>
            </a:r>
          </a:p>
        </p:txBody>
      </p:sp>
      <p:pic>
        <p:nvPicPr>
          <p:cNvPr id="40" name="Picture 39" descr="Figure 4. A comparison of the adjective ratings, acceptability scores, and school grading scales, in relation to the average SUS score"/>
          <p:cNvPicPr/>
          <p:nvPr/>
        </p:nvPicPr>
        <p:blipFill rotWithShape="1">
          <a:blip r:embed="rId5" cstate="print"/>
          <a:srcRect l="13814" t="49739" b="21839"/>
          <a:stretch/>
        </p:blipFill>
        <p:spPr bwMode="auto">
          <a:xfrm>
            <a:off x="3680460" y="4343520"/>
            <a:ext cx="6031162" cy="62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TextBox 41"/>
          <p:cNvSpPr txBox="1"/>
          <p:nvPr/>
        </p:nvSpPr>
        <p:spPr>
          <a:xfrm>
            <a:off x="2522220" y="4443762"/>
            <a:ext cx="12268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SUS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77467" y="2827020"/>
            <a:ext cx="1171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SCORECARD CODING</a:t>
            </a:r>
          </a:p>
        </p:txBody>
      </p:sp>
      <p:sp>
        <p:nvSpPr>
          <p:cNvPr id="2" name="BJPseudoFooter"/>
          <p:cNvSpPr txBox="1"/>
          <p:nvPr>
            <p:custDataLst>
              <p:tags r:id="rId2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4934305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1"/>
          </p:nvPr>
        </p:nvSpPr>
        <p:spPr>
          <a:xfrm>
            <a:off x="2064942" y="1674772"/>
            <a:ext cx="8182903" cy="3604012"/>
          </a:xfrm>
        </p:spPr>
        <p:txBody>
          <a:bodyPr/>
          <a:lstStyle/>
          <a:p>
            <a:r>
              <a:rPr lang="en-US" dirty="0"/>
              <a:t>Inexpensive means to understand how well an interface is performing based on customer feedback </a:t>
            </a:r>
          </a:p>
          <a:p>
            <a:r>
              <a:rPr lang="en-US" dirty="0"/>
              <a:t>Quantitative measurement that can help gauge improvements and success</a:t>
            </a:r>
          </a:p>
          <a:p>
            <a:r>
              <a:rPr lang="en-US" dirty="0"/>
              <a:t>Industry standard for 25 years, and its wide usage has allowed it to be studied and examined </a:t>
            </a:r>
          </a:p>
          <a:p>
            <a:r>
              <a:rPr lang="en-US" dirty="0"/>
              <a:t>Technology independent and has since been tested on hardware, consumer software, websites, cell-phones, IVRs and even the yellow-pages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i="1" dirty="0">
                <a:solidFill>
                  <a:schemeClr val="accent3"/>
                </a:solidFill>
              </a:rPr>
              <a:t>But Remember . . . </a:t>
            </a:r>
          </a:p>
          <a:p>
            <a:r>
              <a:rPr lang="en-US" dirty="0"/>
              <a:t>SUS scores were not meant to be diagnostic. More insight is required via heuristic evaluation to determine what needs to be fixed.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SUS?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SUS Tool</a:t>
            </a:r>
            <a:endParaRPr lang="en-US" dirty="0"/>
          </a:p>
        </p:txBody>
      </p:sp>
      <p:sp>
        <p:nvSpPr>
          <p:cNvPr id="2" name="BJPseudoFooter"/>
          <p:cNvSpPr txBox="1"/>
          <p:nvPr>
            <p:custDataLst>
              <p:tags r:id="rId2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9937155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/>
          <p:cNvSpPr txBox="1">
            <a:spLocks/>
          </p:cNvSpPr>
          <p:nvPr/>
        </p:nvSpPr>
        <p:spPr>
          <a:xfrm>
            <a:off x="1985772" y="992189"/>
            <a:ext cx="5189729" cy="50323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191501" y="1115454"/>
            <a:ext cx="2051046" cy="5420247"/>
            <a:chOff x="5987923" y="990600"/>
            <a:chExt cx="2088526" cy="551929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2711" y="5084615"/>
              <a:ext cx="2083738" cy="142527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7923" y="3678811"/>
              <a:ext cx="2078948" cy="1459059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7923" y="2338832"/>
              <a:ext cx="2088526" cy="1386847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7923" y="990600"/>
              <a:ext cx="2078949" cy="1384596"/>
            </a:xfrm>
            <a:prstGeom prst="rect">
              <a:avLst/>
            </a:prstGeom>
          </p:spPr>
        </p:pic>
      </p:grp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2064942" y="2297072"/>
            <a:ext cx="5923359" cy="377841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40000"/>
                </a:solidFill>
              </a:rPr>
              <a:t>TIPS FOR RECRUITING:</a:t>
            </a:r>
            <a:br>
              <a:rPr lang="en-US" b="1" dirty="0">
                <a:solidFill>
                  <a:srgbClr val="F40000"/>
                </a:solidFill>
              </a:rPr>
            </a:br>
            <a:endParaRPr lang="en-US" b="1" dirty="0">
              <a:solidFill>
                <a:srgbClr val="F40000"/>
              </a:solidFill>
            </a:endParaRPr>
          </a:p>
          <a:p>
            <a:pPr>
              <a:buClrTx/>
              <a:buFont typeface="Wingdings" charset="2"/>
              <a:buChar char="ü"/>
            </a:pPr>
            <a:r>
              <a:rPr lang="en-US" dirty="0"/>
              <a:t>Try to find people as close to the target user groups as possible</a:t>
            </a:r>
            <a:br>
              <a:rPr lang="en-US" dirty="0"/>
            </a:br>
            <a:endParaRPr lang="en-US" dirty="0"/>
          </a:p>
          <a:p>
            <a:pPr>
              <a:buClrTx/>
              <a:buFont typeface="Wingdings" charset="2"/>
              <a:buChar char="ü"/>
            </a:pPr>
            <a:r>
              <a:rPr lang="en-US" dirty="0"/>
              <a:t>Try not to recruit anyone “too close” to the project</a:t>
            </a:r>
            <a:br>
              <a:rPr lang="en-US" dirty="0"/>
            </a:br>
            <a:endParaRPr lang="en-US" dirty="0"/>
          </a:p>
          <a:p>
            <a:pPr>
              <a:buClrTx/>
              <a:buFont typeface="Wingdings" charset="2"/>
              <a:buChar char="ü"/>
            </a:pPr>
            <a:r>
              <a:rPr lang="en-US" dirty="0"/>
              <a:t>Where possible do not recruit business leaders who will “represent” a user group – test the actual user group</a:t>
            </a:r>
            <a:br>
              <a:rPr lang="en-US" dirty="0"/>
            </a:br>
            <a:endParaRPr lang="en-US" dirty="0"/>
          </a:p>
          <a:p>
            <a:pPr>
              <a:buClrTx/>
              <a:buFont typeface="Wingdings" charset="2"/>
              <a:buChar char="ü"/>
            </a:pPr>
            <a:r>
              <a:rPr lang="en-US" dirty="0"/>
              <a:t>Target number of participants should is 5 – 8 people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</a:t>
            </a: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2077642" y="962620"/>
            <a:ext cx="5732858" cy="1231106"/>
          </a:xfrm>
        </p:spPr>
        <p:txBody>
          <a:bodyPr/>
          <a:lstStyle/>
          <a:p>
            <a:r>
              <a:rPr lang="en-US" dirty="0"/>
              <a:t>The UX professional needs to recruit users who are actually using the product and thus can provide real experiential feedback through filling out the SUS. </a:t>
            </a:r>
          </a:p>
        </p:txBody>
      </p:sp>
      <p:sp>
        <p:nvSpPr>
          <p:cNvPr id="3" name="BJPseudoFooter"/>
          <p:cNvSpPr txBox="1"/>
          <p:nvPr>
            <p:custDataLst>
              <p:tags r:id="rId2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4797298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404" y="540347"/>
            <a:ext cx="7286624" cy="430887"/>
          </a:xfrm>
        </p:spPr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SUS Evaluation Process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404" y="962621"/>
            <a:ext cx="8272858" cy="615553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The results are then entered into the SUS Calculation workbook and scores automatically calculated.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390" y="2120828"/>
            <a:ext cx="9893300" cy="3289300"/>
          </a:xfrm>
          <a:prstGeom prst="rect">
            <a:avLst/>
          </a:prstGeom>
        </p:spPr>
      </p:pic>
      <p:sp>
        <p:nvSpPr>
          <p:cNvPr id="5" name="BJPseudoFooter"/>
          <p:cNvSpPr txBox="1"/>
          <p:nvPr>
            <p:custDataLst>
              <p:tags r:id="rId2"/>
            </p:custDataLst>
          </p:nvPr>
        </p:nvSpPr>
        <p:spPr>
          <a:xfrm>
            <a:off x="127000" y="6645245"/>
            <a:ext cx="11938000" cy="2000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700">
                <a:solidFill>
                  <a:srgbClr val="7F7F7F"/>
                </a:solidFill>
                <a:latin typeface="Arial" panose="020B0604020202020204" pitchFamily="34" charset="0"/>
              </a:rPr>
              <a:t>Honeywell Internal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1739941"/>
      </p:ext>
    </p:extLst>
  </p:cSld>
  <p:clrMapOvr>
    <a:masterClrMapping/>
  </p:clrMapOvr>
  <p:transition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Honeywell Internal"/>
</p:tagLst>
</file>

<file path=ppt/theme/theme1.xml><?xml version="1.0" encoding="utf-8"?>
<a:theme xmlns:a="http://schemas.openxmlformats.org/drawingml/2006/main" name="HUE Overview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E93590D-DE32-7E41-83F0-9F0A8EFB44B5}"/>
    </a:ext>
  </a:extLst>
</a:theme>
</file>

<file path=ppt/theme/theme2.xml><?xml version="1.0" encoding="utf-8"?>
<a:theme xmlns:a="http://schemas.openxmlformats.org/drawingml/2006/main" name="Honeywell Single Image Cover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8B3562B-CF69-AB42-A5A2-1E0A29CED889}"/>
    </a:ext>
  </a:extLst>
</a:theme>
</file>

<file path=ppt/theme/theme3.xml><?xml version="1.0" encoding="utf-8"?>
<a:theme xmlns:a="http://schemas.openxmlformats.org/drawingml/2006/main" name="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9622A9A6-0BFA-C441-BD7B-7CE6A044E240}"/>
    </a:ext>
  </a:extLst>
</a:theme>
</file>

<file path=ppt/theme/theme4.xml><?xml version="1.0" encoding="utf-8"?>
<a:theme xmlns:a="http://schemas.openxmlformats.org/drawingml/2006/main" name="1_Honeywell Theme">
  <a:themeElements>
    <a:clrScheme name="Colors - Honeywell's Brand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E1261C"/>
      </a:accent1>
      <a:accent2>
        <a:srgbClr val="FFC627"/>
      </a:accent2>
      <a:accent3>
        <a:srgbClr val="707070"/>
      </a:accent3>
      <a:accent4>
        <a:srgbClr val="F37021"/>
      </a:accent4>
      <a:accent5>
        <a:srgbClr val="1792E5"/>
      </a:accent5>
      <a:accent6>
        <a:srgbClr val="000000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dirty="0" smtClean="0">
            <a:solidFill>
              <a:schemeClr val="accent3"/>
            </a:solidFill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3ED0FC25-E379-3149-BA08-294511981F51}"/>
    </a:ext>
  </a:extLst>
</a:theme>
</file>

<file path=ppt/theme/theme5.xml><?xml version="1.0" encoding="utf-8"?>
<a:theme xmlns:a="http://schemas.openxmlformats.org/drawingml/2006/main" name="1_Honeywell Single Image Cover">
  <a:themeElements>
    <a:clrScheme name="Honeywell Branded Colors">
      <a:dk1>
        <a:srgbClr val="000000"/>
      </a:dk1>
      <a:lt1>
        <a:srgbClr val="FFFFFF"/>
      </a:lt1>
      <a:dk2>
        <a:srgbClr val="E1261C"/>
      </a:dk2>
      <a:lt2>
        <a:srgbClr val="FFFFFF"/>
      </a:lt2>
      <a:accent1>
        <a:srgbClr val="000000"/>
      </a:accent1>
      <a:accent2>
        <a:srgbClr val="707070"/>
      </a:accent2>
      <a:accent3>
        <a:srgbClr val="E1261C"/>
      </a:accent3>
      <a:accent4>
        <a:srgbClr val="F37021"/>
      </a:accent4>
      <a:accent5>
        <a:srgbClr val="FFC627"/>
      </a:accent5>
      <a:accent6>
        <a:srgbClr val="1792E5"/>
      </a:accent6>
      <a:hlink>
        <a:srgbClr val="707070"/>
      </a:hlink>
      <a:folHlink>
        <a:srgbClr val="E1261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rgbClr val="7F7F7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Matrix v3" id="{42F2CE04-14ED-9442-9A49-41AFAF093629}" vid="{8E944E06-72BD-0440-A1D1-44F548CF8B9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EAEF24CE16714DBFF89EBB24D23B04" ma:contentTypeVersion="8" ma:contentTypeDescription="Create a new document." ma:contentTypeScope="" ma:versionID="fa174c6afff32858f53b06cc5e25cc73">
  <xsd:schema xmlns:xsd="http://www.w3.org/2001/XMLSchema" xmlns:xs="http://www.w3.org/2001/XMLSchema" xmlns:p="http://schemas.microsoft.com/office/2006/metadata/properties" xmlns:ns2="4c1981db-d8fb-4ca3-9d14-523ffc40b38c" xmlns:ns3="6ea289bd-17f2-459a-993b-2af49462c21e" targetNamespace="http://schemas.microsoft.com/office/2006/metadata/properties" ma:root="true" ma:fieldsID="bc283a575266b0a8c5b580b2751d02af" ns2:_="" ns3:_="">
    <xsd:import namespace="4c1981db-d8fb-4ca3-9d14-523ffc40b38c"/>
    <xsd:import namespace="6ea289bd-17f2-459a-993b-2af49462c2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981db-d8fb-4ca3-9d14-523ffc40b38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289bd-17f2-459a-993b-2af49462c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isl xmlns:xsi="http://www.w3.org/2001/XMLSchema-instance" xmlns:xsd="http://www.w3.org/2001/XMLSchema" xmlns="http://www.boldonjames.com/2008/01/sie/internal/label" sislVersion="0" policy="bf276872-af07-4968-a71d-1c83e80bd0bf" origin="userSelected">
  <element uid="id_protectivemarking_protect" value=""/>
</sisl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36678B-2134-427E-9B44-D4AD06510795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6ea289bd-17f2-459a-993b-2af49462c21e"/>
    <ds:schemaRef ds:uri="http://purl.org/dc/elements/1.1/"/>
    <ds:schemaRef ds:uri="http://schemas.microsoft.com/office/2006/metadata/properties"/>
    <ds:schemaRef ds:uri="http://schemas.microsoft.com/office/infopath/2007/PartnerControls"/>
    <ds:schemaRef ds:uri="4c1981db-d8fb-4ca3-9d14-523ffc40b38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8EC5DEB-82FC-4820-B14F-8D2D3166AC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1981db-d8fb-4ca3-9d14-523ffc40b38c"/>
    <ds:schemaRef ds:uri="6ea289bd-17f2-459a-993b-2af49462c2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6DBBBB6-F404-40EC-8698-2961B9F4E7A3}">
  <ds:schemaRefs>
    <ds:schemaRef ds:uri="http://www.w3.org/2001/XMLSchema"/>
    <ds:schemaRef ds:uri="http://www.boldonjames.com/2008/01/sie/internal/label"/>
  </ds:schemaRefs>
</ds:datastoreItem>
</file>

<file path=customXml/itemProps4.xml><?xml version="1.0" encoding="utf-8"?>
<ds:datastoreItem xmlns:ds="http://schemas.openxmlformats.org/officeDocument/2006/customXml" ds:itemID="{DD30E917-086E-4BDB-A344-06449A765F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Honeywell Widescreen</Template>
  <TotalTime>497</TotalTime>
  <Words>362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HUE Overview</vt:lpstr>
      <vt:lpstr>Honeywell Single Image Cover</vt:lpstr>
      <vt:lpstr>Honeywell Theme</vt:lpstr>
      <vt:lpstr>1_Honeywell Theme</vt:lpstr>
      <vt:lpstr>1_Honeywell Single Image Cover</vt:lpstr>
      <vt:lpstr>System Usability Scale (SUS)</vt:lpstr>
      <vt:lpstr>SUS Tool</vt:lpstr>
      <vt:lpstr>Overview</vt:lpstr>
      <vt:lpstr>Overview</vt:lpstr>
      <vt:lpstr>SUS in Practice</vt:lpstr>
      <vt:lpstr>Why SUS?</vt:lpstr>
      <vt:lpstr>SUS</vt:lpstr>
      <vt:lpstr>SUS Evaluation Process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Dungey, David</dc:creator>
  <cp:lastModifiedBy>Komischke, Tobias</cp:lastModifiedBy>
  <cp:revision>45</cp:revision>
  <cp:lastPrinted>2015-07-29T21:30:37Z</cp:lastPrinted>
  <dcterms:created xsi:type="dcterms:W3CDTF">2016-03-25T02:45:32Z</dcterms:created>
  <dcterms:modified xsi:type="dcterms:W3CDTF">2018-07-11T18:03:11Z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0x010100DDEAEF24CE16714DBFF89EBB24D23B04</vt:lpwstr>
  </property>
  <property fmtid="{D5CDD505-2E9C-101B-9397-08002B2CF9AE}" pid="3" name="Source">
    <vt:lpwstr>8f9874da50388e0acb1f5bab1b4b753b</vt:lpwstr>
  </property>
  <property fmtid="{D5CDD505-2E9C-101B-9397-08002B2CF9AE}" pid="4" name="docIndexRef">
    <vt:lpwstr>8521584c-fc30-4aa9-8c84-7ec76b30d750</vt:lpwstr>
  </property>
  <property fmtid="{D5CDD505-2E9C-101B-9397-08002B2CF9AE}" pid="5" name="bjSaver">
    <vt:lpwstr>u++bnGCNKydyGdmskR0LkuWUJEa6X8Jm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policy="bf276872-af07-4968-a71d-1c83e80bd0bf" origin="userSelected" xmlns="http://www.boldonj</vt:lpwstr>
  </property>
  <property fmtid="{D5CDD505-2E9C-101B-9397-08002B2CF9AE}" pid="7" name="bjDocumentLabelXML-0">
    <vt:lpwstr>ames.com/2008/01/sie/internal/label"&gt;&lt;element uid="id_protectivemarking_protect" value="" /&gt;&lt;/sisl&gt;</vt:lpwstr>
  </property>
  <property fmtid="{D5CDD505-2E9C-101B-9397-08002B2CF9AE}" pid="8" name="bjDocumentSecurityLabel">
    <vt:lpwstr>Honeywell Internal</vt:lpwstr>
  </property>
  <property fmtid="{D5CDD505-2E9C-101B-9397-08002B2CF9AE}" pid="9" name="BJClassification">
    <vt:lpwstr>Honeywell Internal</vt:lpwstr>
  </property>
</Properties>
</file>