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84" r:id="rId5"/>
    <p:sldId id="258" r:id="rId6"/>
    <p:sldId id="262" r:id="rId7"/>
    <p:sldId id="265" r:id="rId8"/>
    <p:sldId id="269" r:id="rId9"/>
    <p:sldId id="271" r:id="rId10"/>
    <p:sldId id="289" r:id="rId11"/>
    <p:sldId id="28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  <a:srgbClr val="FF37AA"/>
    <a:srgbClr val="FE36A8"/>
    <a:srgbClr val="FF42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07"/>
    <p:restoredTop sz="94676"/>
  </p:normalViewPr>
  <p:slideViewPr>
    <p:cSldViewPr snapToGrid="0" snapToObjects="1">
      <p:cViewPr>
        <p:scale>
          <a:sx n="80" d="100"/>
          <a:sy n="80" d="100"/>
        </p:scale>
        <p:origin x="126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5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89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8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707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21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18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36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7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5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4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3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7DAFC-31AF-2B4A-8BDB-3796FB16FE19}" type="datetimeFigureOut">
              <a:rPr lang="en-US" smtClean="0"/>
              <a:t>7/11/2018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F1746-A057-C34F-8340-6E5C298C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Key Insights (template)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ROSE BUD THORN</a:t>
            </a:r>
          </a:p>
        </p:txBody>
      </p:sp>
    </p:spTree>
    <p:extLst>
      <p:ext uri="{BB962C8B-B14F-4D97-AF65-F5344CB8AC3E}">
        <p14:creationId xmlns:p14="http://schemas.microsoft.com/office/powerpoint/2010/main" val="155534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SME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8695" y="3790950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54123" y="3789364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91952" y="3789364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8695" y="5060241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9229" y="3789364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229" y="505706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8695" y="1357313"/>
            <a:ext cx="1064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responsibilities</a:t>
            </a:r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9691907" y="3789364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65796" y="3789364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54123" y="5057069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91952" y="5057069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691907" y="5057069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465796" y="5057069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086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OVOC Participant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8695" y="3686020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EACH SBG HAS ITS OWN CUSTOMIZATION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79588" y="2449990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W" sz="1200" dirty="0">
                <a:solidFill>
                  <a:schemeClr val="tx1"/>
                </a:solidFill>
              </a:rPr>
              <a:t>GLOBALLY CENTRALISED ORDERING, REPOSITORY, CHARGE NUMBER, BILLING, BULK ORDER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17372" y="2449990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NEW TOOL PMG WITH BETTER UI WILL BE ROLLED OUT BY END OF THIS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988695" y="4955311"/>
            <a:ext cx="1554480" cy="168533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ACT IT UI IS VERY DIFFICULT TO USE, USERS ODN’T GET STATUS UPDATES, SOMETIME L1 HELPDESK NEEDS HELP IN RESOLVING PROBLEMS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054" y="3684434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INTAKE FORMS ARE NOT INTUITIVE, &amp; INSTRUCTIONS ARE NOT CLEAR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9229" y="495213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TOO MANY HELPDESKS, USERS DON’T KNOW WHERE TO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326" y="1690688"/>
            <a:ext cx="10641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Responsible for: Overall ordering including automatic replacement, new hire logistics and service catalog including SBG specific catalogs</a:t>
            </a:r>
          </a:p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429054" y="2449990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sz="1200" dirty="0">
                <a:solidFill>
                  <a:schemeClr val="tx1"/>
                </a:solidFill>
              </a:rPr>
              <a:t>ORDERING FOR LYNC HEAD SET IS A PAIN AS IT TAKES WEEKS TO PROCURE.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9588" y="3717694"/>
            <a:ext cx="1554480" cy="168850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W" sz="1200" dirty="0">
                <a:solidFill>
                  <a:schemeClr val="tx1"/>
                </a:solidFill>
              </a:rPr>
              <a:t>AUTO APPROVAL OF $3000 AND LESS, BYPASS EBP, INTUITIVE DEFAULT FORMS, GLOBAL PO FOR STANDARD TYPE OF PURCHASES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730122" y="5508121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INTEGRATION OF FLEXERA &amp; PMG FOR BETTER CONTROL IN SW ORDERING &amp;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17372" y="3717695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CENTRALIZED ORDERING OF STANDARD CONFIGURATION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3764" y="3684434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ASKING FOR QUOTATION FOR NON STANDARD SOFTWARE TAKES LOT OF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9054" y="4952138"/>
            <a:ext cx="1554480" cy="1493633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THERE ARE NO STANDARD DEVICES, NO MATRIX, MULTIPLE CUSTOMIZATION, DIFFERENT FORMS, NO STANDARD INPUT SYSTEM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13764" y="244072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GET IT HAS TOO MANY ICONS WITH UNINTUITIVE TERMINOLOGY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8695" y="2449990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ZW" sz="1200" dirty="0">
                <a:solidFill>
                  <a:schemeClr val="tx1"/>
                </a:solidFill>
              </a:rPr>
              <a:t>USERS ARE NOT AWARE OF SERVICE OWNERS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966838" y="2440729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sz="1200" dirty="0">
                <a:solidFill>
                  <a:schemeClr val="tx1"/>
                </a:solidFill>
              </a:rPr>
              <a:t>REQUEST FOR LYNC ACCOUNT THROUGH REMEDY WORKS WELL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9588" y="5518400"/>
            <a:ext cx="1554480" cy="11222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W" sz="1200" dirty="0">
                <a:solidFill>
                  <a:schemeClr val="tx1"/>
                </a:solidFill>
              </a:rPr>
              <a:t>CENTRALIZATION &amp; STANDARDIZATION ACROSS REGIONS AND SBG, LICENSE SHARING BETWEEN SBGS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7517" y="0"/>
            <a:ext cx="398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>
                <a:solidFill>
                  <a:srgbClr val="0070C0"/>
                </a:solidFill>
              </a:rPr>
              <a:t>Task Group Name: </a:t>
            </a:r>
            <a:r>
              <a:rPr lang="en-US" dirty="0">
                <a:solidFill>
                  <a:srgbClr val="0070C0"/>
                </a:solidFill>
              </a:rPr>
              <a:t>(example) ORDERING</a:t>
            </a:r>
          </a:p>
        </p:txBody>
      </p:sp>
    </p:spTree>
    <p:extLst>
      <p:ext uri="{BB962C8B-B14F-4D97-AF65-F5344CB8AC3E}">
        <p14:creationId xmlns:p14="http://schemas.microsoft.com/office/powerpoint/2010/main" val="1982441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OVOC Participant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8695" y="3790950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PEOPLE ARE NOT AWARE OF THE PROCESS TO RAISE NON STD REQUEST &amp;, NEED HELP TO RAISE THE REQUEST 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7696" y="2426150"/>
            <a:ext cx="1554480" cy="15550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BECOME PAPER LIGHT WITH ALL WORKFLOW. DECISION MAKING SHOULD BE DONE THROUGH COLLABORATIVE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75545" y="2426150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 PROFILE DEFINITION AND MAPPING WITH HARDWARE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88695" y="5060241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THE WHOLE PROCESS TAKES A LONG TIME(3-15 DAYS) 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9229" y="3789364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PROVIDING COST AND JUSTIFICATION IS A TROUBLESOME PROCESS 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9229" y="505706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PROFILES ARE NOT MAPPED CORRECTLY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8695" y="1357313"/>
            <a:ext cx="1064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W" dirty="0"/>
              <a:t>Responsible for: all the </a:t>
            </a:r>
            <a:r>
              <a:rPr lang="en-US" dirty="0"/>
              <a:t>HW devices to be provided Honeywell employees based on IT profiles. Supports new hires, refresh and configuring devices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39369" y="2426150"/>
            <a:ext cx="1554480" cy="20203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NEW HIRES SHOULD BE PAID TO BUY AND BRING BYOD. NO NEED TO DICTATE DEVICES/ MANAGE CONFIGURATION OR ORDER. WILL ONLY NEED TO MANAGE BACKEND PLATFORMS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7696" y="4107304"/>
            <a:ext cx="1554480" cy="1986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SYSTEM KNOWS MY NEEDS I WILL NOT NEED TO BROWSE THROUGH SERVICE CATALOGS. ALSO THE TOOL SHOULD HELP TRACK. I SHOULD NOT TRACK. PROCESS WORKFLOW IS OPTIMIZED SND INTUITVE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39369" y="4581422"/>
            <a:ext cx="1554480" cy="15126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ONCE IN OFFICE, USERS CAN LOGIN TO VIRTUAL DESKTOPS WITH HIGHEST CONFIGURATION WITH ALL THE APPLICATION.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8695" y="252165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DUE TO LIMITED BANDWIDTH DEPLOYMENT TAKES A LONG TIME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639229" y="252165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SOMETIMES SCCM CANNOT DEPLOY SOFTWARE. THEN MANUAL EFFORT IS NEEDED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8012" y="251953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INFRASTRUCTURE REQUESTS TAKES TOO MUCH TIME. IT’S EASIER TO TALK TO SOMEONE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4039" y="0"/>
            <a:ext cx="3100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70C0"/>
                </a:solidFill>
              </a:rPr>
              <a:t> ORDERING &amp; CONFIGURATION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125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OVOC Participant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88695" y="3790950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sz="1200" dirty="0">
                <a:solidFill>
                  <a:schemeClr val="tx1"/>
                </a:solidFill>
              </a:rPr>
              <a:t>IT STAFFS NEEDS TO TALK TO 54 DIFFERENT CARRIERS BASED ON THE LOCATION AND SBG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91541" y="2556785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TEAM IS ABLE TO HANDLE MORE DEVICE SUPPORT WITHOUT CENSUS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988695" y="5060241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TOO MANY ICONS IN GET IT IS VERY CONFUSING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9229" y="3789364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20K TICKETS WERE RAISED ON HOW TO CONFIGURE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9229" y="505706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TOO MANY TEAMS INVOLVED-VPN, PKI, WIPRO ETC.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8695" y="1357313"/>
            <a:ext cx="1064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Responsible for: </a:t>
            </a:r>
            <a:r>
              <a:rPr lang="en-ZW" dirty="0"/>
              <a:t>Wireless device ordering (phone / smart phone / tablet / pager / calling card/ data card request</a:t>
            </a:r>
            <a:endParaRPr lang="en-US" dirty="0"/>
          </a:p>
          <a:p>
            <a:pPr lvl="0"/>
            <a:r>
              <a:rPr lang="en-ZW" dirty="0"/>
              <a:t>Porting lines from carrier to carrier, Executive care</a:t>
            </a:r>
            <a:r>
              <a:rPr lang="en-US" dirty="0"/>
              <a:t>, </a:t>
            </a:r>
            <a:r>
              <a:rPr lang="en-ZW" dirty="0"/>
              <a:t>Video/audio conferencing</a:t>
            </a:r>
            <a:r>
              <a:rPr lang="en-US" dirty="0"/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1907" y="3789364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SOLUTION CENTER IN MORRIS PLAINS IS VERY EFFICIENT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4685" y="3272831"/>
            <a:ext cx="1554480" cy="16490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W" sz="1200" dirty="0">
                <a:solidFill>
                  <a:schemeClr val="tx1"/>
                </a:solidFill>
              </a:rPr>
              <a:t>ENTERPRISE MOBILITY WILL DO TELECOM PLANNING, DEVICE RECYCLING, PRE-CONFIGURATION OF EMAIL CONTACTS AND CALENDAR FOR END USERS.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91541" y="5057069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DATA CARD, AIR CARD, CALLING CARDS ARE EASIER TO ORDER MANAGE AND CONFIGURE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4685" y="5057069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sz="1200" dirty="0">
                <a:solidFill>
                  <a:schemeClr val="tx1"/>
                </a:solidFill>
              </a:rPr>
              <a:t>NUMBER OF CARRIERS SHOULD BE JUST 4 CARRIERS ACROSS REGIONS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8695" y="2544942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sz="1200" dirty="0">
                <a:solidFill>
                  <a:schemeClr val="tx1"/>
                </a:solidFill>
              </a:rPr>
              <a:t>SETUP OF SMART PHONES AND TABLETS IS STILL COMPLEX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639229" y="252165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20K TICKETS WERE RAISED ON HOW TO CONFIGURE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5219" y="4631961"/>
            <a:ext cx="1554480" cy="15576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THERE SHOULD ONE MOBILE FIRST TOOL FOR SALES. SERVICE, TRAVELLING, ALERTS. SYSTEM SHOULD AUTOMATICALLY DETECT AND FIX PROBLEMS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10567" y="5056706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DRIVERS FOR DEVICES ACROSS LOCATIONS ARE NOT AUTO INSTALLED CREATING ISSUES FOR VISITNG 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3233" y="45276"/>
            <a:ext cx="197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70C0"/>
                </a:solidFill>
              </a:rPr>
              <a:t>PHONE ORDERING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593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AFFINITY CLUSTERING (example)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9929" y="1350226"/>
            <a:ext cx="2522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70C0"/>
                </a:solidFill>
              </a:rPr>
              <a:t> MAINTAIN &amp; SUPPORT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1379095"/>
            <a:ext cx="2519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LIFE 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0431" y="1350226"/>
            <a:ext cx="194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 ORDER &amp; DELIVER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14486" y="1350226"/>
            <a:ext cx="193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CONFIGURE &amp; 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37504" y="1926254"/>
            <a:ext cx="2293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adley Hand" charset="0"/>
                <a:ea typeface="Bradley Hand" charset="0"/>
                <a:cs typeface="Bradley Hand" charset="0"/>
              </a:rPr>
              <a:t>INFORMATION ON TOOLS AND THEIR PURPOSE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2084" y="4326912"/>
            <a:ext cx="2293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adley Hand" charset="0"/>
                <a:ea typeface="Bradley Hand" charset="0"/>
                <a:cs typeface="Bradley Hand" charset="0"/>
              </a:rPr>
              <a:t>MULTI PARTY INVOLVEMENT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2085" y="1923416"/>
            <a:ext cx="2293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adley Hand" charset="0"/>
                <a:ea typeface="Bradley Hand" charset="0"/>
                <a:cs typeface="Bradley Hand" charset="0"/>
              </a:rPr>
              <a:t>USER FRIENDLINESS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5580" y="1894546"/>
            <a:ext cx="2728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radley Hand" charset="0"/>
                <a:ea typeface="Bradley Hand" charset="0"/>
                <a:cs typeface="Bradley Hand" charset="0"/>
              </a:rPr>
              <a:t>END-TO END ACCOUNTABILITY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7504" y="4326912"/>
            <a:ext cx="1995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Bradley Hand" charset="0"/>
                <a:ea typeface="Bradley Hand" charset="0"/>
                <a:cs typeface="Bradley Hand" charset="0"/>
              </a:rPr>
              <a:t>HR POLICIES</a:t>
            </a:r>
            <a:endParaRPr lang="en-US" dirty="0">
              <a:latin typeface="Bradley Hand" charset="0"/>
              <a:ea typeface="Bradley Hand" charset="0"/>
              <a:cs typeface="Bradley Hand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67484" y="2852055"/>
            <a:ext cx="2092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Information on IT services, tools, contacts, metrics, knowledge 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2084" y="2813066"/>
            <a:ext cx="2092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touchpoints including the tools, documents, emails and IVRs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6095" y="2795131"/>
            <a:ext cx="20929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Performance, communication, accurate problem solving, relevant and correct information availability,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37504" y="4696244"/>
            <a:ext cx="2092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Regional and business specific policies for employees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2084" y="4973243"/>
            <a:ext cx="20929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Collaboration between business, other support functions, suppliers and vendors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12290" y="1365550"/>
            <a:ext cx="193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FIND &amp; LEARN</a:t>
            </a:r>
          </a:p>
        </p:txBody>
      </p:sp>
    </p:spTree>
    <p:extLst>
      <p:ext uri="{BB962C8B-B14F-4D97-AF65-F5344CB8AC3E}">
        <p14:creationId xmlns:p14="http://schemas.microsoft.com/office/powerpoint/2010/main" val="1604283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84" y="3751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ea typeface="Bradley Hand" charset="0"/>
                <a:cs typeface="Bradley Hand" charset="0"/>
              </a:rPr>
              <a:t>INFORMATION ON TOOLS AND THEIR 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4354" y="1068258"/>
            <a:ext cx="2522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0070C0"/>
                </a:solidFill>
              </a:rPr>
              <a:t> MAINTAIN &amp; SUPPORT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03410" y="1068258"/>
            <a:ext cx="194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 ORDER &amp; DELIVER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0106" y="1107248"/>
            <a:ext cx="193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CONFIGURE &amp;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3002" y="492548"/>
            <a:ext cx="3369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Information on IT services, tools, contacts, metrics, knowledge base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972" y="1107248"/>
            <a:ext cx="193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FIND &amp; LEARN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7427" y="2830028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TOO MANY HELPDESKS, USERS DON’T KNOW WHERE TO CONTACT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27" y="1530292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ZW" sz="1200" dirty="0">
                <a:solidFill>
                  <a:schemeClr val="tx1"/>
                </a:solidFill>
              </a:rPr>
              <a:t>USERS ARE NOT AWARE OF SERVICE OWNERS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70106" y="1524093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PEOPLE ARE NOT AWARE OF THE PROCESS TO RAISE NON STD REQUEST &amp;, NEED HELP TO RAISE THE REQUEST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427" y="4073013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USERS DON’T KNOW ABOUT GETIT. BY ASKING AROUND THEY HEAR ABOUT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1526" y="1509330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USERS ARE NOT SURE WHEN THEY ARE ENTITLED TO A REFRESH OF THE PHONE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7427" y="5322928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PEOPLE DON’T KNOW HOW TO FIND INFO ABOUT THE ACCESS MANAGEMENT PORTAL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70106" y="2774796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INCOMPLETE/INACCURATE INFORMATION</a:t>
            </a:r>
            <a:r>
              <a:rPr lang="en-US" sz="1200" dirty="0">
                <a:solidFill>
                  <a:schemeClr val="tx1"/>
                </a:solidFill>
                <a:effectLst/>
              </a:rPr>
              <a:t> FROM END USERS WHILE REQUESTING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70106" y="4037491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INFORMATION ON HOW TO REQUEST FOR A ACCESS TO BLOCKED SITE WAS NOT EASILY AVIALBLE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18088" y="1530292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STANDARDIZE COMMUNICATION TO IT HELPDESK THROUGH DIFFERENT CHANNELS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6504" y="1514656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W" sz="1200" dirty="0">
                <a:solidFill>
                  <a:schemeClr val="tx1"/>
                </a:solidFill>
              </a:rPr>
              <a:t>FAQS FOR IT INFORMATION, NEW SERVICES </a:t>
            </a:r>
            <a:r>
              <a:rPr lang="en-US" sz="1200" dirty="0">
                <a:solidFill>
                  <a:schemeClr val="tx1"/>
                </a:solidFill>
              </a:rPr>
              <a:t>SHOULD BE AVAILABLE AT ONE CENTRAL PLACE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18088" y="2798940"/>
            <a:ext cx="1554480" cy="1123377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W" sz="1200" dirty="0">
                <a:solidFill>
                  <a:schemeClr val="tx1"/>
                </a:solidFill>
              </a:rPr>
              <a:t>AS A LEADER NEED DATA FROM IT BUT CURRENTLY THERE IS NO WAY TO </a:t>
            </a:r>
            <a:r>
              <a:rPr lang="en-US" sz="1200" dirty="0">
                <a:solidFill>
                  <a:schemeClr val="tx1"/>
                </a:solidFill>
              </a:rPr>
              <a:t>EASILY RETRIEVE 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76810" y="2830028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TECHNICAL DOCUMENTATIONS FOR REFERENCES &amp; NEW SERVICES ARE MISSING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18088" y="4037491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 STAFFS NEED TO COMMUNICATE WITH USERS MULTIPLE TIME JUST TO UNDERSTAND THE PROBLEM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76810" y="4073013"/>
            <a:ext cx="1554480" cy="1441180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PEOPLE DON’T KNOW HOW TO COME TO REMEDY. SEARCH DOES NOT SHOW REMEDY IN THE INTRANET SEARCH RESULTS</a:t>
            </a:r>
          </a:p>
        </p:txBody>
      </p:sp>
    </p:spTree>
    <p:extLst>
      <p:ext uri="{BB962C8B-B14F-4D97-AF65-F5344CB8AC3E}">
        <p14:creationId xmlns:p14="http://schemas.microsoft.com/office/powerpoint/2010/main" val="1143534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21" y="-23133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ea typeface="Bradley Hand" charset="0"/>
                <a:cs typeface="Bradley Hand" charset="0"/>
              </a:rPr>
              <a:t>END-TO END ACCOUNTABILITY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631" y="907438"/>
            <a:ext cx="1931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CONFIGURE &amp; 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6564" y="385570"/>
            <a:ext cx="5678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Performance, communication, accurate problem solving, relevant and correct information availability,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74913" y="1276770"/>
            <a:ext cx="1554480" cy="15550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BECOME PAPER LIGHT WITH ALL WORKFLOW. DECISION MAKING SHOULD BE DONE THROUGH COLLABORATIVE TOOLS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776" y="1288331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THE WHOLE PROCESS OF ORDERING NON STD TAKES A LONG TIME(3-15 DAYS)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7776" y="3773353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PROFILES ARE NOT MAPPED CORRECTLY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12853" y="1278844"/>
            <a:ext cx="1554480" cy="202036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NEW HIRES SHOULD BE PAID TO BUY AND BRING BYOD. NO NEED TO DICTATE DEVICES/ MANAGE CONFIGURATION OR ORDER. WILL ONLY NEED TO MANAGE BACKEND PLATFORMS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74913" y="2905005"/>
            <a:ext cx="1554480" cy="1986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SYSTEM KNOWS MY NEEDS I WILL NOT NEED TO BROWSE THROUGH SERVICE CATALOGS. ALSO THE TOOL SHOULD HELP TRACK. I SHOULD NOT TRACK. PROCESS WORKFLOW IS OPTIMIZED SND INTUITVE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12853" y="3353336"/>
            <a:ext cx="1554480" cy="151266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ONCE IN OFFICE, USERS CAN LOGIN TO VIRTUAL DESKTOPS WITH HIGHEST CONFIGURATION WITH ALL THE APPLICATION. 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7776" y="5015864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DUE TO LIMITED BANDWIDTH DEPLOYMENT TAKES A LONG TIME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912853" y="5015864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SOMETIMES SCCM CANNOT DEPLOY SOFTWARE. THEN MANUAL EFFORT IS NEEDED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7776" y="2530842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INFRASTRUCTURE REQUESTS TAKES TOO MUCH TIME. IT’S EASIER TO TALK TO SOMEONE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19990" y="3229595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ACCESS REQUEST HANDLING PROCESS HAS BEEN PERFECTED OVER 12 YEARS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9990" y="1288331"/>
            <a:ext cx="1554480" cy="19260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ITIM WILL BE REPLACED WITH NETIQ MANAGER FOR BETTER INTEGRATION WITH IT INFRASTRUCTURE &amp; DATABASES AS WELL AS SELF SERVICE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49801" y="1277354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GET RID OF LEGACY ISSUES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49801" y="2462228"/>
            <a:ext cx="1554480" cy="767367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BUNDLING OF SERVICE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82050" y="1276770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TICKETS ARE ASSIGNED TO WRONG GROUP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82050" y="2436069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PROVISION OF DATABASE OR WEB HOSTING IS A PAIN FOR END USERS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82050" y="4813861"/>
            <a:ext cx="1554480" cy="581620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INTAKE FORM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49801" y="3327868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REMEDY INCIDENT AND CHANGE MANAGEMENT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11409" y="5582125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ITIM AS A TOOL IS GOOD FOR PLACING REQUESTS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82050" y="3624965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CHANGE REQUESTS ARE NOT CLEAR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11861" y="1288331"/>
            <a:ext cx="1554480" cy="1650641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BUSINESS OWNS SOFTWARE BUT THEY DON</a:t>
            </a:r>
            <a:r>
              <a:rPr lang="uk-UA" sz="1200" dirty="0">
                <a:solidFill>
                  <a:schemeClr val="tx1"/>
                </a:solidFill>
              </a:rPr>
              <a:t>’</a:t>
            </a:r>
            <a:r>
              <a:rPr lang="en-US" sz="1200" dirty="0">
                <a:solidFill>
                  <a:schemeClr val="tx1"/>
                </a:solidFill>
              </a:rPr>
              <a:t>T UPDATE ENROLLMENT DETAILS FOR INVENTORY MANAGEMENT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11409" y="4389675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AD HOC REPORT GENERATION WILL BE OPTIMIZED FROM 3-4 WEEKS TO 1-2 HOURS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334634" y="5395481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MANY TITLES NEEDS TO BE MANUALLY TRACKED  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11861" y="4205268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DATA INTEGRITY IS NOT GOOD AS GLOBAL PROCESS 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82050" y="5582125"/>
            <a:ext cx="1554480" cy="1132522"/>
          </a:xfrm>
          <a:prstGeom prst="rect">
            <a:avLst/>
          </a:prstGeom>
          <a:solidFill>
            <a:srgbClr val="9DC3E6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WITH NEW TOOL NEW ORDERS WILL BE TRACKED BUT OLD SOFTWARE WILL BE TRACKED MANUALLY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57930" y="5033458"/>
            <a:ext cx="1554480" cy="113252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</a:rPr>
              <a:t>ACT IT IS GETTING REPLACED WITH FLEXERA FOR </a:t>
            </a:r>
            <a:r>
              <a:rPr lang="en-ZW" sz="1200" dirty="0">
                <a:solidFill>
                  <a:schemeClr val="tx1"/>
                </a:solidFill>
              </a:rPr>
              <a:t>SOFTWARE LICENSING OPTIMIZATION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334495" y="2990869"/>
            <a:ext cx="1554480" cy="1132522"/>
          </a:xfrm>
          <a:prstGeom prst="rect">
            <a:avLst/>
          </a:prstGeom>
          <a:solidFill>
            <a:srgbClr val="FF37A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MANAGES UPTO 10 AUDITS IN A YEAR ON 550 TITLES ON </a:t>
            </a:r>
            <a:r>
              <a:rPr lang="en-ZW" sz="1200" dirty="0">
                <a:solidFill>
                  <a:schemeClr val="tx1"/>
                </a:solidFill>
              </a:rPr>
              <a:t>140,000 DESKTOPS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8649801" y="4557538"/>
            <a:ext cx="1554480" cy="15426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SCCM AND ADDM WILL WORK WITH FLEXERA TO DISCOVER SOFTWARE INVENTORY IN DESKTOPS AND SERVERS</a:t>
            </a:r>
          </a:p>
        </p:txBody>
      </p:sp>
    </p:spTree>
    <p:extLst>
      <p:ext uri="{BB962C8B-B14F-4D97-AF65-F5344CB8AC3E}">
        <p14:creationId xmlns:p14="http://schemas.microsoft.com/office/powerpoint/2010/main" val="76503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EAEF24CE16714DBFF89EBB24D23B04" ma:contentTypeVersion="8" ma:contentTypeDescription="Create a new document." ma:contentTypeScope="" ma:versionID="fa174c6afff32858f53b06cc5e25cc73">
  <xsd:schema xmlns:xsd="http://www.w3.org/2001/XMLSchema" xmlns:xs="http://www.w3.org/2001/XMLSchema" xmlns:p="http://schemas.microsoft.com/office/2006/metadata/properties" xmlns:ns2="4c1981db-d8fb-4ca3-9d14-523ffc40b38c" xmlns:ns3="6ea289bd-17f2-459a-993b-2af49462c21e" targetNamespace="http://schemas.microsoft.com/office/2006/metadata/properties" ma:root="true" ma:fieldsID="bc283a575266b0a8c5b580b2751d02af" ns2:_="" ns3:_="">
    <xsd:import namespace="4c1981db-d8fb-4ca3-9d14-523ffc40b38c"/>
    <xsd:import namespace="6ea289bd-17f2-459a-993b-2af49462c21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981db-d8fb-4ca3-9d14-523ffc40b38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289bd-17f2-459a-993b-2af49462c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844B77-8612-4041-8704-932FD55B98B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B3BD73D-253E-40FB-816A-3F72542FD2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B667B9-C311-491F-87BE-36F205FAB4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1981db-d8fb-4ca3-9d14-523ffc40b38c"/>
    <ds:schemaRef ds:uri="6ea289bd-17f2-459a-993b-2af49462c2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2488</TotalTime>
  <Words>1295</Words>
  <Application>Microsoft Office PowerPoint</Application>
  <PresentationFormat>Widescreen</PresentationFormat>
  <Paragraphs>123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Key Insights (template)</vt:lpstr>
      <vt:lpstr>SME Name</vt:lpstr>
      <vt:lpstr>OVOC Participant Name</vt:lpstr>
      <vt:lpstr>OVOC Participant Name</vt:lpstr>
      <vt:lpstr>OVOC Participant Name</vt:lpstr>
      <vt:lpstr>AFFINITY CLUSTERING (example)</vt:lpstr>
      <vt:lpstr>INFORMATION ON TOOLS AND THEIR PURPOSE</vt:lpstr>
      <vt:lpstr>END-TO END ACCOUNTABILITY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 VOC Insights</dc:title>
  <dc:creator>Gupta, Madhumita</dc:creator>
  <cp:lastModifiedBy>Microsoft Office User</cp:lastModifiedBy>
  <cp:revision>171</cp:revision>
  <dcterms:created xsi:type="dcterms:W3CDTF">2016-05-29T16:58:55Z</dcterms:created>
  <dcterms:modified xsi:type="dcterms:W3CDTF">2018-07-11T17:45:56Z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0x010100DDEAEF24CE16714DBFF89EBB24D23B04</vt:lpwstr>
  </property>
</Properties>
</file>