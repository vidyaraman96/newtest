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93482" r:id="rId4"/>
    <p:sldMasterId id="2147493480" r:id="rId5"/>
    <p:sldMasterId id="2147493455" r:id="rId6"/>
    <p:sldMasterId id="2147493521" r:id="rId7"/>
    <p:sldMasterId id="2147493600" r:id="rId8"/>
  </p:sldMasterIdLst>
  <p:notesMasterIdLst>
    <p:notesMasterId r:id="rId26"/>
  </p:notesMasterIdLst>
  <p:handoutMasterIdLst>
    <p:handoutMasterId r:id="rId27"/>
  </p:handoutMasterIdLst>
  <p:sldIdLst>
    <p:sldId id="507" r:id="rId9"/>
    <p:sldId id="589" r:id="rId10"/>
    <p:sldId id="590" r:id="rId11"/>
    <p:sldId id="591" r:id="rId12"/>
    <p:sldId id="592" r:id="rId13"/>
    <p:sldId id="593" r:id="rId14"/>
    <p:sldId id="594" r:id="rId15"/>
    <p:sldId id="595" r:id="rId16"/>
    <p:sldId id="596" r:id="rId17"/>
    <p:sldId id="597" r:id="rId18"/>
    <p:sldId id="598" r:id="rId19"/>
    <p:sldId id="600" r:id="rId20"/>
    <p:sldId id="601" r:id="rId21"/>
    <p:sldId id="602" r:id="rId22"/>
    <p:sldId id="603" r:id="rId23"/>
    <p:sldId id="604" r:id="rId24"/>
    <p:sldId id="587" r:id="rId25"/>
  </p:sldIdLst>
  <p:sldSz cx="12192000" cy="6858000"/>
  <p:notesSz cx="7023100" cy="93091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3172">
          <p15:clr>
            <a:srgbClr val="A4A3A4"/>
          </p15:clr>
        </p15:guide>
        <p15:guide id="2" pos="3840">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ngey, David" initials="DD" lastIdx="2" clrIdx="0">
    <p:extLst/>
  </p:cmAuthor>
  <p:cmAuthor id="2" name="Dungey, David" initials="DD [2]"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7F7F7F"/>
    <a:srgbClr val="A7D971"/>
    <a:srgbClr val="595959"/>
    <a:srgbClr val="E71D1D"/>
    <a:srgbClr val="EB2819"/>
    <a:srgbClr val="E42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344D84-9AFB-497E-A393-DC336BA19D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8"/>
    <p:restoredTop sz="93855"/>
  </p:normalViewPr>
  <p:slideViewPr>
    <p:cSldViewPr snapToGrid="0">
      <p:cViewPr varScale="1">
        <p:scale>
          <a:sx n="97" d="100"/>
          <a:sy n="97" d="100"/>
        </p:scale>
        <p:origin x="1698" y="96"/>
      </p:cViewPr>
      <p:guideLst>
        <p:guide orient="horz" pos="3172"/>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0" d="100"/>
          <a:sy n="50" d="100"/>
        </p:scale>
        <p:origin x="-2784" y="-108"/>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3324" tIns="46662" rIns="93324" bIns="46662" rtlCol="0"/>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3" name="Date Placeholder 2"/>
          <p:cNvSpPr>
            <a:spLocks noGrp="1"/>
          </p:cNvSpPr>
          <p:nvPr>
            <p:ph type="dt" sz="quarter" idx="1"/>
          </p:nvPr>
        </p:nvSpPr>
        <p:spPr>
          <a:xfrm>
            <a:off x="3978275" y="0"/>
            <a:ext cx="3043238" cy="465138"/>
          </a:xfrm>
          <a:prstGeom prst="rect">
            <a:avLst/>
          </a:prstGeom>
        </p:spPr>
        <p:txBody>
          <a:bodyPr vert="horz" wrap="square" lIns="93324" tIns="46662" rIns="93324" bIns="46662" numCol="1" anchor="t" anchorCtr="0" compatLnSpc="1">
            <a:prstTxWarp prst="textNoShape">
              <a:avLst/>
            </a:prstTxWarp>
          </a:bodyPr>
          <a:lstStyle>
            <a:lvl1pPr algn="r">
              <a:defRPr sz="1200"/>
            </a:lvl1pPr>
          </a:lstStyle>
          <a:p>
            <a:fld id="{C9EB080D-8358-9C4A-BF6C-85EBED410712}" type="datetimeFigureOut">
              <a:rPr lang="en-US" altLang="en-US"/>
              <a:pPr/>
              <a:t>7/11/2018</a:t>
            </a:fld>
            <a:endParaRPr lang="en-US" altLang="en-US"/>
          </a:p>
        </p:txBody>
      </p:sp>
      <p:sp>
        <p:nvSpPr>
          <p:cNvPr id="4" name="Footer Placeholder 3"/>
          <p:cNvSpPr>
            <a:spLocks noGrp="1"/>
          </p:cNvSpPr>
          <p:nvPr>
            <p:ph type="ftr" sz="quarter" idx="2"/>
          </p:nvPr>
        </p:nvSpPr>
        <p:spPr>
          <a:xfrm>
            <a:off x="0" y="8842375"/>
            <a:ext cx="3043238" cy="465138"/>
          </a:xfrm>
          <a:prstGeom prst="rect">
            <a:avLst/>
          </a:prstGeom>
        </p:spPr>
        <p:txBody>
          <a:bodyPr vert="horz" lIns="93324" tIns="46662" rIns="93324" bIns="46662" rtlCol="0" anchor="b"/>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vl1pPr>
          </a:lstStyle>
          <a:p>
            <a:fld id="{E5CF15CF-47E5-6A48-B866-FAA1ADE5BE97}" type="slidenum">
              <a:rPr lang="en-US" altLang="en-US"/>
              <a:pPr/>
              <a:t>‹#›</a:t>
            </a:fld>
            <a:endParaRPr lang="en-US" altLang="en-US"/>
          </a:p>
        </p:txBody>
      </p:sp>
    </p:spTree>
    <p:extLst>
      <p:ext uri="{BB962C8B-B14F-4D97-AF65-F5344CB8AC3E}">
        <p14:creationId xmlns:p14="http://schemas.microsoft.com/office/powerpoint/2010/main" val="14172978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3324" tIns="46662" rIns="93324" bIns="46662" rtlCol="0"/>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3" name="Date Placeholder 2"/>
          <p:cNvSpPr>
            <a:spLocks noGrp="1"/>
          </p:cNvSpPr>
          <p:nvPr>
            <p:ph type="dt" idx="1"/>
          </p:nvPr>
        </p:nvSpPr>
        <p:spPr>
          <a:xfrm>
            <a:off x="3978275" y="0"/>
            <a:ext cx="3043238" cy="465138"/>
          </a:xfrm>
          <a:prstGeom prst="rect">
            <a:avLst/>
          </a:prstGeom>
        </p:spPr>
        <p:txBody>
          <a:bodyPr vert="horz" wrap="square" lIns="93324" tIns="46662" rIns="93324" bIns="46662" numCol="1" anchor="t" anchorCtr="0" compatLnSpc="1">
            <a:prstTxWarp prst="textNoShape">
              <a:avLst/>
            </a:prstTxWarp>
          </a:bodyPr>
          <a:lstStyle>
            <a:lvl1pPr algn="r">
              <a:defRPr sz="1200"/>
            </a:lvl1pPr>
          </a:lstStyle>
          <a:p>
            <a:fld id="{A45F9174-45C6-974E-B1D1-976677190D1F}" type="datetimeFigureOut">
              <a:rPr lang="en-US" altLang="en-US"/>
              <a:pPr/>
              <a:t>7/11/2018</a:t>
            </a:fld>
            <a:endParaRPr lang="en-US" altLang="en-US"/>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pPr lvl="0"/>
            <a:endParaRPr lang="en-US" noProof="0" dirty="0"/>
          </a:p>
        </p:txBody>
      </p:sp>
      <p:sp>
        <p:nvSpPr>
          <p:cNvPr id="5" name="Notes Placeholder 4"/>
          <p:cNvSpPr>
            <a:spLocks noGrp="1"/>
          </p:cNvSpPr>
          <p:nvPr>
            <p:ph type="body" sz="quarter" idx="3"/>
          </p:nvPr>
        </p:nvSpPr>
        <p:spPr>
          <a:xfrm>
            <a:off x="701675" y="4421188"/>
            <a:ext cx="5619750" cy="4189412"/>
          </a:xfrm>
          <a:prstGeom prst="rect">
            <a:avLst/>
          </a:prstGeom>
        </p:spPr>
        <p:txBody>
          <a:bodyPr vert="horz" lIns="93324" tIns="46662" rIns="93324" bIns="46662"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842375"/>
            <a:ext cx="3043238" cy="465138"/>
          </a:xfrm>
          <a:prstGeom prst="rect">
            <a:avLst/>
          </a:prstGeom>
        </p:spPr>
        <p:txBody>
          <a:bodyPr vert="horz" lIns="93324" tIns="46662" rIns="93324" bIns="46662" rtlCol="0" anchor="b"/>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vl1pPr>
          </a:lstStyle>
          <a:p>
            <a:fld id="{13E644BB-4AA9-6C46-86D0-5ECC59FDEAC6}" type="slidenum">
              <a:rPr lang="en-US" altLang="en-US"/>
              <a:pPr/>
              <a:t>‹#›</a:t>
            </a:fld>
            <a:endParaRPr lang="en-US" altLang="en-US"/>
          </a:p>
        </p:txBody>
      </p:sp>
    </p:spTree>
    <p:extLst>
      <p:ext uri="{BB962C8B-B14F-4D97-AF65-F5344CB8AC3E}">
        <p14:creationId xmlns:p14="http://schemas.microsoft.com/office/powerpoint/2010/main" val="1315509100"/>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E644BB-4AA9-6C46-86D0-5ECC59FDEAC6}" type="slidenum">
              <a:rPr lang="en-US" altLang="en-US" smtClean="0"/>
              <a:pPr/>
              <a:t>0</a:t>
            </a:fld>
            <a:endParaRPr lang="en-US" altLang="en-US"/>
          </a:p>
        </p:txBody>
      </p:sp>
    </p:spTree>
    <p:extLst>
      <p:ext uri="{BB962C8B-B14F-4D97-AF65-F5344CB8AC3E}">
        <p14:creationId xmlns:p14="http://schemas.microsoft.com/office/powerpoint/2010/main" val="1728074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4"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8" y="5960263"/>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1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701"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42263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Image Cover">
    <p:spTree>
      <p:nvGrpSpPr>
        <p:cNvPr id="1" name=""/>
        <p:cNvGrpSpPr/>
        <p:nvPr/>
      </p:nvGrpSpPr>
      <p:grpSpPr>
        <a:xfrm>
          <a:off x="0" y="0"/>
          <a:ext cx="0" cy="0"/>
          <a:chOff x="0" y="0"/>
          <a:chExt cx="0" cy="0"/>
        </a:xfrm>
      </p:grpSpPr>
      <p:cxnSp>
        <p:nvCxnSpPr>
          <p:cNvPr id="6" name="Straight Connector 5"/>
          <p:cNvCxnSpPr/>
          <p:nvPr userDrawn="1"/>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4"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0" name="Text Placeholder 17"/>
          <p:cNvSpPr>
            <a:spLocks noGrp="1"/>
          </p:cNvSpPr>
          <p:nvPr>
            <p:ph type="body" sz="quarter" idx="12"/>
          </p:nvPr>
        </p:nvSpPr>
        <p:spPr>
          <a:xfrm>
            <a:off x="2864788" y="5960263"/>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dirty="0"/>
              <a:t>Click to edit Master text styles</a:t>
            </a:r>
          </a:p>
        </p:txBody>
      </p:sp>
      <p:sp>
        <p:nvSpPr>
          <p:cNvPr id="12" name="Content Placeholder 6"/>
          <p:cNvSpPr>
            <a:spLocks noGrp="1"/>
          </p:cNvSpPr>
          <p:nvPr>
            <p:ph sz="quarter" idx="10"/>
          </p:nvPr>
        </p:nvSpPr>
        <p:spPr>
          <a:xfrm>
            <a:off x="26671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3" name="Text Placeholder 8"/>
          <p:cNvSpPr>
            <a:spLocks noGrp="1"/>
          </p:cNvSpPr>
          <p:nvPr>
            <p:ph type="body" sz="quarter" idx="11"/>
          </p:nvPr>
        </p:nvSpPr>
        <p:spPr>
          <a:xfrm>
            <a:off x="266701"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307516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686105" y="357810"/>
            <a:ext cx="10669812" cy="498610"/>
          </a:xfrm>
          <a:prstGeom prst="rect">
            <a:avLst/>
          </a:prstGeom>
        </p:spPr>
        <p:txBody>
          <a:bodyPr/>
          <a:lstStyle>
            <a:lvl1pPr>
              <a:defRPr baseline="0">
                <a:solidFill>
                  <a:schemeClr val="tx1"/>
                </a:solidFill>
              </a:defRPr>
            </a:lvl1pPr>
          </a:lstStyle>
          <a:p>
            <a:r>
              <a:rPr lang="en-US"/>
              <a:t>Click to edit Master title style</a:t>
            </a:r>
            <a:endParaRPr lang="en-US" dirty="0"/>
          </a:p>
        </p:txBody>
      </p:sp>
      <p:sp>
        <p:nvSpPr>
          <p:cNvPr id="4" name="Slide Number Placeholder 5"/>
          <p:cNvSpPr>
            <a:spLocks noGrp="1"/>
          </p:cNvSpPr>
          <p:nvPr>
            <p:ph type="sldNum" sz="quarter" idx="11"/>
          </p:nvPr>
        </p:nvSpPr>
        <p:spPr>
          <a:xfrm>
            <a:off x="11645901" y="-28574"/>
            <a:ext cx="675217" cy="504825"/>
          </a:xfrm>
          <a:prstGeom prst="rect">
            <a:avLst/>
          </a:prstGeom>
        </p:spPr>
        <p:txBody>
          <a:bodyPr/>
          <a:lstStyle>
            <a:lvl1pPr>
              <a:defRPr/>
            </a:lvl1pPr>
          </a:lstStyle>
          <a:p>
            <a:pPr>
              <a:defRPr/>
            </a:pPr>
            <a:fld id="{C9814D0C-58DA-754D-96DF-668AE432F1BF}" type="slidenum">
              <a:rPr lang="en-US"/>
              <a:pPr>
                <a:defRPr/>
              </a:pPr>
              <a:t>‹#›</a:t>
            </a:fld>
            <a:endParaRPr lang="en-US" dirty="0"/>
          </a:p>
        </p:txBody>
      </p:sp>
      <p:sp>
        <p:nvSpPr>
          <p:cNvPr id="5" name="Content Placeholder 4"/>
          <p:cNvSpPr>
            <a:spLocks noGrp="1"/>
          </p:cNvSpPr>
          <p:nvPr>
            <p:ph sz="quarter" idx="12"/>
          </p:nvPr>
        </p:nvSpPr>
        <p:spPr>
          <a:xfrm>
            <a:off x="686104" y="1005840"/>
            <a:ext cx="10669813" cy="5308600"/>
          </a:xfrm>
          <a:prstGeom prst="rect">
            <a:avLst/>
          </a:prstGeom>
        </p:spPr>
        <p:txBody>
          <a:bodyPr/>
          <a:lstStyle>
            <a:lvl4pPr marL="1600200" indent="-228600">
              <a:buClr>
                <a:schemeClr val="accent2"/>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2"/>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00799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ullet Slide">
    <p:spTree>
      <p:nvGrpSpPr>
        <p:cNvPr id="1" name=""/>
        <p:cNvGrpSpPr/>
        <p:nvPr/>
      </p:nvGrpSpPr>
      <p:grpSpPr>
        <a:xfrm>
          <a:off x="0" y="0"/>
          <a:ext cx="0" cy="0"/>
          <a:chOff x="0" y="0"/>
          <a:chExt cx="0" cy="0"/>
        </a:xfrm>
      </p:grpSpPr>
      <p:sp>
        <p:nvSpPr>
          <p:cNvPr id="2" name="Title 1"/>
          <p:cNvSpPr>
            <a:spLocks noGrp="1"/>
          </p:cNvSpPr>
          <p:nvPr>
            <p:ph type="title"/>
          </p:nvPr>
        </p:nvSpPr>
        <p:spPr>
          <a:xfrm>
            <a:off x="187570" y="508436"/>
            <a:ext cx="12004431" cy="571500"/>
          </a:xfrm>
          <a:prstGeom prst="rect">
            <a:avLst/>
          </a:prstGeom>
        </p:spPr>
        <p:txBody>
          <a:bodyPr/>
          <a:lstStyle>
            <a:lvl1pPr algn="l">
              <a:defRPr sz="2800" b="1">
                <a:latin typeface="Arial" pitchFamily="34" charset="0"/>
                <a:cs typeface="Arial" pitchFamily="34" charset="0"/>
              </a:defRPr>
            </a:lvl1pPr>
          </a:lstStyle>
          <a:p>
            <a:r>
              <a:rPr lang="en-US" dirty="0"/>
              <a:t>Click to edit Master title style</a:t>
            </a:r>
          </a:p>
        </p:txBody>
      </p:sp>
      <p:sp>
        <p:nvSpPr>
          <p:cNvPr id="12" name="Text Placeholder 10"/>
          <p:cNvSpPr>
            <a:spLocks noGrp="1"/>
          </p:cNvSpPr>
          <p:nvPr>
            <p:ph type="body" sz="quarter" idx="10"/>
          </p:nvPr>
        </p:nvSpPr>
        <p:spPr>
          <a:xfrm>
            <a:off x="468923" y="1676400"/>
            <a:ext cx="11347939" cy="2057400"/>
          </a:xfrm>
          <a:prstGeom prst="rect">
            <a:avLst/>
          </a:prstGeom>
        </p:spPr>
        <p:txBody>
          <a:bodyPr/>
          <a:lstStyle>
            <a:lvl1pPr marL="173038" indent="-173038">
              <a:buClr>
                <a:srgbClr val="F83124"/>
              </a:buClr>
              <a:defRPr lang="en-US" sz="1800" kern="0" dirty="0" smtClean="0">
                <a:solidFill>
                  <a:srgbClr val="000000"/>
                </a:solidFill>
                <a:latin typeface="Arial" pitchFamily="34" charset="0"/>
                <a:ea typeface="+mn-ea"/>
                <a:cs typeface="Arial" pitchFamily="34" charset="0"/>
              </a:defRPr>
            </a:lvl1pPr>
            <a:lvl2pPr marL="568325" indent="-222250">
              <a:buClr>
                <a:srgbClr val="002060"/>
              </a:buClr>
              <a:defRPr sz="1800">
                <a:latin typeface="Arial" pitchFamily="34" charset="0"/>
                <a:cs typeface="Arial" pitchFamily="34" charset="0"/>
              </a:defRPr>
            </a:lvl2pPr>
            <a:lvl4pPr>
              <a:defRPr sz="1800"/>
            </a:lvl4pPr>
            <a:lvl5pPr>
              <a:defRPr sz="1800"/>
            </a:lvl5pPr>
          </a:lstStyle>
          <a:p>
            <a:pPr lvl="0"/>
            <a:r>
              <a:rPr lang="en-US" dirty="0"/>
              <a:t>Click to edit Master text styles</a:t>
            </a:r>
          </a:p>
          <a:p>
            <a:pPr lvl="1"/>
            <a:r>
              <a:rPr lang="en-US" dirty="0"/>
              <a:t>Second level</a:t>
            </a:r>
          </a:p>
          <a:p>
            <a:pPr lvl="1"/>
            <a:r>
              <a:rPr lang="en-US" dirty="0"/>
              <a:t>Third level</a:t>
            </a:r>
          </a:p>
        </p:txBody>
      </p:sp>
      <p:sp>
        <p:nvSpPr>
          <p:cNvPr id="16" name="Text Placeholder 15"/>
          <p:cNvSpPr>
            <a:spLocks noGrp="1"/>
          </p:cNvSpPr>
          <p:nvPr>
            <p:ph type="body" sz="quarter" idx="11"/>
          </p:nvPr>
        </p:nvSpPr>
        <p:spPr>
          <a:xfrm>
            <a:off x="468923" y="1219200"/>
            <a:ext cx="11347939" cy="381000"/>
          </a:xfrm>
          <a:prstGeom prst="rect">
            <a:avLst/>
          </a:prstGeom>
        </p:spPr>
        <p:txBody>
          <a:bodyPr/>
          <a:lstStyle>
            <a:lvl1pPr>
              <a:buNone/>
              <a:defRPr sz="1800" b="1">
                <a:latin typeface="Arial" pitchFamily="34" charset="0"/>
                <a:cs typeface="Arial" pitchFamily="34" charset="0"/>
              </a:defRPr>
            </a:lvl1pPr>
          </a:lstStyle>
          <a:p>
            <a:pPr lvl="0"/>
            <a:r>
              <a:rPr lang="en-US"/>
              <a:t>Click to edit Master text styles</a:t>
            </a:r>
          </a:p>
        </p:txBody>
      </p:sp>
      <p:sp>
        <p:nvSpPr>
          <p:cNvPr id="17" name="Text Placeholder 5"/>
          <p:cNvSpPr>
            <a:spLocks noGrp="1"/>
          </p:cNvSpPr>
          <p:nvPr>
            <p:ph type="body" sz="quarter" idx="12"/>
          </p:nvPr>
        </p:nvSpPr>
        <p:spPr>
          <a:xfrm>
            <a:off x="0" y="6019800"/>
            <a:ext cx="12192000" cy="457200"/>
          </a:xfrm>
          <a:prstGeom prst="rect">
            <a:avLst/>
          </a:prstGeom>
          <a:solidFill>
            <a:srgbClr val="F83124"/>
          </a:solidFill>
        </p:spPr>
        <p:txBody>
          <a:bodyPr/>
          <a:lstStyle>
            <a:lvl1pPr marL="0" indent="0" algn="ctr">
              <a:buNone/>
              <a:defRPr sz="2000" b="1" i="1" baseline="0">
                <a:solidFill>
                  <a:schemeClr val="bg1"/>
                </a:solidFill>
                <a:latin typeface="Arial Black"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5378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92"/>
            <a:ext cx="10523336" cy="498475"/>
          </a:xfrm>
          <a:prstGeom prst="rect">
            <a:avLst/>
          </a:prstGeom>
        </p:spPr>
        <p:txBody>
          <a:bodyPr/>
          <a:lstStyle/>
          <a:p>
            <a:r>
              <a:rPr lang="en-US"/>
              <a:t>Click to edit Master title style</a:t>
            </a:r>
            <a:endParaRPr lang="en-US" dirty="0"/>
          </a:p>
        </p:txBody>
      </p:sp>
      <p:sp>
        <p:nvSpPr>
          <p:cNvPr id="3" name="Slide Number Placeholder 5"/>
          <p:cNvSpPr>
            <a:spLocks noGrp="1"/>
          </p:cNvSpPr>
          <p:nvPr>
            <p:ph type="sldNum" sz="quarter" idx="10"/>
          </p:nvPr>
        </p:nvSpPr>
        <p:spPr>
          <a:xfrm>
            <a:off x="11645900" y="0"/>
            <a:ext cx="674688" cy="504825"/>
          </a:xfrm>
          <a:prstGeom prst="rect">
            <a:avLst/>
          </a:prstGeom>
        </p:spPr>
        <p:txBody>
          <a:bodyPr/>
          <a:lstStyle>
            <a:lvl1pPr>
              <a:defRPr/>
            </a:lvl1pPr>
          </a:lstStyle>
          <a:p>
            <a:fld id="{7CBA9B0B-FAEF-6F4E-AA9D-4763F23C33FB}" type="slidenum">
              <a:rPr lang="en-US" altLang="en-US"/>
              <a:pPr/>
              <a:t>‹#›</a:t>
            </a:fld>
            <a:endParaRPr lang="en-US" altLang="en-US"/>
          </a:p>
        </p:txBody>
      </p:sp>
    </p:spTree>
    <p:extLst>
      <p:ext uri="{BB962C8B-B14F-4D97-AF65-F5344CB8AC3E}">
        <p14:creationId xmlns:p14="http://schemas.microsoft.com/office/powerpoint/2010/main" val="314097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2370" y="350520"/>
            <a:ext cx="12004431" cy="571500"/>
          </a:xfrm>
          <a:prstGeom prst="rect">
            <a:avLst/>
          </a:prstGeom>
        </p:spPr>
        <p:txBody>
          <a:bodyPr lIns="91429" tIns="45715" rIns="91429" bIns="45715"/>
          <a:lstStyle>
            <a:lvl1pPr algn="l">
              <a:defRPr sz="2600" b="1" spc="-150">
                <a:solidFill>
                  <a:schemeClr val="bg1"/>
                </a:solidFill>
                <a:latin typeface="Arial Black" panose="020B0A04020102020204" pitchFamily="34" charset="0"/>
                <a:cs typeface="Arial" pitchFamily="34" charset="0"/>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346302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70" y="357810"/>
            <a:ext cx="10507948" cy="498610"/>
          </a:xfrm>
        </p:spPr>
        <p:txBody>
          <a:bodyPr/>
          <a:lstStyle>
            <a:lvl1pPr>
              <a:defRPr baseline="0">
                <a:solidFill>
                  <a:schemeClr val="tx1"/>
                </a:solidFill>
              </a:defRPr>
            </a:lvl1pPr>
          </a:lstStyle>
          <a:p>
            <a:r>
              <a:rPr lang="en-US"/>
              <a:t>Click to edit Master title style</a:t>
            </a:r>
            <a:endParaRPr lang="en-US" dirty="0"/>
          </a:p>
        </p:txBody>
      </p:sp>
      <p:sp>
        <p:nvSpPr>
          <p:cNvPr id="5" name="Content Placeholder 4"/>
          <p:cNvSpPr>
            <a:spLocks noGrp="1"/>
          </p:cNvSpPr>
          <p:nvPr>
            <p:ph sz="quarter" idx="12"/>
          </p:nvPr>
        </p:nvSpPr>
        <p:spPr>
          <a:xfrm>
            <a:off x="714568" y="1005840"/>
            <a:ext cx="10507947" cy="5308600"/>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3"/>
          </p:nvPr>
        </p:nvSpPr>
        <p:spPr/>
        <p:txBody>
          <a:bodyPr/>
          <a:lstStyle>
            <a:lvl1pPr>
              <a:defRPr/>
            </a:lvl1pPr>
          </a:lstStyle>
          <a:p>
            <a:fld id="{FC1E5D37-8D63-EA40-A83B-B2B3144548F4}" type="slidenum">
              <a:rPr lang="en-US" altLang="en-US"/>
              <a:pPr/>
              <a:t>‹#›</a:t>
            </a:fld>
            <a:endParaRPr lang="en-US" altLang="en-US"/>
          </a:p>
        </p:txBody>
      </p:sp>
    </p:spTree>
    <p:extLst>
      <p:ext uri="{BB962C8B-B14F-4D97-AF65-F5344CB8AC3E}">
        <p14:creationId xmlns:p14="http://schemas.microsoft.com/office/powerpoint/2010/main" val="764500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334000"/>
          </a:xfrm>
          <a:prstGeom prst="line">
            <a:avLst/>
          </a:prstGeom>
          <a:noFill/>
          <a:ln w="9525" cap="flat" cmpd="sng" algn="ctr">
            <a:solidFill>
              <a:schemeClr val="accent3"/>
            </a:solidFill>
            <a:prstDash val="solid"/>
            <a:round/>
            <a:headEnd type="none" w="med" len="med"/>
            <a:tailEnd type="none" w="med" len="med"/>
          </a:ln>
          <a:effectLst/>
          <a:extLst/>
        </p:spPr>
      </p:cxnSp>
      <p:sp>
        <p:nvSpPr>
          <p:cNvPr id="13" name="Title 1"/>
          <p:cNvSpPr>
            <a:spLocks noGrp="1"/>
          </p:cNvSpPr>
          <p:nvPr>
            <p:ph type="title"/>
          </p:nvPr>
        </p:nvSpPr>
        <p:spPr>
          <a:xfrm>
            <a:off x="714572" y="357810"/>
            <a:ext cx="10499919" cy="498610"/>
          </a:xfrm>
        </p:spPr>
        <p:txBody>
          <a:bodyPr/>
          <a:lstStyle/>
          <a:p>
            <a:r>
              <a:rPr lang="en-US"/>
              <a:t>Click to edit Master title style</a:t>
            </a:r>
            <a:endParaRPr lang="en-US" dirty="0"/>
          </a:p>
        </p:txBody>
      </p:sp>
      <p:sp>
        <p:nvSpPr>
          <p:cNvPr id="7" name="Content Placeholder 4"/>
          <p:cNvSpPr>
            <a:spLocks noGrp="1"/>
          </p:cNvSpPr>
          <p:nvPr>
            <p:ph sz="quarter" idx="12"/>
          </p:nvPr>
        </p:nvSpPr>
        <p:spPr>
          <a:xfrm>
            <a:off x="714793" y="1005840"/>
            <a:ext cx="5160304" cy="5308600"/>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4"/>
          <p:cNvSpPr>
            <a:spLocks noGrp="1"/>
          </p:cNvSpPr>
          <p:nvPr>
            <p:ph sz="quarter" idx="15"/>
          </p:nvPr>
        </p:nvSpPr>
        <p:spPr>
          <a:xfrm>
            <a:off x="6150445" y="1005840"/>
            <a:ext cx="5064040" cy="5308600"/>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6"/>
          </p:nvPr>
        </p:nvSpPr>
        <p:spPr/>
        <p:txBody>
          <a:bodyPr/>
          <a:lstStyle>
            <a:lvl1pPr>
              <a:defRPr/>
            </a:lvl1pPr>
          </a:lstStyle>
          <a:p>
            <a:fld id="{F9179EA4-3974-BE44-BAEC-75AB08C74F5E}" type="slidenum">
              <a:rPr lang="en-US" altLang="en-US"/>
              <a:pPr/>
              <a:t>‹#›</a:t>
            </a:fld>
            <a:endParaRPr lang="en-US" altLang="en-US"/>
          </a:p>
        </p:txBody>
      </p:sp>
    </p:spTree>
    <p:extLst>
      <p:ext uri="{BB962C8B-B14F-4D97-AF65-F5344CB8AC3E}">
        <p14:creationId xmlns:p14="http://schemas.microsoft.com/office/powerpoint/2010/main" val="158090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a:extLst/>
        </p:spPr>
      </p:cxnSp>
      <p:cxnSp>
        <p:nvCxnSpPr>
          <p:cNvPr id="8" name="Straight Connector 7"/>
          <p:cNvCxnSpPr/>
          <p:nvPr userDrawn="1"/>
        </p:nvCxnSpPr>
        <p:spPr bwMode="auto">
          <a:xfrm>
            <a:off x="6008688" y="996950"/>
            <a:ext cx="0" cy="5334000"/>
          </a:xfrm>
          <a:prstGeom prst="line">
            <a:avLst/>
          </a:prstGeom>
          <a:noFill/>
          <a:ln w="9525" cap="flat" cmpd="sng" algn="ctr">
            <a:solidFill>
              <a:schemeClr val="accent3"/>
            </a:solidFill>
            <a:prstDash val="solid"/>
            <a:round/>
            <a:headEnd type="none" w="med" len="med"/>
            <a:tailEnd type="none" w="med" len="med"/>
          </a:ln>
          <a:effectLst/>
          <a:extLst/>
        </p:spPr>
      </p:cxnSp>
      <p:sp>
        <p:nvSpPr>
          <p:cNvPr id="9" name="TextBox 10"/>
          <p:cNvSpPr txBox="1">
            <a:spLocks noChangeArrowheads="1"/>
          </p:cNvSpPr>
          <p:nvPr userDrawn="1"/>
        </p:nvSpPr>
        <p:spPr bwMode="auto">
          <a:xfrm>
            <a:off x="1666875" y="6804025"/>
            <a:ext cx="18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endParaRPr lang="en-US" sz="1800"/>
          </a:p>
        </p:txBody>
      </p:sp>
      <p:sp>
        <p:nvSpPr>
          <p:cNvPr id="20" name="Title 1"/>
          <p:cNvSpPr>
            <a:spLocks noGrp="1"/>
          </p:cNvSpPr>
          <p:nvPr>
            <p:ph type="title"/>
          </p:nvPr>
        </p:nvSpPr>
        <p:spPr>
          <a:xfrm>
            <a:off x="714250" y="364798"/>
            <a:ext cx="10531033" cy="512064"/>
          </a:xfrm>
        </p:spPr>
        <p:txBody>
          <a:bodyPr/>
          <a:lstStyle/>
          <a:p>
            <a:r>
              <a:rPr lang="en-US"/>
              <a:t>Click to edit Master title style</a:t>
            </a:r>
            <a:endParaRPr lang="en-US" dirty="0"/>
          </a:p>
        </p:txBody>
      </p:sp>
      <p:sp>
        <p:nvSpPr>
          <p:cNvPr id="10" name="Content Placeholder 4"/>
          <p:cNvSpPr>
            <a:spLocks noGrp="1"/>
          </p:cNvSpPr>
          <p:nvPr>
            <p:ph sz="quarter" idx="12"/>
          </p:nvPr>
        </p:nvSpPr>
        <p:spPr>
          <a:xfrm>
            <a:off x="714241" y="1005841"/>
            <a:ext cx="5172339"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4"/>
          <p:cNvSpPr>
            <a:spLocks noGrp="1"/>
          </p:cNvSpPr>
          <p:nvPr>
            <p:ph sz="quarter" idx="15"/>
          </p:nvPr>
        </p:nvSpPr>
        <p:spPr>
          <a:xfrm>
            <a:off x="6134785"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
          <p:cNvSpPr>
            <a:spLocks noGrp="1"/>
          </p:cNvSpPr>
          <p:nvPr>
            <p:ph sz="quarter" idx="22"/>
          </p:nvPr>
        </p:nvSpPr>
        <p:spPr>
          <a:xfrm>
            <a:off x="714241" y="3796581"/>
            <a:ext cx="5172339" cy="25342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4"/>
          <p:cNvSpPr>
            <a:spLocks noGrp="1"/>
          </p:cNvSpPr>
          <p:nvPr>
            <p:ph sz="quarter" idx="23"/>
          </p:nvPr>
        </p:nvSpPr>
        <p:spPr>
          <a:xfrm>
            <a:off x="6134785" y="3796581"/>
            <a:ext cx="5110491" cy="25342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5"/>
          <p:cNvSpPr>
            <a:spLocks noGrp="1"/>
          </p:cNvSpPr>
          <p:nvPr>
            <p:ph type="sldNum" sz="quarter" idx="24"/>
          </p:nvPr>
        </p:nvSpPr>
        <p:spPr/>
        <p:txBody>
          <a:bodyPr/>
          <a:lstStyle>
            <a:lvl1pPr>
              <a:defRPr/>
            </a:lvl1pPr>
          </a:lstStyle>
          <a:p>
            <a:fld id="{EE4036DE-DE71-014C-968C-F6EEF5D1CA36}" type="slidenum">
              <a:rPr lang="en-US" altLang="en-US"/>
              <a:pPr/>
              <a:t>‹#›</a:t>
            </a:fld>
            <a:endParaRPr lang="en-US" altLang="en-US"/>
          </a:p>
        </p:txBody>
      </p:sp>
    </p:spTree>
    <p:extLst>
      <p:ext uri="{BB962C8B-B14F-4D97-AF65-F5344CB8AC3E}">
        <p14:creationId xmlns:p14="http://schemas.microsoft.com/office/powerpoint/2010/main" val="1522989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92"/>
            <a:ext cx="10523336" cy="498475"/>
          </a:xfrm>
        </p:spPr>
        <p:txBody>
          <a:bodyPr/>
          <a:lstStyle>
            <a:lvl1pPr>
              <a:defRPr sz="2800" b="0" i="0">
                <a:latin typeface="Honeywell Sans Medium" charset="0"/>
                <a:ea typeface="Honeywell Sans Medium" charset="0"/>
                <a:cs typeface="Honeywell Sans Medium" charset="0"/>
              </a:defRPr>
            </a:lvl1pPr>
          </a:lstStyle>
          <a:p>
            <a:r>
              <a:rPr lang="en-US"/>
              <a:t>Click to edit Master title style</a:t>
            </a:r>
            <a:endParaRPr lang="en-US" dirty="0"/>
          </a:p>
        </p:txBody>
      </p:sp>
      <p:sp>
        <p:nvSpPr>
          <p:cNvPr id="3" name="Slide Number Placeholder 5"/>
          <p:cNvSpPr>
            <a:spLocks noGrp="1"/>
          </p:cNvSpPr>
          <p:nvPr>
            <p:ph type="sldNum" sz="quarter" idx="10"/>
          </p:nvPr>
        </p:nvSpPr>
        <p:spPr/>
        <p:txBody>
          <a:bodyPr/>
          <a:lstStyle>
            <a:lvl1pPr>
              <a:defRPr/>
            </a:lvl1pPr>
          </a:lstStyle>
          <a:p>
            <a:fld id="{7CBA9B0B-FAEF-6F4E-AA9D-4763F23C33FB}" type="slidenum">
              <a:rPr lang="en-US" altLang="en-US"/>
              <a:pPr/>
              <a:t>‹#›</a:t>
            </a:fld>
            <a:endParaRPr lang="en-US" altLang="en-US"/>
          </a:p>
        </p:txBody>
      </p:sp>
    </p:spTree>
    <p:extLst>
      <p:ext uri="{BB962C8B-B14F-4D97-AF65-F5344CB8AC3E}">
        <p14:creationId xmlns:p14="http://schemas.microsoft.com/office/powerpoint/2010/main" val="561562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267345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ullet Slide">
    <p:spTree>
      <p:nvGrpSpPr>
        <p:cNvPr id="1" name=""/>
        <p:cNvGrpSpPr/>
        <p:nvPr/>
      </p:nvGrpSpPr>
      <p:grpSpPr>
        <a:xfrm>
          <a:off x="0" y="0"/>
          <a:ext cx="0" cy="0"/>
          <a:chOff x="0" y="0"/>
          <a:chExt cx="0" cy="0"/>
        </a:xfrm>
      </p:grpSpPr>
      <p:sp>
        <p:nvSpPr>
          <p:cNvPr id="2" name="Title 1"/>
          <p:cNvSpPr>
            <a:spLocks noGrp="1"/>
          </p:cNvSpPr>
          <p:nvPr>
            <p:ph type="title"/>
          </p:nvPr>
        </p:nvSpPr>
        <p:spPr>
          <a:xfrm>
            <a:off x="492370" y="304800"/>
            <a:ext cx="12004431" cy="571500"/>
          </a:xfrm>
          <a:prstGeom prst="rect">
            <a:avLst/>
          </a:prstGeom>
        </p:spPr>
        <p:txBody>
          <a:bodyPr lIns="91429" tIns="45715" rIns="91429" bIns="45715"/>
          <a:lstStyle>
            <a:lvl1pPr algn="l">
              <a:defRPr sz="2600" b="1">
                <a:solidFill>
                  <a:schemeClr val="bg1"/>
                </a:solidFill>
                <a:latin typeface="Arial Black" panose="020B0A04020102020204" pitchFamily="34" charset="0"/>
                <a:cs typeface="Arial" pitchFamily="34" charset="0"/>
              </a:defRPr>
            </a:lvl1pPr>
          </a:lstStyle>
          <a:p>
            <a:r>
              <a:rPr lang="en-US" dirty="0"/>
              <a:t>Click to edit Master title style</a:t>
            </a:r>
          </a:p>
        </p:txBody>
      </p:sp>
      <p:sp>
        <p:nvSpPr>
          <p:cNvPr id="12" name="Text Placeholder 10"/>
          <p:cNvSpPr>
            <a:spLocks noGrp="1"/>
          </p:cNvSpPr>
          <p:nvPr>
            <p:ph type="body" sz="quarter" idx="10"/>
          </p:nvPr>
        </p:nvSpPr>
        <p:spPr>
          <a:xfrm>
            <a:off x="468923" y="1676400"/>
            <a:ext cx="11347939" cy="2057400"/>
          </a:xfrm>
          <a:prstGeom prst="rect">
            <a:avLst/>
          </a:prstGeom>
        </p:spPr>
        <p:txBody>
          <a:bodyPr lIns="91429" tIns="45715" rIns="91429" bIns="45715"/>
          <a:lstStyle>
            <a:lvl1pPr marL="173018" indent="-173018">
              <a:buClr>
                <a:srgbClr val="F83124"/>
              </a:buClr>
              <a:defRPr lang="en-US" sz="1800" kern="0" dirty="0" smtClean="0">
                <a:solidFill>
                  <a:srgbClr val="000000"/>
                </a:solidFill>
                <a:latin typeface="Arial" pitchFamily="34" charset="0"/>
                <a:ea typeface="+mn-ea"/>
                <a:cs typeface="Arial" pitchFamily="34" charset="0"/>
              </a:defRPr>
            </a:lvl1pPr>
            <a:lvl2pPr marL="568261" indent="-222224">
              <a:buClr>
                <a:srgbClr val="002060"/>
              </a:buClr>
              <a:defRPr sz="1800">
                <a:latin typeface="Arial" pitchFamily="34" charset="0"/>
                <a:cs typeface="Arial" pitchFamily="34" charset="0"/>
              </a:defRPr>
            </a:lvl2pPr>
            <a:lvl4pPr>
              <a:defRPr sz="1800"/>
            </a:lvl4pPr>
            <a:lvl5pPr>
              <a:defRPr sz="1800"/>
            </a:lvl5pPr>
          </a:lstStyle>
          <a:p>
            <a:pPr lvl="0"/>
            <a:r>
              <a:rPr lang="en-US" dirty="0"/>
              <a:t>Click to edit Master text styles</a:t>
            </a:r>
          </a:p>
          <a:p>
            <a:pPr lvl="1"/>
            <a:r>
              <a:rPr lang="en-US" dirty="0"/>
              <a:t>Second level</a:t>
            </a:r>
          </a:p>
          <a:p>
            <a:pPr marL="800009" lvl="1" indent="-176193" algn="l" defTabSz="914296" rtl="0" eaLnBrk="0" latinLnBrk="0" hangingPunct="0">
              <a:spcBef>
                <a:spcPts val="900"/>
              </a:spcBef>
              <a:buClr>
                <a:srgbClr val="00B050"/>
              </a:buClr>
              <a:buSzPct val="80000"/>
              <a:buFont typeface="Wingdings" pitchFamily="2" charset="2"/>
              <a:buChar char="v"/>
              <a:defRPr/>
            </a:pPr>
            <a:r>
              <a:rPr lang="en-US" dirty="0"/>
              <a:t>Third level</a:t>
            </a:r>
          </a:p>
        </p:txBody>
      </p:sp>
      <p:sp>
        <p:nvSpPr>
          <p:cNvPr id="16" name="Text Placeholder 15"/>
          <p:cNvSpPr>
            <a:spLocks noGrp="1"/>
          </p:cNvSpPr>
          <p:nvPr>
            <p:ph type="body" sz="quarter" idx="11" hasCustomPrompt="1"/>
          </p:nvPr>
        </p:nvSpPr>
        <p:spPr>
          <a:xfrm>
            <a:off x="468923" y="1219200"/>
            <a:ext cx="11347939" cy="381000"/>
          </a:xfrm>
          <a:prstGeom prst="rect">
            <a:avLst/>
          </a:prstGeom>
        </p:spPr>
        <p:txBody>
          <a:bodyPr lIns="91429" tIns="45715" rIns="91429" bIns="45715"/>
          <a:lstStyle>
            <a:lvl1pPr>
              <a:buNone/>
              <a:defRPr sz="1800" b="1">
                <a:latin typeface="Arial" pitchFamily="34" charset="0"/>
                <a:cs typeface="Arial" pitchFamily="34" charset="0"/>
              </a:defRPr>
            </a:lvl1pPr>
          </a:lstStyle>
          <a:p>
            <a:pPr lvl="0"/>
            <a:r>
              <a:rPr lang="en-US" dirty="0"/>
              <a:t>Heading</a:t>
            </a:r>
          </a:p>
        </p:txBody>
      </p:sp>
    </p:spTree>
    <p:custDataLst>
      <p:tags r:id="rId1"/>
    </p:custDataLst>
    <p:extLst>
      <p:ext uri="{BB962C8B-B14F-4D97-AF65-F5344CB8AC3E}">
        <p14:creationId xmlns:p14="http://schemas.microsoft.com/office/powerpoint/2010/main" val="159203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5" name="Rectangle 4"/>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ound Single Corner Rectangle 5"/>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Title 1"/>
          <p:cNvSpPr>
            <a:spLocks noGrp="1"/>
          </p:cNvSpPr>
          <p:nvPr>
            <p:ph type="title"/>
          </p:nvPr>
        </p:nvSpPr>
        <p:spPr>
          <a:xfrm>
            <a:off x="709621" y="364015"/>
            <a:ext cx="10491779" cy="511862"/>
          </a:xfrm>
        </p:spPr>
        <p:txBody>
          <a:bodyPr/>
          <a:lstStyle/>
          <a:p>
            <a:r>
              <a:rPr lang="en-US"/>
              <a:t>Click to edit Master title style</a:t>
            </a:r>
            <a:endParaRPr lang="en-US" dirty="0"/>
          </a:p>
        </p:txBody>
      </p:sp>
      <p:sp>
        <p:nvSpPr>
          <p:cNvPr id="14"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6"/>
          </p:nvPr>
        </p:nvSpPr>
        <p:spPr/>
        <p:txBody>
          <a:bodyPr/>
          <a:lstStyle>
            <a:lvl1pPr>
              <a:defRPr sz="1000"/>
            </a:lvl1pPr>
          </a:lstStyle>
          <a:p>
            <a:fld id="{ADCFD273-3BA9-0844-8544-A4EE6CAE2C72}" type="slidenum">
              <a:rPr lang="en-US" altLang="en-US"/>
              <a:pPr/>
              <a:t>‹#›</a:t>
            </a:fld>
            <a:endParaRPr lang="en-US" altLang="en-US"/>
          </a:p>
        </p:txBody>
      </p:sp>
    </p:spTree>
    <p:extLst>
      <p:ext uri="{BB962C8B-B14F-4D97-AF65-F5344CB8AC3E}">
        <p14:creationId xmlns:p14="http://schemas.microsoft.com/office/powerpoint/2010/main" val="677556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sp>
        <p:nvSpPr>
          <p:cNvPr id="6" name="Rectangle 5"/>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ound Single Corner Rectangle 6"/>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a:extLst/>
        </p:spPr>
      </p:cxnSp>
      <p:sp>
        <p:nvSpPr>
          <p:cNvPr id="2" name="Title 1"/>
          <p:cNvSpPr>
            <a:spLocks noGrp="1"/>
          </p:cNvSpPr>
          <p:nvPr>
            <p:ph type="title"/>
          </p:nvPr>
        </p:nvSpPr>
        <p:spPr>
          <a:xfrm>
            <a:off x="714109" y="357192"/>
            <a:ext cx="10480347" cy="498475"/>
          </a:xfrm>
        </p:spPr>
        <p:txBody>
          <a:bodyPr/>
          <a:lstStyle/>
          <a:p>
            <a:r>
              <a:rPr lang="en-US"/>
              <a:t>Click to edit Master title style</a:t>
            </a:r>
            <a:endParaRPr lang="en-US" dirty="0"/>
          </a:p>
        </p:txBody>
      </p:sp>
      <p:sp>
        <p:nvSpPr>
          <p:cNvPr id="11" name="Content Placeholder 4"/>
          <p:cNvSpPr>
            <a:spLocks noGrp="1"/>
          </p:cNvSpPr>
          <p:nvPr>
            <p:ph sz="quarter" idx="12"/>
          </p:nvPr>
        </p:nvSpPr>
        <p:spPr>
          <a:xfrm>
            <a:off x="714110"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9" name="Slide Number Placeholder 2"/>
          <p:cNvSpPr>
            <a:spLocks noGrp="1"/>
          </p:cNvSpPr>
          <p:nvPr>
            <p:ph type="sldNum" sz="quarter" idx="17"/>
          </p:nvPr>
        </p:nvSpPr>
        <p:spPr/>
        <p:txBody>
          <a:bodyPr/>
          <a:lstStyle>
            <a:lvl1pPr>
              <a:defRPr/>
            </a:lvl1pPr>
          </a:lstStyle>
          <a:p>
            <a:fld id="{EF5F0A62-F77C-0641-A60D-6B56B0D9244C}" type="slidenum">
              <a:rPr lang="en-US" altLang="en-US"/>
              <a:pPr/>
              <a:t>‹#›</a:t>
            </a:fld>
            <a:endParaRPr lang="en-US" altLang="en-US"/>
          </a:p>
        </p:txBody>
      </p:sp>
    </p:spTree>
    <p:extLst>
      <p:ext uri="{BB962C8B-B14F-4D97-AF65-F5344CB8AC3E}">
        <p14:creationId xmlns:p14="http://schemas.microsoft.com/office/powerpoint/2010/main" val="1732622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sp>
        <p:nvSpPr>
          <p:cNvPr id="8" name="Rectangle 7"/>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ound Single Corner Rectangle 8"/>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a:ex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a:extLst/>
        </p:spPr>
      </p:cxnSp>
      <p:sp>
        <p:nvSpPr>
          <p:cNvPr id="16" name="Title 1"/>
          <p:cNvSpPr>
            <a:spLocks noGrp="1"/>
          </p:cNvSpPr>
          <p:nvPr>
            <p:ph type="title"/>
          </p:nvPr>
        </p:nvSpPr>
        <p:spPr>
          <a:xfrm>
            <a:off x="714111" y="364859"/>
            <a:ext cx="10472508" cy="485358"/>
          </a:xfrm>
        </p:spPr>
        <p:txBody>
          <a:bodyPr/>
          <a:lstStyle/>
          <a:p>
            <a:r>
              <a:rPr lang="en-US"/>
              <a:t>Click to edit Master title style</a:t>
            </a:r>
            <a:endParaRPr lang="en-US" dirty="0"/>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Content Placeholder 4"/>
          <p:cNvSpPr>
            <a:spLocks noGrp="1"/>
          </p:cNvSpPr>
          <p:nvPr>
            <p:ph sz="quarter" idx="24"/>
          </p:nvPr>
        </p:nvSpPr>
        <p:spPr>
          <a:xfrm>
            <a:off x="6123491" y="3796577"/>
            <a:ext cx="5063135"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Content Placeholder 4"/>
          <p:cNvSpPr>
            <a:spLocks noGrp="1"/>
          </p:cNvSpPr>
          <p:nvPr>
            <p:ph sz="quarter" idx="25"/>
          </p:nvPr>
        </p:nvSpPr>
        <p:spPr>
          <a:xfrm>
            <a:off x="6123491" y="1005841"/>
            <a:ext cx="5063135"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12" name="Slide Number Placeholder 5"/>
          <p:cNvSpPr>
            <a:spLocks noGrp="1"/>
          </p:cNvSpPr>
          <p:nvPr>
            <p:ph type="sldNum" sz="quarter" idx="26"/>
          </p:nvPr>
        </p:nvSpPr>
        <p:spPr/>
        <p:txBody>
          <a:bodyPr/>
          <a:lstStyle>
            <a:lvl1pPr>
              <a:defRPr/>
            </a:lvl1pPr>
          </a:lstStyle>
          <a:p>
            <a:fld id="{1F4DDCF1-86F2-EE49-BE3C-309AC809379C}" type="slidenum">
              <a:rPr lang="en-US" altLang="en-US"/>
              <a:pPr/>
              <a:t>‹#›</a:t>
            </a:fld>
            <a:endParaRPr lang="en-US" altLang="en-US"/>
          </a:p>
        </p:txBody>
      </p:sp>
    </p:spTree>
    <p:extLst>
      <p:ext uri="{BB962C8B-B14F-4D97-AF65-F5344CB8AC3E}">
        <p14:creationId xmlns:p14="http://schemas.microsoft.com/office/powerpoint/2010/main" val="310053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4" name="Rectangle 3"/>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ound Single Corner Rectangle 4"/>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14242" y="357192"/>
            <a:ext cx="10455164" cy="498475"/>
          </a:xfrm>
        </p:spPr>
        <p:txBody>
          <a:bodyPr/>
          <a:lstStyle/>
          <a:p>
            <a:r>
              <a:rPr lang="en-US"/>
              <a:t>Click to edit Master title style</a:t>
            </a:r>
            <a:endParaRPr lang="en-US" dirty="0"/>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6" name="Slide Number Placeholder 2"/>
          <p:cNvSpPr>
            <a:spLocks noGrp="1"/>
          </p:cNvSpPr>
          <p:nvPr>
            <p:ph type="sldNum" sz="quarter" idx="16"/>
          </p:nvPr>
        </p:nvSpPr>
        <p:spPr/>
        <p:txBody>
          <a:bodyPr/>
          <a:lstStyle>
            <a:lvl1pPr>
              <a:defRPr/>
            </a:lvl1pPr>
          </a:lstStyle>
          <a:p>
            <a:fld id="{0E3C6540-DC68-5745-8920-98AA77304338}" type="slidenum">
              <a:rPr lang="en-US" altLang="en-US"/>
              <a:pPr/>
              <a:t>‹#›</a:t>
            </a:fld>
            <a:endParaRPr lang="en-US" altLang="en-US"/>
          </a:p>
        </p:txBody>
      </p:sp>
    </p:spTree>
    <p:extLst>
      <p:ext uri="{BB962C8B-B14F-4D97-AF65-F5344CB8AC3E}">
        <p14:creationId xmlns:p14="http://schemas.microsoft.com/office/powerpoint/2010/main" val="1278754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Image Cover">
    <p:spTree>
      <p:nvGrpSpPr>
        <p:cNvPr id="1" name=""/>
        <p:cNvGrpSpPr/>
        <p:nvPr/>
      </p:nvGrpSpPr>
      <p:grpSpPr>
        <a:xfrm>
          <a:off x="0" y="0"/>
          <a:ext cx="0" cy="0"/>
          <a:chOff x="0" y="0"/>
          <a:chExt cx="0" cy="0"/>
        </a:xfrm>
      </p:grpSpPr>
      <p:cxnSp>
        <p:nvCxnSpPr>
          <p:cNvPr id="6" name="Straight Connector 5"/>
          <p:cNvCxnSpPr/>
          <p:nvPr userDrawn="1"/>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a:off x="2851150"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3"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2" y="5960249"/>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dirty="0"/>
              <a:t>Click to edit Master text styles</a:t>
            </a:r>
          </a:p>
        </p:txBody>
      </p:sp>
      <p:sp>
        <p:nvSpPr>
          <p:cNvPr id="12" name="Content Placeholder 6"/>
          <p:cNvSpPr>
            <a:spLocks noGrp="1"/>
          </p:cNvSpPr>
          <p:nvPr>
            <p:ph sz="quarter" idx="10"/>
          </p:nvPr>
        </p:nvSpPr>
        <p:spPr>
          <a:xfrm>
            <a:off x="266701"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3" name="Text Placeholder 8"/>
          <p:cNvSpPr>
            <a:spLocks noGrp="1"/>
          </p:cNvSpPr>
          <p:nvPr>
            <p:ph type="body" sz="quarter" idx="11"/>
          </p:nvPr>
        </p:nvSpPr>
        <p:spPr>
          <a:xfrm>
            <a:off x="266700"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10912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4.xml"/><Relationship Id="rId7"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11.png"/><Relationship Id="rId4" Type="http://schemas.openxmlformats.org/officeDocument/2006/relationships/slideLayout" Target="../slideLayouts/slideLayout10.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theme" Target="../theme/theme5.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1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9" descr="Picture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15875"/>
            <a:ext cx="4624388" cy="565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2" descr="\\localhost\Volumes\DMS-Server\Clients\Honeywell PPT \Honeywell - Freestanding Logos\Honeywell - Freestanding Logo RGB.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669463" y="6108700"/>
            <a:ext cx="18954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4" descr="Corner-01 copy.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10" descr="\\localhost\Volumes\DMS-Server\Clients\Honeywell PPT \Honeywell - Freestanding Logos\Honeywell - Freestanding Logo RGB.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669463" y="6097588"/>
            <a:ext cx="18954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4080" r:id="rId1"/>
  </p:sldLayoutIdLst>
  <p:hf hdr="0" ftr="0" dt="0"/>
  <p:txStyles>
    <p:titleStyle>
      <a:lvl1pPr algn="l" defTabSz="457200" rtl="0" eaLnBrk="1" fontAlgn="base" hangingPunct="1">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1" fontAlgn="base" hangingPunct="1">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1" fontAlgn="base" hangingPunct="1">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1" fontAlgn="base" hangingPunct="1">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1" descr="ATail.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6" descr="\\localhost\Volumes\DMS-Server\Clients\Honeywell PPT \Honeywell - Freestanding Logos\Honeywell - Freestanding Logo RGB.png"/>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669463" y="6097588"/>
            <a:ext cx="18954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userDrawn="1"/>
        </p:nvSpPr>
        <p:spPr>
          <a:xfrm>
            <a:off x="5005388" y="1717675"/>
            <a:ext cx="1824037" cy="833438"/>
          </a:xfrm>
          <a:prstGeom prst="rect">
            <a:avLst/>
          </a:prstGeom>
        </p:spPr>
        <p:txBody>
          <a:bodyPr/>
          <a:lst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a:lstStyle>
          <a:p>
            <a:pPr>
              <a:defRPr/>
            </a:pPr>
            <a:r>
              <a:rPr lang="en-US" dirty="0">
                <a:solidFill>
                  <a:srgbClr val="FFFFFF"/>
                </a:solidFill>
                <a:latin typeface="Arial" charset="0"/>
              </a:rPr>
              <a:t>HUE</a:t>
            </a:r>
          </a:p>
        </p:txBody>
      </p:sp>
      <p:sp>
        <p:nvSpPr>
          <p:cNvPr id="2" name="Donut 1"/>
          <p:cNvSpPr/>
          <p:nvPr userDrawn="1"/>
        </p:nvSpPr>
        <p:spPr>
          <a:xfrm>
            <a:off x="4768850" y="1303338"/>
            <a:ext cx="1281113" cy="1281112"/>
          </a:xfrm>
          <a:prstGeom prst="donut">
            <a:avLst>
              <a:gd name="adj" fmla="val 4098"/>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94081" r:id="rId1"/>
    <p:sldLayoutId id="2147494090" r:id="rId2"/>
    <p:sldLayoutId id="2147494096" r:id="rId3"/>
    <p:sldLayoutId id="2147494103" r:id="rId4"/>
    <p:sldLayoutId id="2147494104" r:id="rId5"/>
  </p:sldLayoutIdLst>
  <p:hf hdr="0" ftr="0" dt="0"/>
  <p:txStyles>
    <p:title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0" fontAlgn="base" hangingPunct="0">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0" fontAlgn="base" hangingPunct="0">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0" fontAlgn="base" hangingPunct="0">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corner.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4288"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itle Placeholder 1"/>
          <p:cNvSpPr>
            <a:spLocks noGrp="1"/>
          </p:cNvSpPr>
          <p:nvPr>
            <p:ph type="title"/>
          </p:nvPr>
        </p:nvSpPr>
        <p:spPr bwMode="auto">
          <a:xfrm>
            <a:off x="368839" y="340410"/>
            <a:ext cx="104806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wrap="square" lIns="91440" tIns="45720" rIns="91440" bIns="45720" numCol="1" anchor="ctr" anchorCtr="0" compatLnSpc="1">
            <a:prstTxWarp prst="textNoShape">
              <a:avLst/>
            </a:prstTxWarp>
          </a:bodyPr>
          <a:lstStyle>
            <a:lvl1pPr>
              <a:defRPr sz="1100" b="1">
                <a:solidFill>
                  <a:schemeClr val="bg1"/>
                </a:solidFill>
              </a:defRPr>
            </a:lvl1pPr>
          </a:lstStyle>
          <a:p>
            <a:fld id="{2A8CB18A-F66A-0349-9EA4-9C9209B05FC4}" type="slidenum">
              <a:rPr lang="en-US" altLang="en-US"/>
              <a:pPr/>
              <a:t>‹#›</a:t>
            </a:fld>
            <a:endParaRPr lang="en-US" altLang="en-US"/>
          </a:p>
        </p:txBody>
      </p:sp>
      <p:pic>
        <p:nvPicPr>
          <p:cNvPr id="5125" name="Picture 10" descr="\\localhost\Volumes\DMS-Server\Clients\Honeywell PPT \Honeywell - Freestanding Logos\Honeywell - Freestanding Logo RGB.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0388600" y="6519863"/>
            <a:ext cx="13716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Rectangle 23"/>
          <p:cNvSpPr>
            <a:spLocks noChangeArrowheads="1"/>
          </p:cNvSpPr>
          <p:nvPr/>
        </p:nvSpPr>
        <p:spPr bwMode="auto">
          <a:xfrm>
            <a:off x="1123677" y="6558210"/>
            <a:ext cx="25177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700">
                <a:solidFill>
                  <a:srgbClr val="707070"/>
                </a:solidFill>
              </a:rPr>
              <a:t>© 2016 by Honeywell International Inc. </a:t>
            </a:r>
            <a:r>
              <a:rPr lang="en-US" altLang="en-US" sz="700" dirty="0">
                <a:solidFill>
                  <a:srgbClr val="707070"/>
                </a:solidFill>
              </a:rPr>
              <a:t>All rights reserved. </a:t>
            </a:r>
          </a:p>
        </p:txBody>
      </p:sp>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68839" y="6580188"/>
            <a:ext cx="578670" cy="186436"/>
          </a:xfrm>
          <a:prstGeom prst="rect">
            <a:avLst/>
          </a:prstGeom>
        </p:spPr>
      </p:pic>
    </p:spTree>
  </p:cSld>
  <p:clrMap bg1="lt1" tx1="dk1" bg2="lt2" tx2="dk2" accent1="accent1" accent2="accent2" accent3="accent3" accent4="accent4" accent5="accent5" accent6="accent6" hlink="hlink" folHlink="folHlink"/>
  <p:sldLayoutIdLst>
    <p:sldLayoutId id="2147494078" r:id="rId1"/>
    <p:sldLayoutId id="2147494082" r:id="rId2"/>
    <p:sldLayoutId id="2147494083" r:id="rId3"/>
    <p:sldLayoutId id="2147494079" r:id="rId4"/>
    <p:sldLayoutId id="2147494098" r:id="rId5"/>
    <p:sldLayoutId id="2147494101" r:id="rId6"/>
  </p:sldLayoutIdLst>
  <p:hf hdr="0" ftr="0" dt="0"/>
  <p:txStyles>
    <p:titleStyle>
      <a:lvl1pPr algn="l" defTabSz="457200" rtl="0" eaLnBrk="0" fontAlgn="base" hangingPunct="0">
        <a:spcBef>
          <a:spcPct val="0"/>
        </a:spcBef>
        <a:spcAft>
          <a:spcPct val="0"/>
        </a:spcAft>
        <a:defRPr lang="en-US" sz="2400" b="1" i="0" kern="1200" dirty="0">
          <a:solidFill>
            <a:schemeClr val="tx1"/>
          </a:solidFill>
          <a:latin typeface="Honeywell Sans" charset="0"/>
          <a:ea typeface="Honeywell Sans" charset="0"/>
          <a:cs typeface="Honeywell Sans"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1" descr="16-9 wTKaway.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207875"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1268" name="Rectangle 23"/>
          <p:cNvSpPr>
            <a:spLocks noChangeArrowheads="1"/>
          </p:cNvSpPr>
          <p:nvPr/>
        </p:nvSpPr>
        <p:spPr bwMode="auto">
          <a:xfrm>
            <a:off x="730250" y="6164263"/>
            <a:ext cx="25177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700">
                <a:solidFill>
                  <a:srgbClr val="707070"/>
                </a:solidFill>
              </a:rPr>
              <a:t>© 2016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wrap="square" lIns="91440" tIns="45720" rIns="91440" bIns="45720" numCol="1" anchor="ctr" anchorCtr="0" compatLnSpc="1">
            <a:prstTxWarp prst="textNoShape">
              <a:avLst/>
            </a:prstTxWarp>
          </a:bodyPr>
          <a:lstStyle>
            <a:lvl1pPr>
              <a:defRPr sz="1100" b="1">
                <a:solidFill>
                  <a:schemeClr val="bg1"/>
                </a:solidFill>
              </a:defRPr>
            </a:lvl1pPr>
          </a:lstStyle>
          <a:p>
            <a:fld id="{565D113E-1FDA-DC45-9CDC-9509235C1AF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94085" r:id="rId1"/>
    <p:sldLayoutId id="2147494086" r:id="rId2"/>
    <p:sldLayoutId id="2147494087" r:id="rId3"/>
    <p:sldLayoutId id="2147494088" r:id="rId4"/>
  </p:sldLayoutIdLst>
  <p:hf hdr="0" ftr="0" dt="0"/>
  <p:txStyles>
    <p:titleStyle>
      <a:lvl1pPr algn="l" defTabSz="457200" rtl="0" eaLnBrk="0" fontAlgn="base" hangingPunct="0">
        <a:spcBef>
          <a:spcPct val="0"/>
        </a:spcBef>
        <a:spcAft>
          <a:spcPct val="0"/>
        </a:spcAft>
        <a:defRPr lang="en-US" sz="2800" b="1" kern="1200" dirty="0">
          <a:solidFill>
            <a:schemeClr val="tx1"/>
          </a:solidFill>
          <a:latin typeface="Arial" pitchFamily="34" charset="0"/>
          <a:ea typeface="ＭＳ Ｐゴシック" charset="0"/>
          <a:cs typeface="Arial" pitchFamily="34"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386" name="Picture 4" descr="ATai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9938"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4" descr="Corner-01 copy.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4310063"/>
            <a:ext cx="12192000"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2" descr="\\localhost\Volumes\DMS-Server\Clients\Honeywell PPT \Honeywell - Freestanding Logos\Honeywell - Freestanding Logo RGB.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669463" y="6199188"/>
            <a:ext cx="190023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4089" r:id="rId1"/>
  </p:sldLayoutIdLst>
  <p:hf hdr="0" ftr="0" dt="0"/>
  <p:txStyles>
    <p:title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0" fontAlgn="base" hangingPunct="0">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0" fontAlgn="base" hangingPunct="0">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0" fontAlgn="base" hangingPunct="0">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hyperlink" Target="http://designingwebinterfaces.com/6-tips-for-a-great-flex-ux-part-5" TargetMode="External"/><Relationship Id="rId2" Type="http://schemas.openxmlformats.org/officeDocument/2006/relationships/hyperlink" Target="http://www.asktog.com/basics/firstPrinciples.html" TargetMode="External"/><Relationship Id="rId1" Type="http://schemas.openxmlformats.org/officeDocument/2006/relationships/slideLayout" Target="../slideLayouts/slideLayout10.xml"/><Relationship Id="rId6" Type="http://schemas.openxmlformats.org/officeDocument/2006/relationships/hyperlink" Target="http://www.nngroup.com/books/usability-inspection-methods/" TargetMode="External"/><Relationship Id="rId5" Type="http://schemas.openxmlformats.org/officeDocument/2006/relationships/hyperlink" Target="http://www.nngroup.com/reports/" TargetMode="External"/><Relationship Id="rId4" Type="http://schemas.openxmlformats.org/officeDocument/2006/relationships/hyperlink" Target="http://www.zenhaiku.com/archives/000053.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Placeholder 4"/>
          <p:cNvSpPr>
            <a:spLocks noGrp="1"/>
          </p:cNvSpPr>
          <p:nvPr>
            <p:ph type="body" sz="quarter" idx="12"/>
          </p:nvPr>
        </p:nvSpPr>
        <p:spPr bwMode="auto">
          <a:xfrm>
            <a:off x="2926398" y="5797899"/>
            <a:ext cx="6616700" cy="891222"/>
          </a:xfrm>
          <a:extLst/>
        </p:spPr>
        <p:txBody>
          <a:bodyPr vert="horz" anchor="ctr"/>
          <a:lstStyle/>
          <a:p>
            <a:pPr marL="0" indent="0"/>
            <a:r>
              <a:rPr lang="en-US" dirty="0"/>
              <a:t>Heuristic Evaluation </a:t>
            </a:r>
            <a:br>
              <a:rPr lang="en-US" dirty="0"/>
            </a:br>
            <a:r>
              <a:rPr lang="en-US" sz="1800" dirty="0">
                <a:solidFill>
                  <a:schemeClr val="bg1">
                    <a:lumMod val="65000"/>
                  </a:schemeClr>
                </a:solidFill>
              </a:rPr>
              <a:t>Results Presentation Template</a:t>
            </a:r>
            <a:endParaRPr lang="en-US" altLang="en-US" dirty="0">
              <a:solidFill>
                <a:schemeClr val="bg1">
                  <a:lumMod val="65000"/>
                </a:schemeClr>
              </a:solidFill>
              <a:latin typeface="Honeywell Sans" charset="0"/>
              <a:ea typeface="Honeywell Sans" charset="0"/>
              <a:cs typeface="Honeywell Sans" charset="0"/>
            </a:endParaRPr>
          </a:p>
        </p:txBody>
      </p:sp>
      <p:sp>
        <p:nvSpPr>
          <p:cNvPr id="20483" name="Content Placeholder 1"/>
          <p:cNvSpPr>
            <a:spLocks noGrp="1"/>
          </p:cNvSpPr>
          <p:nvPr>
            <p:ph sz="quarter" idx="10"/>
          </p:nvPr>
        </p:nvSpPr>
        <p:spPr bwMode="auto">
          <a:xfrm>
            <a:off x="266700" y="6482079"/>
            <a:ext cx="1335958" cy="236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p>
            <a:pPr marL="0" indent="0" algn="l"/>
            <a:r>
              <a:rPr lang="en-US" altLang="en-US" dirty="0">
                <a:solidFill>
                  <a:srgbClr val="595959"/>
                </a:solidFill>
                <a:latin typeface="Honeywell Sans" charset="0"/>
                <a:ea typeface="Honeywell Sans" charset="0"/>
                <a:cs typeface="Honeywell Sans" charset="0"/>
              </a:rPr>
              <a:t>IT   HUE</a:t>
            </a:r>
          </a:p>
        </p:txBody>
      </p:sp>
      <p:sp>
        <p:nvSpPr>
          <p:cNvPr id="20484" name="Text Placeholder 3"/>
          <p:cNvSpPr>
            <a:spLocks noGrp="1"/>
          </p:cNvSpPr>
          <p:nvPr>
            <p:ph type="body" sz="quarter" idx="11"/>
          </p:nvPr>
        </p:nvSpPr>
        <p:spPr bwMode="auto">
          <a:xfrm>
            <a:off x="266700" y="6081201"/>
            <a:ext cx="2482850" cy="2492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p>
            <a:pPr marL="0" indent="0"/>
            <a:r>
              <a:rPr lang="en-US" altLang="en-US" dirty="0">
                <a:solidFill>
                  <a:srgbClr val="595959"/>
                </a:solidFill>
                <a:latin typeface="Honeywell Sans" charset="0"/>
                <a:ea typeface="Honeywell Sans" charset="0"/>
                <a:cs typeface="Honeywell Sans" charset="0"/>
              </a:rPr>
              <a:t>Dec 2016</a:t>
            </a:r>
          </a:p>
        </p:txBody>
      </p:sp>
      <p:sp>
        <p:nvSpPr>
          <p:cNvPr id="20485" name="Slide Number Placeholder 3"/>
          <p:cNvSpPr>
            <a:spLocks noGrp="1"/>
          </p:cNvSpPr>
          <p:nvPr>
            <p:ph type="sldNum" sz="quarter" idx="4294967295"/>
          </p:nvPr>
        </p:nvSpPr>
        <p:spPr bwMode="auto">
          <a:xfrm>
            <a:off x="11517313" y="0"/>
            <a:ext cx="67468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76B4F42D-98EE-4A47-AEDA-D0FFDA8DDBEF}" type="slidenum">
              <a:rPr lang="en-US" altLang="en-US" sz="1100">
                <a:solidFill>
                  <a:schemeClr val="bg1"/>
                </a:solidFill>
              </a:rPr>
              <a:pPr eaLnBrk="1" hangingPunct="1"/>
              <a:t>0</a:t>
            </a:fld>
            <a:endParaRPr lang="en-US" altLang="en-US" sz="1100">
              <a:solidFill>
                <a:schemeClr val="bg1"/>
              </a:solidFill>
            </a:endParaRPr>
          </a:p>
        </p:txBody>
      </p:sp>
      <p:cxnSp>
        <p:nvCxnSpPr>
          <p:cNvPr id="3" name="Straight Connector 2"/>
          <p:cNvCxnSpPr/>
          <p:nvPr/>
        </p:nvCxnSpPr>
        <p:spPr>
          <a:xfrm>
            <a:off x="589935" y="6558116"/>
            <a:ext cx="0" cy="160501"/>
          </a:xfrm>
          <a:prstGeom prst="line">
            <a:avLst/>
          </a:prstGeom>
          <a:ln w="19050" cmpd="sng">
            <a:solidFill>
              <a:schemeClr val="accent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Table of Contents</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45" name="Content Placeholder 2"/>
          <p:cNvSpPr txBox="1">
            <a:spLocks/>
          </p:cNvSpPr>
          <p:nvPr/>
        </p:nvSpPr>
        <p:spPr>
          <a:xfrm>
            <a:off x="458348" y="1347788"/>
            <a:ext cx="8997950" cy="3752531"/>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buClr>
                <a:srgbClr val="FF0000"/>
              </a:buClr>
            </a:pPr>
            <a:r>
              <a:rPr lang="en-US" altLang="en-US" dirty="0">
                <a:latin typeface="Honeywell Sans Medium" charset="0"/>
                <a:ea typeface="Honeywell Sans Medium" charset="0"/>
                <a:cs typeface="Honeywell Sans Medium" charset="0"/>
              </a:rPr>
              <a:t>Objective</a:t>
            </a:r>
          </a:p>
          <a:p>
            <a:pPr>
              <a:lnSpc>
                <a:spcPct val="150000"/>
              </a:lnSpc>
              <a:buClr>
                <a:srgbClr val="FF0000"/>
              </a:buClr>
            </a:pPr>
            <a:r>
              <a:rPr lang="en-US" altLang="en-US" dirty="0">
                <a:latin typeface="Honeywell Sans Medium" charset="0"/>
                <a:ea typeface="Honeywell Sans Medium" charset="0"/>
                <a:cs typeface="Honeywell Sans Medium" charset="0"/>
              </a:rPr>
              <a:t>Executive Summary</a:t>
            </a:r>
          </a:p>
          <a:p>
            <a:pPr>
              <a:lnSpc>
                <a:spcPct val="150000"/>
              </a:lnSpc>
              <a:buClr>
                <a:srgbClr val="FF0000"/>
              </a:buClr>
            </a:pPr>
            <a:r>
              <a:rPr lang="en-US" altLang="en-US" dirty="0">
                <a:latin typeface="Honeywell Sans Medium" charset="0"/>
                <a:ea typeface="Honeywell Sans Medium" charset="0"/>
                <a:cs typeface="Honeywell Sans Medium" charset="0"/>
              </a:rPr>
              <a:t>Product Information</a:t>
            </a:r>
          </a:p>
          <a:p>
            <a:pPr>
              <a:lnSpc>
                <a:spcPct val="150000"/>
              </a:lnSpc>
              <a:buClr>
                <a:srgbClr val="FF0000"/>
              </a:buClr>
            </a:pPr>
            <a:r>
              <a:rPr lang="en-US" altLang="en-US" dirty="0">
                <a:latin typeface="Honeywell Sans Medium" charset="0"/>
                <a:ea typeface="Honeywell Sans Medium" charset="0"/>
                <a:cs typeface="Honeywell Sans Medium" charset="0"/>
              </a:rPr>
              <a:t>System Usability Scale Assessment</a:t>
            </a:r>
          </a:p>
          <a:p>
            <a:pPr>
              <a:lnSpc>
                <a:spcPct val="150000"/>
              </a:lnSpc>
              <a:buClr>
                <a:srgbClr val="FF0000"/>
              </a:buClr>
            </a:pPr>
            <a:r>
              <a:rPr lang="en-US" altLang="en-US" dirty="0">
                <a:latin typeface="Honeywell Sans Medium" charset="0"/>
                <a:ea typeface="Honeywell Sans Medium" charset="0"/>
                <a:cs typeface="Honeywell Sans Medium" charset="0"/>
              </a:rPr>
              <a:t>Heuristic Evaluation Methodology and Findings</a:t>
            </a:r>
          </a:p>
          <a:p>
            <a:pPr>
              <a:lnSpc>
                <a:spcPct val="150000"/>
              </a:lnSpc>
              <a:buClr>
                <a:srgbClr val="FF0000"/>
              </a:buClr>
            </a:pPr>
            <a:r>
              <a:rPr lang="en-US" altLang="en-US" dirty="0">
                <a:latin typeface="Honeywell Sans Medium" charset="0"/>
                <a:ea typeface="Honeywell Sans Medium" charset="0"/>
                <a:cs typeface="Honeywell Sans Medium" charset="0"/>
              </a:rPr>
              <a:t>Next Steps</a:t>
            </a:r>
          </a:p>
          <a:p>
            <a:pPr>
              <a:lnSpc>
                <a:spcPct val="150000"/>
              </a:lnSpc>
              <a:buClr>
                <a:srgbClr val="FF0000"/>
              </a:buClr>
            </a:pPr>
            <a:r>
              <a:rPr lang="en-US" altLang="en-US" dirty="0">
                <a:latin typeface="Honeywell Sans Medium" charset="0"/>
                <a:ea typeface="Honeywell Sans Medium" charset="0"/>
                <a:cs typeface="Honeywell Sans Medium" charset="0"/>
              </a:rPr>
              <a:t>References</a:t>
            </a:r>
          </a:p>
          <a:p>
            <a:pPr>
              <a:lnSpc>
                <a:spcPct val="150000"/>
              </a:lnSpc>
              <a:buClr>
                <a:srgbClr val="FF0000"/>
              </a:buClr>
            </a:pPr>
            <a:endParaRPr lang="en-US" altLang="en-US" dirty="0">
              <a:latin typeface="Honeywell Sans Medium" charset="0"/>
              <a:ea typeface="Honeywell Sans Medium" charset="0"/>
              <a:cs typeface="Honeywell Sans Medium" charset="0"/>
            </a:endParaRPr>
          </a:p>
        </p:txBody>
      </p:sp>
    </p:spTree>
    <p:extLst>
      <p:ext uri="{BB962C8B-B14F-4D97-AF65-F5344CB8AC3E}">
        <p14:creationId xmlns:p14="http://schemas.microsoft.com/office/powerpoint/2010/main" val="102665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Objective</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2</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p:cNvSpPr txBox="1">
            <a:spLocks/>
          </p:cNvSpPr>
          <p:nvPr/>
        </p:nvSpPr>
        <p:spPr>
          <a:xfrm>
            <a:off x="458348" y="1274014"/>
            <a:ext cx="8997950" cy="5268710"/>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Tx/>
              <a:buNone/>
              <a:defRPr/>
            </a:pPr>
            <a:r>
              <a:rPr lang="en-US" dirty="0">
                <a:latin typeface="Honeywell Sans Medium" charset="0"/>
                <a:ea typeface="Honeywell Sans Medium" charset="0"/>
                <a:cs typeface="Honeywell Sans Medium" charset="0"/>
              </a:rPr>
              <a:t>The purpose of this document is to identify and recommend solutions to the most critical problems found during the user experience (heuristic) evaluation of ____ project.</a:t>
            </a:r>
          </a:p>
          <a:p>
            <a:pPr>
              <a:buFontTx/>
              <a:buNone/>
              <a:defRPr/>
            </a:pPr>
            <a:endParaRPr lang="en-US" dirty="0">
              <a:latin typeface="Honeywell Sans Medium" charset="0"/>
              <a:ea typeface="Honeywell Sans Medium" charset="0"/>
              <a:cs typeface="Honeywell Sans Medium" charset="0"/>
            </a:endParaRPr>
          </a:p>
          <a:p>
            <a:pPr>
              <a:spcAft>
                <a:spcPts val="600"/>
              </a:spcAft>
              <a:buFontTx/>
              <a:buNone/>
              <a:defRPr/>
            </a:pPr>
            <a:r>
              <a:rPr lang="en-US" dirty="0">
                <a:latin typeface="Honeywell Sans" charset="0"/>
                <a:ea typeface="Honeywell Sans" charset="0"/>
                <a:cs typeface="Honeywell Sans" charset="0"/>
              </a:rPr>
              <a:t>This evaluation includes the following components:</a:t>
            </a:r>
          </a:p>
          <a:p>
            <a:pPr lvl="1">
              <a:spcAft>
                <a:spcPts val="600"/>
              </a:spcAft>
              <a:buClr>
                <a:srgbClr val="FF0000"/>
              </a:buClr>
              <a:buFont typeface="Arial" charset="0"/>
              <a:buChar char="•"/>
              <a:defRPr/>
            </a:pPr>
            <a:r>
              <a:rPr lang="en-US" dirty="0">
                <a:latin typeface="Honeywell Sans Medium" charset="0"/>
                <a:ea typeface="Honeywell Sans Medium" charset="0"/>
                <a:cs typeface="Honeywell Sans Medium" charset="0"/>
              </a:rPr>
              <a:t>Product Information</a:t>
            </a:r>
          </a:p>
          <a:p>
            <a:pPr lvl="1">
              <a:spcAft>
                <a:spcPts val="600"/>
              </a:spcAft>
              <a:buClr>
                <a:srgbClr val="FF0000"/>
              </a:buClr>
              <a:buFont typeface="Arial" charset="0"/>
              <a:buChar char="•"/>
              <a:defRPr/>
            </a:pPr>
            <a:r>
              <a:rPr lang="en-US" dirty="0">
                <a:latin typeface="Honeywell Sans Medium" charset="0"/>
                <a:ea typeface="Honeywell Sans Medium" charset="0"/>
                <a:cs typeface="Honeywell Sans Medium" charset="0"/>
              </a:rPr>
              <a:t>User profiles</a:t>
            </a:r>
          </a:p>
          <a:p>
            <a:pPr lvl="1">
              <a:spcAft>
                <a:spcPts val="600"/>
              </a:spcAft>
              <a:buClr>
                <a:srgbClr val="FF0000"/>
              </a:buClr>
              <a:buFont typeface="Arial" charset="0"/>
              <a:buChar char="•"/>
              <a:defRPr/>
            </a:pPr>
            <a:r>
              <a:rPr lang="en-US" dirty="0">
                <a:latin typeface="Honeywell Sans Medium" charset="0"/>
                <a:ea typeface="Honeywell Sans Medium" charset="0"/>
                <a:cs typeface="Honeywell Sans Medium" charset="0"/>
              </a:rPr>
              <a:t>Key user tasks</a:t>
            </a:r>
          </a:p>
          <a:p>
            <a:pPr lvl="1">
              <a:spcAft>
                <a:spcPts val="600"/>
              </a:spcAft>
              <a:buClr>
                <a:srgbClr val="FF0000"/>
              </a:buClr>
              <a:buFont typeface="Arial" charset="0"/>
              <a:buChar char="•"/>
              <a:defRPr/>
            </a:pPr>
            <a:r>
              <a:rPr lang="en-US" dirty="0">
                <a:latin typeface="Honeywell Sans Medium" charset="0"/>
                <a:ea typeface="Honeywell Sans Medium" charset="0"/>
                <a:cs typeface="Honeywell Sans Medium" charset="0"/>
              </a:rPr>
              <a:t>Baseline SUS</a:t>
            </a:r>
          </a:p>
          <a:p>
            <a:pPr lvl="1">
              <a:spcAft>
                <a:spcPts val="600"/>
              </a:spcAft>
              <a:buClr>
                <a:srgbClr val="FF0000"/>
              </a:buClr>
              <a:buFont typeface="Arial" charset="0"/>
              <a:buChar char="•"/>
              <a:defRPr/>
            </a:pPr>
            <a:r>
              <a:rPr lang="en-US" dirty="0">
                <a:latin typeface="Honeywell Sans Medium" charset="0"/>
                <a:ea typeface="Honeywell Sans Medium" charset="0"/>
                <a:cs typeface="Honeywell Sans Medium" charset="0"/>
              </a:rPr>
              <a:t>Heuristic Evaluation</a:t>
            </a:r>
          </a:p>
          <a:p>
            <a:pPr lvl="1">
              <a:spcAft>
                <a:spcPts val="600"/>
              </a:spcAft>
              <a:buClr>
                <a:srgbClr val="FF0000"/>
              </a:buClr>
              <a:buFont typeface="Arial" charset="0"/>
              <a:buChar char="•"/>
              <a:defRPr/>
            </a:pPr>
            <a:r>
              <a:rPr lang="en-US" dirty="0">
                <a:latin typeface="Honeywell Sans Medium" charset="0"/>
                <a:ea typeface="Honeywell Sans Medium" charset="0"/>
                <a:cs typeface="Honeywell Sans Medium" charset="0"/>
              </a:rPr>
              <a:t>Prioritized Recommendations</a:t>
            </a:r>
          </a:p>
          <a:p>
            <a:pPr lvl="1">
              <a:spcAft>
                <a:spcPts val="600"/>
              </a:spcAft>
              <a:buClr>
                <a:srgbClr val="FF0000"/>
              </a:buClr>
              <a:buFont typeface="Arial" charset="0"/>
              <a:buChar char="•"/>
              <a:defRPr/>
            </a:pPr>
            <a:r>
              <a:rPr lang="en-US" dirty="0">
                <a:latin typeface="Honeywell Sans Medium" charset="0"/>
                <a:ea typeface="Honeywell Sans Medium" charset="0"/>
                <a:cs typeface="Honeywell Sans Medium" charset="0"/>
              </a:rPr>
              <a:t>Final SUS (to be conducted pre-launch)</a:t>
            </a:r>
          </a:p>
          <a:p>
            <a:pPr>
              <a:defRPr/>
            </a:pPr>
            <a:endParaRPr lang="en-US" dirty="0">
              <a:latin typeface="Honeywell Sans Medium" charset="0"/>
              <a:ea typeface="Honeywell Sans Medium" charset="0"/>
              <a:cs typeface="Honeywell Sans Medium" charset="0"/>
            </a:endParaRPr>
          </a:p>
          <a:p>
            <a:pPr>
              <a:defRPr/>
            </a:pPr>
            <a:endParaRPr lang="en-US" dirty="0">
              <a:latin typeface="Honeywell Sans Medium" charset="0"/>
              <a:ea typeface="Honeywell Sans Medium" charset="0"/>
              <a:cs typeface="Honeywell Sans Medium" charset="0"/>
            </a:endParaRPr>
          </a:p>
        </p:txBody>
      </p:sp>
    </p:spTree>
    <p:extLst>
      <p:ext uri="{BB962C8B-B14F-4D97-AF65-F5344CB8AC3E}">
        <p14:creationId xmlns:p14="http://schemas.microsoft.com/office/powerpoint/2010/main" val="368255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Executive Summary</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3</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p:cNvSpPr txBox="1">
            <a:spLocks/>
          </p:cNvSpPr>
          <p:nvPr/>
        </p:nvSpPr>
        <p:spPr>
          <a:xfrm>
            <a:off x="458348" y="1192734"/>
            <a:ext cx="10707492" cy="3206546"/>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Tx/>
              <a:buNone/>
              <a:defRPr/>
            </a:pPr>
            <a:r>
              <a:rPr lang="en-US" dirty="0">
                <a:latin typeface="Honeywell Sans Medium" charset="0"/>
                <a:ea typeface="Honeywell Sans Medium" charset="0"/>
                <a:cs typeface="Honeywell Sans Medium" charset="0"/>
              </a:rPr>
              <a:t>High level summary of findings &amp; recommendations</a:t>
            </a:r>
          </a:p>
          <a:p>
            <a:pPr>
              <a:buFontTx/>
              <a:buNone/>
              <a:defRPr/>
            </a:pPr>
            <a:r>
              <a:rPr lang="en-US" sz="1800" dirty="0">
                <a:solidFill>
                  <a:schemeClr val="bg1">
                    <a:lumMod val="50000"/>
                  </a:schemeClr>
                </a:solidFill>
                <a:latin typeface="Honeywell Sans Medium" charset="0"/>
                <a:ea typeface="Honeywell Sans Medium" charset="0"/>
                <a:cs typeface="Honeywell Sans Medium" charset="0"/>
              </a:rPr>
              <a:t>[Summary statement of how the interface performed goes here .</a:t>
            </a:r>
          </a:p>
          <a:p>
            <a:pPr>
              <a:buFontTx/>
              <a:buNone/>
              <a:defRPr/>
            </a:pPr>
            <a:r>
              <a:rPr lang="en-US" sz="1800" dirty="0">
                <a:solidFill>
                  <a:schemeClr val="bg1">
                    <a:lumMod val="50000"/>
                  </a:schemeClr>
                </a:solidFill>
                <a:latin typeface="Honeywell Sans Medium" charset="0"/>
                <a:ea typeface="Honeywell Sans Medium" charset="0"/>
                <a:cs typeface="Honeywell Sans Medium" charset="0"/>
              </a:rPr>
              <a:t>Example: During the review of the XYZ tool, 4 critical and 5 major issues were found</a:t>
            </a:r>
          </a:p>
          <a:p>
            <a:pPr>
              <a:buFontTx/>
              <a:buNone/>
              <a:defRPr/>
            </a:pPr>
            <a:r>
              <a:rPr lang="en-US" sz="1800" dirty="0">
                <a:solidFill>
                  <a:schemeClr val="bg1">
                    <a:lumMod val="50000"/>
                  </a:schemeClr>
                </a:solidFill>
                <a:latin typeface="Honeywell Sans Medium" charset="0"/>
                <a:ea typeface="Honeywell Sans Medium" charset="0"/>
                <a:cs typeface="Honeywell Sans Medium" charset="0"/>
              </a:rPr>
              <a:t>which can be broadly categorized into the following-</a:t>
            </a:r>
          </a:p>
          <a:p>
            <a:pPr>
              <a:buClr>
                <a:srgbClr val="FF0000"/>
              </a:buClr>
              <a:defRPr/>
            </a:pPr>
            <a:r>
              <a:rPr lang="en-US" dirty="0">
                <a:solidFill>
                  <a:schemeClr val="bg1">
                    <a:lumMod val="50000"/>
                  </a:schemeClr>
                </a:solidFill>
                <a:latin typeface="Honeywell Sans Medium" charset="0"/>
                <a:ea typeface="Honeywell Sans Medium" charset="0"/>
                <a:cs typeface="Honeywell Sans Medium" charset="0"/>
              </a:rPr>
              <a:t>   </a:t>
            </a:r>
            <a:r>
              <a:rPr lang="en-US" sz="1800" dirty="0">
                <a:latin typeface="Honeywell Sans Medium" charset="0"/>
                <a:ea typeface="Honeywell Sans Medium" charset="0"/>
                <a:cs typeface="Honeywell Sans Medium" charset="0"/>
              </a:rPr>
              <a:t>Information architecture is not task based</a:t>
            </a:r>
          </a:p>
          <a:p>
            <a:pPr>
              <a:buClr>
                <a:srgbClr val="FF0000"/>
              </a:buClr>
              <a:defRPr/>
            </a:pPr>
            <a:r>
              <a:rPr lang="en-US" sz="1800" dirty="0">
                <a:latin typeface="Honeywell Sans Medium" charset="0"/>
                <a:ea typeface="Honeywell Sans Medium" charset="0"/>
                <a:cs typeface="Honeywell Sans Medium" charset="0"/>
              </a:rPr>
              <a:t>   Pages layouts are not optimized</a:t>
            </a:r>
          </a:p>
          <a:p>
            <a:pPr>
              <a:buClr>
                <a:srgbClr val="FF0000"/>
              </a:buClr>
              <a:defRPr/>
            </a:pPr>
            <a:r>
              <a:rPr lang="en-US" sz="1800" dirty="0">
                <a:latin typeface="Honeywell Sans Medium" charset="0"/>
                <a:ea typeface="Honeywell Sans Medium" charset="0"/>
                <a:cs typeface="Honeywell Sans Medium" charset="0"/>
              </a:rPr>
              <a:t>   Content is written with technical jargons]</a:t>
            </a:r>
          </a:p>
          <a:p>
            <a:pPr>
              <a:buFontTx/>
              <a:buNone/>
              <a:defRPr/>
            </a:pPr>
            <a:endParaRPr lang="en-US" dirty="0">
              <a:latin typeface="Honeywell Sans Medium" charset="0"/>
              <a:ea typeface="Honeywell Sans Medium" charset="0"/>
              <a:cs typeface="Honeywell Sans Medium" charset="0"/>
            </a:endParaRPr>
          </a:p>
          <a:p>
            <a:pPr>
              <a:defRPr/>
            </a:pPr>
            <a:endParaRPr lang="en-US" dirty="0">
              <a:latin typeface="Honeywell Sans Medium" charset="0"/>
              <a:ea typeface="Honeywell Sans Medium" charset="0"/>
              <a:cs typeface="Honeywell Sans Medium" charset="0"/>
            </a:endParaRPr>
          </a:p>
          <a:p>
            <a:pPr>
              <a:defRPr/>
            </a:pPr>
            <a:endParaRPr lang="en-US" dirty="0">
              <a:latin typeface="Honeywell Sans Medium" charset="0"/>
              <a:ea typeface="Honeywell Sans Medium" charset="0"/>
              <a:cs typeface="Honeywell Sans Medium" charset="0"/>
            </a:endParaRPr>
          </a:p>
        </p:txBody>
      </p:sp>
      <p:sp>
        <p:nvSpPr>
          <p:cNvPr id="4" name="Rectangle 3"/>
          <p:cNvSpPr/>
          <p:nvPr/>
        </p:nvSpPr>
        <p:spPr>
          <a:xfrm>
            <a:off x="458348" y="4295616"/>
            <a:ext cx="6096000" cy="1477328"/>
          </a:xfrm>
          <a:prstGeom prst="rect">
            <a:avLst/>
          </a:prstGeom>
        </p:spPr>
        <p:txBody>
          <a:bodyPr>
            <a:spAutoFit/>
          </a:bodyPr>
          <a:lstStyle/>
          <a:p>
            <a:pPr>
              <a:buFontTx/>
              <a:buNone/>
              <a:defRPr/>
            </a:pPr>
            <a:r>
              <a:rPr lang="en-US" dirty="0">
                <a:latin typeface="Honeywell Sans Medium" charset="0"/>
                <a:ea typeface="Honeywell Sans Medium" charset="0"/>
                <a:cs typeface="Honeywell Sans Medium" charset="0"/>
              </a:rPr>
              <a:t>Baseline SUS Score is within [</a:t>
            </a:r>
            <a:r>
              <a:rPr lang="en-US" dirty="0">
                <a:solidFill>
                  <a:schemeClr val="bg1">
                    <a:lumMod val="50000"/>
                  </a:schemeClr>
                </a:solidFill>
                <a:latin typeface="Honeywell Sans" charset="0"/>
                <a:ea typeface="Honeywell Sans" charset="0"/>
                <a:cs typeface="Honeywell Sans" charset="0"/>
              </a:rPr>
              <a:t>not acceptable</a:t>
            </a:r>
            <a:r>
              <a:rPr lang="en-US" dirty="0">
                <a:latin typeface="Honeywell Sans Medium" charset="0"/>
                <a:ea typeface="Honeywell Sans Medium" charset="0"/>
                <a:cs typeface="Honeywell Sans Medium" charset="0"/>
              </a:rPr>
              <a:t>] range</a:t>
            </a:r>
          </a:p>
          <a:p>
            <a:pPr>
              <a:buFontTx/>
              <a:buNone/>
              <a:defRPr/>
            </a:pPr>
            <a:endParaRPr lang="en-US" dirty="0">
              <a:solidFill>
                <a:srgbClr val="FF0000"/>
              </a:solidFill>
              <a:latin typeface="Honeywell Sans Medium" charset="0"/>
              <a:ea typeface="Honeywell Sans Medium" charset="0"/>
              <a:cs typeface="Honeywell Sans Medium" charset="0"/>
            </a:endParaRPr>
          </a:p>
          <a:p>
            <a:pPr>
              <a:buFontTx/>
              <a:buNone/>
              <a:defRPr/>
            </a:pPr>
            <a:r>
              <a:rPr lang="en-US" dirty="0">
                <a:latin typeface="Honeywell Sans Medium" charset="0"/>
                <a:ea typeface="Honeywell Sans Medium" charset="0"/>
                <a:cs typeface="Honeywell Sans Medium" charset="0"/>
              </a:rPr>
              <a:t>Areas of strengths </a:t>
            </a:r>
          </a:p>
          <a:p>
            <a:pPr>
              <a:buFontTx/>
              <a:buNone/>
              <a:defRPr/>
            </a:pPr>
            <a:r>
              <a:rPr lang="en-US" dirty="0">
                <a:solidFill>
                  <a:schemeClr val="bg1">
                    <a:lumMod val="50000"/>
                  </a:schemeClr>
                </a:solidFill>
                <a:latin typeface="Honeywell Sans" charset="0"/>
                <a:ea typeface="Honeywell Sans" charset="0"/>
                <a:cs typeface="Honeywell Sans" charset="0"/>
              </a:rPr>
              <a:t>[Example: The tool is feature rich and supports all major user roles ]</a:t>
            </a:r>
          </a:p>
        </p:txBody>
      </p:sp>
    </p:spTree>
    <p:extLst>
      <p:ext uri="{BB962C8B-B14F-4D97-AF65-F5344CB8AC3E}">
        <p14:creationId xmlns:p14="http://schemas.microsoft.com/office/powerpoint/2010/main" val="655880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Summary of Recommendations</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4</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39" name="TextBox 8"/>
          <p:cNvSpPr txBox="1">
            <a:spLocks noChangeArrowheads="1"/>
          </p:cNvSpPr>
          <p:nvPr/>
        </p:nvSpPr>
        <p:spPr bwMode="auto">
          <a:xfrm>
            <a:off x="3630173" y="5932561"/>
            <a:ext cx="12096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ltLang="en-US" sz="1200" dirty="0"/>
              <a:t>Level Of Effort</a:t>
            </a:r>
          </a:p>
        </p:txBody>
      </p:sp>
      <p:grpSp>
        <p:nvGrpSpPr>
          <p:cNvPr id="40" name="Group 18"/>
          <p:cNvGrpSpPr>
            <a:grpSpLocks/>
          </p:cNvGrpSpPr>
          <p:nvPr/>
        </p:nvGrpSpPr>
        <p:grpSpPr bwMode="auto">
          <a:xfrm>
            <a:off x="458349" y="1074811"/>
            <a:ext cx="7631112" cy="4979988"/>
            <a:chOff x="598949" y="1174721"/>
            <a:chExt cx="7630651" cy="4982095"/>
          </a:xfrm>
        </p:grpSpPr>
        <p:cxnSp>
          <p:nvCxnSpPr>
            <p:cNvPr id="41" name="Straight Arrow Connector 10"/>
            <p:cNvCxnSpPr>
              <a:cxnSpLocks noChangeShapeType="1"/>
            </p:cNvCxnSpPr>
            <p:nvPr/>
          </p:nvCxnSpPr>
          <p:spPr bwMode="auto">
            <a:xfrm>
              <a:off x="1079500" y="5880100"/>
              <a:ext cx="7150100"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 name="Straight Arrow Connector 11"/>
            <p:cNvCxnSpPr>
              <a:cxnSpLocks noChangeShapeType="1"/>
            </p:cNvCxnSpPr>
            <p:nvPr/>
          </p:nvCxnSpPr>
          <p:spPr bwMode="auto">
            <a:xfrm flipV="1">
              <a:off x="1092200" y="1193800"/>
              <a:ext cx="0" cy="46863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 name="Straight Connector 12"/>
            <p:cNvCxnSpPr>
              <a:cxnSpLocks noChangeShapeType="1"/>
            </p:cNvCxnSpPr>
            <p:nvPr/>
          </p:nvCxnSpPr>
          <p:spPr bwMode="auto">
            <a:xfrm>
              <a:off x="1117600" y="3759582"/>
              <a:ext cx="6972300"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cxnSp>
        <p:cxnSp>
          <p:nvCxnSpPr>
            <p:cNvPr id="44" name="Straight Connector 13"/>
            <p:cNvCxnSpPr>
              <a:cxnSpLocks noChangeShapeType="1"/>
            </p:cNvCxnSpPr>
            <p:nvPr/>
          </p:nvCxnSpPr>
          <p:spPr bwMode="auto">
            <a:xfrm flipV="1">
              <a:off x="4402766" y="1219200"/>
              <a:ext cx="0" cy="46609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cxnSp>
        <p:sp>
          <p:nvSpPr>
            <p:cNvPr id="45" name="TextBox 14"/>
            <p:cNvSpPr txBox="1">
              <a:spLocks noChangeArrowheads="1"/>
            </p:cNvSpPr>
            <p:nvPr/>
          </p:nvSpPr>
          <p:spPr bwMode="auto">
            <a:xfrm rot="16200000">
              <a:off x="65337" y="3288399"/>
              <a:ext cx="1344206" cy="27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r>
                <a:rPr lang="en-US" altLang="en-US" sz="1200" dirty="0"/>
                <a:t>Severity Ranking</a:t>
              </a:r>
            </a:p>
          </p:txBody>
        </p:sp>
        <p:sp>
          <p:nvSpPr>
            <p:cNvPr id="46" name="TextBox 15"/>
            <p:cNvSpPr txBox="1">
              <a:spLocks noChangeArrowheads="1"/>
            </p:cNvSpPr>
            <p:nvPr/>
          </p:nvSpPr>
          <p:spPr bwMode="auto">
            <a:xfrm rot="-5400000">
              <a:off x="419039" y="1414480"/>
              <a:ext cx="818048" cy="338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High</a:t>
              </a:r>
            </a:p>
            <a:p>
              <a:pPr algn="ctr" eaLnBrk="1" hangingPunct="1"/>
              <a:r>
                <a:rPr lang="en-US" altLang="en-US" sz="800"/>
                <a:t>(Task Failure)</a:t>
              </a:r>
            </a:p>
          </p:txBody>
        </p:sp>
        <p:sp>
          <p:nvSpPr>
            <p:cNvPr id="47" name="TextBox 16"/>
            <p:cNvSpPr txBox="1">
              <a:spLocks noChangeArrowheads="1"/>
            </p:cNvSpPr>
            <p:nvPr/>
          </p:nvSpPr>
          <p:spPr bwMode="auto">
            <a:xfrm rot="-5400000">
              <a:off x="443090" y="5293239"/>
              <a:ext cx="769946" cy="338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Low</a:t>
              </a:r>
            </a:p>
            <a:p>
              <a:pPr algn="ctr" eaLnBrk="1" hangingPunct="1"/>
              <a:r>
                <a:rPr lang="en-US" altLang="en-US" sz="800"/>
                <a:t>(Annoyance)</a:t>
              </a:r>
            </a:p>
          </p:txBody>
        </p:sp>
        <p:sp>
          <p:nvSpPr>
            <p:cNvPr id="48" name="TextBox 17"/>
            <p:cNvSpPr txBox="1">
              <a:spLocks noChangeArrowheads="1"/>
            </p:cNvSpPr>
            <p:nvPr/>
          </p:nvSpPr>
          <p:spPr bwMode="auto">
            <a:xfrm>
              <a:off x="1326974" y="5941312"/>
              <a:ext cx="373793" cy="21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Low</a:t>
              </a:r>
            </a:p>
          </p:txBody>
        </p:sp>
        <p:sp>
          <p:nvSpPr>
            <p:cNvPr id="49" name="TextBox 18"/>
            <p:cNvSpPr txBox="1">
              <a:spLocks noChangeArrowheads="1"/>
            </p:cNvSpPr>
            <p:nvPr/>
          </p:nvSpPr>
          <p:spPr bwMode="auto">
            <a:xfrm>
              <a:off x="7513356" y="5941312"/>
              <a:ext cx="396233" cy="21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High</a:t>
              </a:r>
            </a:p>
          </p:txBody>
        </p:sp>
      </p:grpSp>
      <p:sp>
        <p:nvSpPr>
          <p:cNvPr id="50" name="TextBox 19"/>
          <p:cNvSpPr txBox="1">
            <a:spLocks noChangeArrowheads="1"/>
          </p:cNvSpPr>
          <p:nvPr/>
        </p:nvSpPr>
        <p:spPr bwMode="auto">
          <a:xfrm>
            <a:off x="6220973" y="1360561"/>
            <a:ext cx="1371600" cy="215900"/>
          </a:xfrm>
          <a:prstGeom prst="rect">
            <a:avLst/>
          </a:prstGeom>
          <a:solidFill>
            <a:schemeClr val="bg1">
              <a:lumMod val="85000"/>
              <a:alpha val="39999"/>
            </a:schemeClr>
          </a:solidFill>
          <a:ln w="9525" cap="rnd">
            <a:solidFill>
              <a:schemeClr val="bg1">
                <a:lumMod val="75000"/>
              </a:schemeClr>
            </a:solidFill>
            <a:prstDash val="solid"/>
            <a:miter lim="800000"/>
            <a:headEnd/>
            <a:tailEnd/>
          </a:ln>
        </p:spPr>
        <p:txBody>
          <a:bodyPr>
            <a:spAutoFit/>
          </a:bodyPr>
          <a:lstStyle/>
          <a:p>
            <a:pPr algn="ctr">
              <a:defRPr/>
            </a:pPr>
            <a:r>
              <a:rPr lang="en-US" sz="800">
                <a:latin typeface="Arial" pitchFamily="34" charset="0"/>
                <a:ea typeface="+mn-ea"/>
                <a:cs typeface="Arial" pitchFamily="34" charset="0"/>
              </a:rPr>
              <a:t>#. Lorem ipsum</a:t>
            </a:r>
          </a:p>
        </p:txBody>
      </p:sp>
      <p:sp>
        <p:nvSpPr>
          <p:cNvPr id="51" name="TextBox 20"/>
          <p:cNvSpPr txBox="1">
            <a:spLocks noChangeArrowheads="1"/>
          </p:cNvSpPr>
          <p:nvPr/>
        </p:nvSpPr>
        <p:spPr bwMode="auto">
          <a:xfrm>
            <a:off x="3030098" y="2443236"/>
            <a:ext cx="1485900" cy="215900"/>
          </a:xfrm>
          <a:prstGeom prst="rect">
            <a:avLst/>
          </a:prstGeom>
          <a:solidFill>
            <a:schemeClr val="accent5">
              <a:lumMod val="40000"/>
              <a:lumOff val="60000"/>
              <a:alpha val="39999"/>
            </a:schemeClr>
          </a:solidFill>
          <a:ln w="9525" cap="rnd">
            <a:solidFill>
              <a:schemeClr val="bg1">
                <a:lumMod val="50000"/>
              </a:schemeClr>
            </a:solidFill>
            <a:prstDash val="solid"/>
            <a:miter lim="800000"/>
            <a:headEnd/>
            <a:tailEnd/>
          </a:ln>
        </p:spPr>
        <p:txBody>
          <a:bodyPr>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 Lorem ipsum</a:t>
            </a:r>
          </a:p>
        </p:txBody>
      </p:sp>
      <p:sp>
        <p:nvSpPr>
          <p:cNvPr id="52" name="TextBox 21"/>
          <p:cNvSpPr txBox="1">
            <a:spLocks noChangeArrowheads="1"/>
          </p:cNvSpPr>
          <p:nvPr/>
        </p:nvSpPr>
        <p:spPr bwMode="auto">
          <a:xfrm>
            <a:off x="4804923" y="2986161"/>
            <a:ext cx="1485900" cy="215900"/>
          </a:xfrm>
          <a:prstGeom prst="rect">
            <a:avLst/>
          </a:prstGeom>
          <a:solidFill>
            <a:schemeClr val="accent5">
              <a:lumMod val="40000"/>
              <a:lumOff val="60000"/>
              <a:alpha val="39999"/>
            </a:schemeClr>
          </a:solidFill>
          <a:ln w="9525" cap="rnd">
            <a:solidFill>
              <a:schemeClr val="bg1">
                <a:lumMod val="50000"/>
              </a:schemeClr>
            </a:solidFill>
            <a:prstDash val="solid"/>
            <a:miter lim="800000"/>
            <a:headEnd/>
            <a:tailEnd/>
          </a:ln>
        </p:spPr>
        <p:txBody>
          <a:bodyPr>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 Lorem ipsum</a:t>
            </a:r>
          </a:p>
        </p:txBody>
      </p:sp>
      <p:sp>
        <p:nvSpPr>
          <p:cNvPr id="54" name="TextBox 24"/>
          <p:cNvSpPr txBox="1">
            <a:spLocks noChangeArrowheads="1"/>
          </p:cNvSpPr>
          <p:nvPr/>
        </p:nvSpPr>
        <p:spPr bwMode="auto">
          <a:xfrm>
            <a:off x="1215586" y="1414536"/>
            <a:ext cx="1371600" cy="215900"/>
          </a:xfrm>
          <a:prstGeom prst="rect">
            <a:avLst/>
          </a:prstGeom>
          <a:solidFill>
            <a:schemeClr val="accent5">
              <a:lumMod val="40000"/>
              <a:lumOff val="60000"/>
              <a:alpha val="39999"/>
            </a:schemeClr>
          </a:solidFill>
          <a:ln w="9525" cap="rnd">
            <a:solidFill>
              <a:schemeClr val="bg1">
                <a:lumMod val="50000"/>
              </a:schemeClr>
            </a:solidFill>
            <a:prstDash val="solid"/>
            <a:miter lim="800000"/>
            <a:headEnd/>
            <a:tailEnd/>
          </a:ln>
        </p:spPr>
        <p:txBody>
          <a:bodyPr>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 Lorem ipsum</a:t>
            </a:r>
          </a:p>
        </p:txBody>
      </p:sp>
      <p:sp>
        <p:nvSpPr>
          <p:cNvPr id="55" name="Oval 25"/>
          <p:cNvSpPr>
            <a:spLocks noChangeArrowheads="1"/>
          </p:cNvSpPr>
          <p:nvPr/>
        </p:nvSpPr>
        <p:spPr bwMode="auto">
          <a:xfrm>
            <a:off x="2569723" y="5737299"/>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56" name="Oval 26"/>
          <p:cNvSpPr>
            <a:spLocks noChangeArrowheads="1"/>
          </p:cNvSpPr>
          <p:nvPr/>
        </p:nvSpPr>
        <p:spPr bwMode="auto">
          <a:xfrm>
            <a:off x="4219136" y="5737299"/>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57" name="Oval 27"/>
          <p:cNvSpPr>
            <a:spLocks noChangeArrowheads="1"/>
          </p:cNvSpPr>
          <p:nvPr/>
        </p:nvSpPr>
        <p:spPr bwMode="auto">
          <a:xfrm>
            <a:off x="5866961" y="5737299"/>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58" name="Oval 28"/>
          <p:cNvSpPr>
            <a:spLocks noChangeArrowheads="1"/>
          </p:cNvSpPr>
          <p:nvPr/>
        </p:nvSpPr>
        <p:spPr bwMode="auto">
          <a:xfrm>
            <a:off x="7516373" y="5737299"/>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59" name="Oval 29"/>
          <p:cNvSpPr>
            <a:spLocks noChangeArrowheads="1"/>
          </p:cNvSpPr>
          <p:nvPr/>
        </p:nvSpPr>
        <p:spPr bwMode="auto">
          <a:xfrm>
            <a:off x="920311" y="5737299"/>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60" name="Oval 32"/>
          <p:cNvSpPr>
            <a:spLocks noChangeArrowheads="1"/>
          </p:cNvSpPr>
          <p:nvPr/>
        </p:nvSpPr>
        <p:spPr bwMode="auto">
          <a:xfrm rot="16200000">
            <a:off x="918723" y="5729361"/>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61" name="Oval 33"/>
          <p:cNvSpPr>
            <a:spLocks noChangeArrowheads="1"/>
          </p:cNvSpPr>
          <p:nvPr/>
        </p:nvSpPr>
        <p:spPr bwMode="auto">
          <a:xfrm rot="16200000">
            <a:off x="918723" y="4043436"/>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62" name="Oval 34"/>
          <p:cNvSpPr>
            <a:spLocks noChangeArrowheads="1"/>
          </p:cNvSpPr>
          <p:nvPr/>
        </p:nvSpPr>
        <p:spPr bwMode="auto">
          <a:xfrm rot="16200000">
            <a:off x="918723" y="2355924"/>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63" name="Oval 35"/>
          <p:cNvSpPr>
            <a:spLocks noChangeArrowheads="1"/>
          </p:cNvSpPr>
          <p:nvPr/>
        </p:nvSpPr>
        <p:spPr bwMode="auto">
          <a:xfrm rot="16200000">
            <a:off x="918723" y="1512961"/>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64" name="Oval 37"/>
          <p:cNvSpPr>
            <a:spLocks noChangeArrowheads="1"/>
          </p:cNvSpPr>
          <p:nvPr/>
        </p:nvSpPr>
        <p:spPr bwMode="auto">
          <a:xfrm rot="16200000">
            <a:off x="918723" y="4886399"/>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65" name="Oval 38"/>
          <p:cNvSpPr>
            <a:spLocks noChangeArrowheads="1"/>
          </p:cNvSpPr>
          <p:nvPr/>
        </p:nvSpPr>
        <p:spPr bwMode="auto">
          <a:xfrm rot="16200000">
            <a:off x="918723" y="3198886"/>
            <a:ext cx="76200" cy="762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66" name="TextBox 40"/>
          <p:cNvSpPr txBox="1">
            <a:spLocks noChangeArrowheads="1"/>
          </p:cNvSpPr>
          <p:nvPr/>
        </p:nvSpPr>
        <p:spPr bwMode="auto">
          <a:xfrm>
            <a:off x="1191773" y="2274961"/>
            <a:ext cx="1485900" cy="215900"/>
          </a:xfrm>
          <a:prstGeom prst="rect">
            <a:avLst/>
          </a:prstGeom>
          <a:solidFill>
            <a:schemeClr val="accent5">
              <a:lumMod val="40000"/>
              <a:lumOff val="60000"/>
              <a:alpha val="39999"/>
            </a:schemeClr>
          </a:solidFill>
          <a:ln w="9525" cap="rnd">
            <a:solidFill>
              <a:schemeClr val="bg1">
                <a:lumMod val="50000"/>
              </a:schemeClr>
            </a:solidFill>
            <a:prstDash val="solid"/>
            <a:miter lim="800000"/>
            <a:headEnd/>
            <a:tailEnd/>
          </a:ln>
        </p:spPr>
        <p:txBody>
          <a:bodyPr>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 Lorem ipsum</a:t>
            </a:r>
          </a:p>
        </p:txBody>
      </p:sp>
      <p:sp>
        <p:nvSpPr>
          <p:cNvPr id="67" name="TextBox 41"/>
          <p:cNvSpPr txBox="1">
            <a:spLocks noChangeArrowheads="1"/>
          </p:cNvSpPr>
          <p:nvPr/>
        </p:nvSpPr>
        <p:spPr bwMode="auto">
          <a:xfrm>
            <a:off x="2715773" y="1741561"/>
            <a:ext cx="1485900" cy="215900"/>
          </a:xfrm>
          <a:prstGeom prst="rect">
            <a:avLst/>
          </a:prstGeom>
          <a:solidFill>
            <a:schemeClr val="accent5">
              <a:lumMod val="40000"/>
              <a:lumOff val="60000"/>
              <a:alpha val="39999"/>
            </a:schemeClr>
          </a:solidFill>
          <a:ln w="9525" cap="rnd">
            <a:solidFill>
              <a:schemeClr val="bg1">
                <a:lumMod val="50000"/>
              </a:schemeClr>
            </a:solidFill>
            <a:prstDash val="solid"/>
            <a:miter lim="800000"/>
            <a:headEnd/>
            <a:tailEnd/>
          </a:ln>
        </p:spPr>
        <p:txBody>
          <a:bodyPr>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 Lorem ipsum</a:t>
            </a:r>
          </a:p>
        </p:txBody>
      </p:sp>
      <p:sp>
        <p:nvSpPr>
          <p:cNvPr id="68" name="TextBox 42"/>
          <p:cNvSpPr txBox="1">
            <a:spLocks noChangeArrowheads="1"/>
          </p:cNvSpPr>
          <p:nvPr/>
        </p:nvSpPr>
        <p:spPr bwMode="auto">
          <a:xfrm>
            <a:off x="2334773" y="4408561"/>
            <a:ext cx="1485900" cy="215900"/>
          </a:xfrm>
          <a:prstGeom prst="rect">
            <a:avLst/>
          </a:prstGeom>
          <a:solidFill>
            <a:schemeClr val="accent5">
              <a:lumMod val="40000"/>
              <a:lumOff val="60000"/>
              <a:alpha val="39999"/>
            </a:schemeClr>
          </a:solidFill>
          <a:ln w="9525" cap="rnd">
            <a:solidFill>
              <a:schemeClr val="bg1">
                <a:lumMod val="50000"/>
              </a:schemeClr>
            </a:solidFill>
            <a:prstDash val="solid"/>
            <a:miter lim="800000"/>
            <a:headEnd/>
            <a:tailEnd/>
          </a:ln>
        </p:spPr>
        <p:txBody>
          <a:bodyPr>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 Lorem ipsum</a:t>
            </a:r>
          </a:p>
        </p:txBody>
      </p:sp>
      <p:sp>
        <p:nvSpPr>
          <p:cNvPr id="69" name="TextBox 42"/>
          <p:cNvSpPr txBox="1">
            <a:spLocks noChangeArrowheads="1"/>
          </p:cNvSpPr>
          <p:nvPr/>
        </p:nvSpPr>
        <p:spPr bwMode="auto">
          <a:xfrm>
            <a:off x="6678173" y="6465961"/>
            <a:ext cx="1485900" cy="215900"/>
          </a:xfrm>
          <a:prstGeom prst="rect">
            <a:avLst/>
          </a:prstGeom>
          <a:solidFill>
            <a:schemeClr val="bg1">
              <a:lumMod val="85000"/>
              <a:alpha val="39999"/>
            </a:schemeClr>
          </a:solidFill>
          <a:ln w="9525" cap="rnd">
            <a:solidFill>
              <a:schemeClr val="bg1">
                <a:lumMod val="75000"/>
              </a:schemeClr>
            </a:solidFill>
            <a:prstDash val="solid"/>
            <a:miter lim="800000"/>
            <a:headEnd/>
            <a:tailEnd/>
          </a:ln>
        </p:spPr>
        <p:txBody>
          <a:bodyPr>
            <a:spAutoFit/>
          </a:bodyPr>
          <a:lstStyle/>
          <a:p>
            <a:pPr algn="ctr">
              <a:defRPr/>
            </a:pPr>
            <a:r>
              <a:rPr lang="en-US" sz="800" dirty="0">
                <a:latin typeface="Arial" pitchFamily="34" charset="0"/>
                <a:ea typeface="+mn-ea"/>
                <a:cs typeface="Arial" pitchFamily="34" charset="0"/>
              </a:rPr>
              <a:t>Immediate</a:t>
            </a:r>
          </a:p>
        </p:txBody>
      </p:sp>
      <p:sp>
        <p:nvSpPr>
          <p:cNvPr id="70" name="TextBox 42"/>
          <p:cNvSpPr txBox="1">
            <a:spLocks noChangeArrowheads="1"/>
          </p:cNvSpPr>
          <p:nvPr/>
        </p:nvSpPr>
        <p:spPr bwMode="auto">
          <a:xfrm>
            <a:off x="8354573" y="6465961"/>
            <a:ext cx="1485900" cy="215900"/>
          </a:xfrm>
          <a:prstGeom prst="rect">
            <a:avLst/>
          </a:prstGeom>
          <a:solidFill>
            <a:schemeClr val="accent5">
              <a:lumMod val="40000"/>
              <a:lumOff val="60000"/>
              <a:alpha val="39999"/>
            </a:schemeClr>
          </a:solidFill>
          <a:ln w="9525" cap="rnd">
            <a:solidFill>
              <a:schemeClr val="bg1">
                <a:lumMod val="50000"/>
              </a:schemeClr>
            </a:solidFill>
            <a:prstDash val="solid"/>
            <a:miter lim="800000"/>
            <a:headEnd/>
            <a:tailEnd/>
          </a:ln>
        </p:spPr>
        <p:txBody>
          <a:bodyPr>
            <a:spAutoFit/>
          </a:bodyP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r>
              <a:rPr lang="en-US" altLang="en-US" sz="800"/>
              <a:t>Future</a:t>
            </a:r>
          </a:p>
        </p:txBody>
      </p:sp>
      <p:sp>
        <p:nvSpPr>
          <p:cNvPr id="53" name="TextBox 22"/>
          <p:cNvSpPr txBox="1">
            <a:spLocks noChangeArrowheads="1"/>
          </p:cNvSpPr>
          <p:nvPr/>
        </p:nvSpPr>
        <p:spPr bwMode="auto">
          <a:xfrm>
            <a:off x="1545786" y="3619574"/>
            <a:ext cx="1485900" cy="215900"/>
          </a:xfrm>
          <a:prstGeom prst="rect">
            <a:avLst/>
          </a:prstGeom>
          <a:solidFill>
            <a:schemeClr val="bg1">
              <a:lumMod val="85000"/>
              <a:alpha val="39999"/>
            </a:schemeClr>
          </a:solidFill>
          <a:ln w="9525" cap="rnd">
            <a:solidFill>
              <a:schemeClr val="bg1">
                <a:lumMod val="75000"/>
              </a:schemeClr>
            </a:solidFill>
            <a:prstDash val="solid"/>
            <a:miter lim="800000"/>
            <a:headEnd/>
            <a:tailEnd/>
          </a:ln>
        </p:spPr>
        <p:txBody>
          <a:bodyPr>
            <a:spAutoFit/>
          </a:bodyPr>
          <a:lstStyle/>
          <a:p>
            <a:pPr algn="ctr">
              <a:defRPr/>
            </a:pPr>
            <a:r>
              <a:rPr lang="en-US" sz="800">
                <a:latin typeface="Arial" pitchFamily="34" charset="0"/>
                <a:ea typeface="+mn-ea"/>
                <a:cs typeface="Arial" pitchFamily="34" charset="0"/>
              </a:rPr>
              <a:t>#. Lorem ipsum</a:t>
            </a:r>
          </a:p>
        </p:txBody>
      </p:sp>
    </p:spTree>
    <p:extLst>
      <p:ext uri="{BB962C8B-B14F-4D97-AF65-F5344CB8AC3E}">
        <p14:creationId xmlns:p14="http://schemas.microsoft.com/office/powerpoint/2010/main" val="1627377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Product Information</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5</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7" name="Content Placeholder 2"/>
          <p:cNvSpPr txBox="1">
            <a:spLocks/>
          </p:cNvSpPr>
          <p:nvPr/>
        </p:nvSpPr>
        <p:spPr>
          <a:xfrm>
            <a:off x="458348" y="1195388"/>
            <a:ext cx="8997950" cy="5032375"/>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defRPr/>
            </a:pPr>
            <a:r>
              <a:rPr lang="en-US">
                <a:latin typeface="Honeywell Sans Medium" charset="0"/>
                <a:ea typeface="Honeywell Sans Medium" charset="0"/>
                <a:cs typeface="Honeywell Sans Medium" charset="0"/>
              </a:rPr>
              <a:t>Product Description</a:t>
            </a:r>
          </a:p>
          <a:p>
            <a:pPr lvl="1">
              <a:buClr>
                <a:srgbClr val="FF0000"/>
              </a:buClr>
              <a:defRPr/>
            </a:pPr>
            <a:r>
              <a:rPr lang="en-US" dirty="0">
                <a:solidFill>
                  <a:schemeClr val="bg1">
                    <a:lumMod val="50000"/>
                  </a:schemeClr>
                </a:solidFill>
                <a:latin typeface="Honeywell Sans Medium" charset="0"/>
                <a:ea typeface="Honeywell Sans Medium" charset="0"/>
                <a:cs typeface="Honeywell Sans Medium" charset="0"/>
              </a:rPr>
              <a:t>[Text describing the purpose of this product in not more 5 sentences.]</a:t>
            </a:r>
          </a:p>
          <a:p>
            <a:pPr>
              <a:buClr>
                <a:srgbClr val="FF0000"/>
              </a:buClr>
              <a:defRPr/>
            </a:pPr>
            <a:endParaRPr lang="en-US" dirty="0">
              <a:solidFill>
                <a:schemeClr val="bg1">
                  <a:lumMod val="50000"/>
                </a:schemeClr>
              </a:solidFill>
              <a:latin typeface="Honeywell Sans Medium" charset="0"/>
              <a:ea typeface="Honeywell Sans Medium" charset="0"/>
              <a:cs typeface="Honeywell Sans Medium" charset="0"/>
            </a:endParaRPr>
          </a:p>
          <a:p>
            <a:pPr>
              <a:buClr>
                <a:srgbClr val="FF0000"/>
              </a:buClr>
              <a:defRPr/>
            </a:pPr>
            <a:endParaRPr lang="en-US" dirty="0">
              <a:solidFill>
                <a:schemeClr val="bg1">
                  <a:lumMod val="50000"/>
                </a:schemeClr>
              </a:solidFill>
              <a:latin typeface="Honeywell Sans Medium" charset="0"/>
              <a:ea typeface="Honeywell Sans Medium" charset="0"/>
              <a:cs typeface="Honeywell Sans Medium" charset="0"/>
            </a:endParaRPr>
          </a:p>
          <a:p>
            <a:pPr>
              <a:buClr>
                <a:srgbClr val="FF0000"/>
              </a:buClr>
              <a:defRPr/>
            </a:pPr>
            <a:r>
              <a:rPr lang="en-US" dirty="0">
                <a:latin typeface="Honeywell Sans Medium" charset="0"/>
                <a:ea typeface="Honeywell Sans Medium" charset="0"/>
                <a:cs typeface="Honeywell Sans Medium" charset="0"/>
              </a:rPr>
              <a:t>Target Users</a:t>
            </a:r>
          </a:p>
          <a:p>
            <a:pPr lvl="1">
              <a:buClr>
                <a:srgbClr val="FF0000"/>
              </a:buClr>
              <a:buFont typeface="Arial" charset="0"/>
              <a:buNone/>
              <a:defRPr/>
            </a:pPr>
            <a:endParaRPr lang="en-US" dirty="0">
              <a:solidFill>
                <a:schemeClr val="bg1">
                  <a:lumMod val="50000"/>
                </a:schemeClr>
              </a:solidFill>
              <a:latin typeface="Honeywell Sans Medium" charset="0"/>
              <a:ea typeface="Honeywell Sans Medium" charset="0"/>
              <a:cs typeface="Honeywell Sans Medium"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27703106"/>
              </p:ext>
            </p:extLst>
          </p:nvPr>
        </p:nvGraphicFramePr>
        <p:xfrm>
          <a:off x="767275" y="3149600"/>
          <a:ext cx="8229600" cy="2228850"/>
        </p:xfrm>
        <a:graphic>
          <a:graphicData uri="http://schemas.openxmlformats.org/drawingml/2006/table">
            <a:tbl>
              <a:tblPr/>
              <a:tblGrid>
                <a:gridCol w="2103438">
                  <a:extLst>
                    <a:ext uri="{9D8B030D-6E8A-4147-A177-3AD203B41FA5}">
                      <a16:colId xmlns:a16="http://schemas.microsoft.com/office/drawing/2014/main" val="20000"/>
                    </a:ext>
                  </a:extLst>
                </a:gridCol>
                <a:gridCol w="2011362">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Profile Name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Skills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Environment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Motivations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25414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Primary Tasks</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6</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Content Placeholder 4"/>
          <p:cNvGraphicFramePr>
            <a:graphicFrameLocks/>
          </p:cNvGraphicFramePr>
          <p:nvPr>
            <p:extLst>
              <p:ext uri="{D42A27DB-BD31-4B8C-83A1-F6EECF244321}">
                <p14:modId xmlns:p14="http://schemas.microsoft.com/office/powerpoint/2010/main" val="2069900873"/>
              </p:ext>
            </p:extLst>
          </p:nvPr>
        </p:nvGraphicFramePr>
        <p:xfrm>
          <a:off x="458348" y="1317308"/>
          <a:ext cx="10954880" cy="4086225"/>
        </p:xfrm>
        <a:graphic>
          <a:graphicData uri="http://schemas.openxmlformats.org/drawingml/2006/table">
            <a:tbl>
              <a:tblPr/>
              <a:tblGrid>
                <a:gridCol w="759574">
                  <a:extLst>
                    <a:ext uri="{9D8B030D-6E8A-4147-A177-3AD203B41FA5}">
                      <a16:colId xmlns:a16="http://schemas.microsoft.com/office/drawing/2014/main" val="20000"/>
                    </a:ext>
                  </a:extLst>
                </a:gridCol>
                <a:gridCol w="8071203">
                  <a:extLst>
                    <a:ext uri="{9D8B030D-6E8A-4147-A177-3AD203B41FA5}">
                      <a16:colId xmlns:a16="http://schemas.microsoft.com/office/drawing/2014/main" val="20001"/>
                    </a:ext>
                  </a:extLst>
                </a:gridCol>
                <a:gridCol w="2124103">
                  <a:extLst>
                    <a:ext uri="{9D8B030D-6E8A-4147-A177-3AD203B41FA5}">
                      <a16:colId xmlns:a16="http://schemas.microsoft.com/office/drawing/2014/main" val="20002"/>
                    </a:ext>
                  </a:extLst>
                </a:gridCol>
              </a:tblGrid>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Primary Tasks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User Profile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90643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System Usability Scale Assessment</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7</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TextBox 23"/>
          <p:cNvSpPr txBox="1">
            <a:spLocks noChangeArrowheads="1"/>
          </p:cNvSpPr>
          <p:nvPr/>
        </p:nvSpPr>
        <p:spPr bwMode="auto">
          <a:xfrm>
            <a:off x="458348" y="1811418"/>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800" b="0">
                <a:latin typeface="Honeywell Sans Medium" charset="0"/>
                <a:ea typeface="Honeywell Sans Medium" charset="0"/>
                <a:cs typeface="Honeywell Sans Medium" charset="0"/>
              </a:rPr>
              <a:t>Baseline SUS </a:t>
            </a:r>
          </a:p>
        </p:txBody>
      </p:sp>
      <p:sp>
        <p:nvSpPr>
          <p:cNvPr id="7" name="Rectangle 24"/>
          <p:cNvSpPr>
            <a:spLocks noChangeArrowheads="1"/>
          </p:cNvSpPr>
          <p:nvPr/>
        </p:nvSpPr>
        <p:spPr bwMode="auto">
          <a:xfrm>
            <a:off x="2134748" y="1887618"/>
            <a:ext cx="1219200" cy="304800"/>
          </a:xfrm>
          <a:prstGeom prst="rect">
            <a:avLst/>
          </a:prstGeom>
          <a:solidFill>
            <a:schemeClr val="bg1">
              <a:lumMod val="50000"/>
            </a:schemeClr>
          </a:solidFill>
          <a:ln w="12699" algn="ctr">
            <a:noFill/>
            <a:round/>
            <a:headEnd/>
            <a:tailEnd/>
          </a:ln>
        </p:spPr>
        <p:txBody>
          <a:bodyPr wrap="none" lIns="90488" tIns="44450" rIns="90488" bIns="44450" anchor="ct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a:lnSpc>
                <a:spcPct val="110000"/>
              </a:lnSpc>
            </a:pPr>
            <a:r>
              <a:rPr lang="en-US" altLang="en-US" sz="1600" b="1">
                <a:solidFill>
                  <a:schemeClr val="bg1"/>
                </a:solidFill>
              </a:rPr>
              <a:t>xx.xx%</a:t>
            </a:r>
            <a:endParaRPr lang="en-US" altLang="en-US" sz="5400" b="1">
              <a:solidFill>
                <a:schemeClr val="bg1"/>
              </a:solidFill>
            </a:endParaRPr>
          </a:p>
        </p:txBody>
      </p:sp>
      <p:sp>
        <p:nvSpPr>
          <p:cNvPr id="8" name="TextBox 25"/>
          <p:cNvSpPr txBox="1">
            <a:spLocks noChangeArrowheads="1"/>
          </p:cNvSpPr>
          <p:nvPr/>
        </p:nvSpPr>
        <p:spPr bwMode="auto">
          <a:xfrm>
            <a:off x="4420748" y="1811418"/>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800" b="0">
                <a:latin typeface="Honeywell Sans Medium" charset="0"/>
                <a:ea typeface="Honeywell Sans Medium" charset="0"/>
                <a:cs typeface="Honeywell Sans Medium" charset="0"/>
              </a:rPr>
              <a:t>Final SUS </a:t>
            </a:r>
          </a:p>
        </p:txBody>
      </p:sp>
      <p:sp>
        <p:nvSpPr>
          <p:cNvPr id="10" name="Rectangle 9"/>
          <p:cNvSpPr/>
          <p:nvPr/>
        </p:nvSpPr>
        <p:spPr bwMode="auto">
          <a:xfrm>
            <a:off x="5868548" y="1811418"/>
            <a:ext cx="1219200" cy="304800"/>
          </a:xfrm>
          <a:prstGeom prst="rect">
            <a:avLst/>
          </a:prstGeom>
          <a:solidFill>
            <a:schemeClr val="bg1">
              <a:lumMod val="85000"/>
            </a:schemeClr>
          </a:solidFill>
          <a:ln w="12699" cap="flat" cmpd="sng" algn="ctr">
            <a:noFill/>
            <a:prstDash val="solid"/>
            <a:round/>
            <a:headEnd type="none" w="med" len="med"/>
            <a:tailEnd type="none" w="med" len="med"/>
          </a:ln>
          <a:effectLst/>
        </p:spPr>
        <p:txBody>
          <a:bodyPr wrap="none" lIns="90488" tIns="44450" rIns="90488" bIns="44450" anchor="ctr"/>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a:lnSpc>
                <a:spcPct val="110000"/>
              </a:lnSpc>
            </a:pPr>
            <a:r>
              <a:rPr lang="en-US" altLang="en-US" sz="1600" b="1">
                <a:solidFill>
                  <a:schemeClr val="bg1"/>
                </a:solidFill>
              </a:rPr>
              <a:t>TBD</a:t>
            </a:r>
            <a:endParaRPr lang="en-US" altLang="en-US" sz="5400" b="1">
              <a:solidFill>
                <a:schemeClr val="bg1"/>
              </a:solidFill>
            </a:endParaRPr>
          </a:p>
        </p:txBody>
      </p:sp>
      <p:pic>
        <p:nvPicPr>
          <p:cNvPr id="11" name="Picture 27" descr="Figure 4. A comparison of the adjective ratings, acceptability scores, and school grading scales, in relation to the average SUS score"/>
          <p:cNvPicPr>
            <a:picLocks noChangeAspect="1" noChangeArrowheads="1"/>
          </p:cNvPicPr>
          <p:nvPr/>
        </p:nvPicPr>
        <p:blipFill>
          <a:blip r:embed="rId2">
            <a:extLst>
              <a:ext uri="{28A0092B-C50C-407E-A947-70E740481C1C}">
                <a14:useLocalDpi xmlns:a14="http://schemas.microsoft.com/office/drawing/2010/main" val="0"/>
              </a:ext>
            </a:extLst>
          </a:blip>
          <a:srcRect b="21838"/>
          <a:stretch>
            <a:fillRect/>
          </a:stretch>
        </p:blipFill>
        <p:spPr bwMode="auto">
          <a:xfrm>
            <a:off x="686948" y="3106818"/>
            <a:ext cx="6594749" cy="1627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28"/>
          <p:cNvSpPr txBox="1">
            <a:spLocks noChangeArrowheads="1"/>
          </p:cNvSpPr>
          <p:nvPr/>
        </p:nvSpPr>
        <p:spPr bwMode="auto">
          <a:xfrm>
            <a:off x="458348" y="1430418"/>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800" b="0" dirty="0">
                <a:latin typeface="Honeywell Sans Medium" charset="0"/>
                <a:ea typeface="Honeywell Sans Medium" charset="0"/>
                <a:cs typeface="Honeywell Sans Medium" charset="0"/>
              </a:rPr>
              <a:t>Sample Size </a:t>
            </a:r>
          </a:p>
        </p:txBody>
      </p:sp>
      <p:sp>
        <p:nvSpPr>
          <p:cNvPr id="13" name="TextBox 29"/>
          <p:cNvSpPr txBox="1">
            <a:spLocks noChangeArrowheads="1"/>
          </p:cNvSpPr>
          <p:nvPr/>
        </p:nvSpPr>
        <p:spPr bwMode="auto">
          <a:xfrm>
            <a:off x="2591948" y="1430418"/>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800" b="0"/>
              <a:t>x</a:t>
            </a:r>
          </a:p>
        </p:txBody>
      </p:sp>
    </p:spTree>
    <p:extLst>
      <p:ext uri="{BB962C8B-B14F-4D97-AF65-F5344CB8AC3E}">
        <p14:creationId xmlns:p14="http://schemas.microsoft.com/office/powerpoint/2010/main" val="1095278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Heuristic Findings</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8</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extLst>
              <p:ext uri="{D42A27DB-BD31-4B8C-83A1-F6EECF244321}">
                <p14:modId xmlns:p14="http://schemas.microsoft.com/office/powerpoint/2010/main" val="2065601284"/>
              </p:ext>
            </p:extLst>
          </p:nvPr>
        </p:nvGraphicFramePr>
        <p:xfrm>
          <a:off x="458348" y="1070813"/>
          <a:ext cx="10954880" cy="5340147"/>
        </p:xfrm>
        <a:graphic>
          <a:graphicData uri="http://schemas.openxmlformats.org/drawingml/2006/table">
            <a:tbl>
              <a:tblPr/>
              <a:tblGrid>
                <a:gridCol w="927486">
                  <a:extLst>
                    <a:ext uri="{9D8B030D-6E8A-4147-A177-3AD203B41FA5}">
                      <a16:colId xmlns:a16="http://schemas.microsoft.com/office/drawing/2014/main" val="20000"/>
                    </a:ext>
                  </a:extLst>
                </a:gridCol>
                <a:gridCol w="3419689">
                  <a:extLst>
                    <a:ext uri="{9D8B030D-6E8A-4147-A177-3AD203B41FA5}">
                      <a16:colId xmlns:a16="http://schemas.microsoft.com/office/drawing/2014/main" val="20001"/>
                    </a:ext>
                  </a:extLst>
                </a:gridCol>
                <a:gridCol w="2954576">
                  <a:extLst>
                    <a:ext uri="{9D8B030D-6E8A-4147-A177-3AD203B41FA5}">
                      <a16:colId xmlns:a16="http://schemas.microsoft.com/office/drawing/2014/main" val="20002"/>
                    </a:ext>
                  </a:extLst>
                </a:gridCol>
                <a:gridCol w="3653129">
                  <a:extLst>
                    <a:ext uri="{9D8B030D-6E8A-4147-A177-3AD203B41FA5}">
                      <a16:colId xmlns:a16="http://schemas.microsoft.com/office/drawing/2014/main" val="20003"/>
                    </a:ext>
                  </a:extLst>
                </a:gridCol>
              </a:tblGrid>
              <a:tr h="46522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Task #</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Issue</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Severity (0-4)</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Related Heuristic(s)</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57580">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02568">
                <a:tc gridSpan="4">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charset="0"/>
                          <a:ea typeface="Arial" charset="0"/>
                          <a:cs typeface="Arial" charset="0"/>
                        </a:rPr>
                        <a:t>Description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142420">
                <a:tc gridSpan="4">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87513">
                <a:tc gridSpan="4">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charset="0"/>
                          <a:ea typeface="Arial" charset="0"/>
                          <a:cs typeface="Arial" charset="0"/>
                        </a:rPr>
                        <a:t>Recommendation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1784841">
                <a:tc gridSpan="4">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48" name="TextBox 47"/>
          <p:cNvSpPr txBox="1"/>
          <p:nvPr/>
        </p:nvSpPr>
        <p:spPr>
          <a:xfrm>
            <a:off x="977900" y="2230121"/>
            <a:ext cx="3810000" cy="307975"/>
          </a:xfrm>
          <a:prstGeom prst="rect">
            <a:avLst/>
          </a:prstGeom>
          <a:noFill/>
        </p:spPr>
        <p:txBody>
          <a:bodyPr>
            <a:spAutoFit/>
          </a:bodyPr>
          <a:lstStyle/>
          <a:p>
            <a:pPr eaLnBrk="1" hangingPunct="1">
              <a:defRPr/>
            </a:pPr>
            <a:r>
              <a:rPr lang="en-US" sz="1400" dirty="0">
                <a:solidFill>
                  <a:schemeClr val="bg1">
                    <a:lumMod val="50000"/>
                  </a:schemeClr>
                </a:solidFill>
                <a:latin typeface="Honeywell Sans Medium" charset="0"/>
                <a:ea typeface="Honeywell Sans Medium" charset="0"/>
                <a:cs typeface="Honeywell Sans Medium" charset="0"/>
              </a:rPr>
              <a:t>[Problem text]</a:t>
            </a:r>
          </a:p>
        </p:txBody>
      </p:sp>
      <p:sp>
        <p:nvSpPr>
          <p:cNvPr id="52" name="Oval 45"/>
          <p:cNvSpPr>
            <a:spLocks noChangeArrowheads="1"/>
          </p:cNvSpPr>
          <p:nvPr/>
        </p:nvSpPr>
        <p:spPr bwMode="auto">
          <a:xfrm>
            <a:off x="673100" y="2306321"/>
            <a:ext cx="228600" cy="2286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nchor="ct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gn="ctr">
              <a:lnSpc>
                <a:spcPct val="110000"/>
              </a:lnSpc>
              <a:spcBef>
                <a:spcPct val="0"/>
              </a:spcBef>
              <a:buClrTx/>
              <a:buFontTx/>
              <a:buNone/>
            </a:pPr>
            <a:r>
              <a:rPr lang="en-US" altLang="en-US" sz="1100" dirty="0">
                <a:solidFill>
                  <a:schemeClr val="bg1"/>
                </a:solidFill>
              </a:rPr>
              <a:t>1</a:t>
            </a:r>
          </a:p>
        </p:txBody>
      </p:sp>
      <p:sp>
        <p:nvSpPr>
          <p:cNvPr id="53" name="TextBox 52"/>
          <p:cNvSpPr txBox="1"/>
          <p:nvPr/>
        </p:nvSpPr>
        <p:spPr>
          <a:xfrm>
            <a:off x="977900" y="2915921"/>
            <a:ext cx="3810000" cy="307975"/>
          </a:xfrm>
          <a:prstGeom prst="rect">
            <a:avLst/>
          </a:prstGeom>
          <a:noFill/>
        </p:spPr>
        <p:txBody>
          <a:bodyPr>
            <a:spAutoFit/>
          </a:bodyPr>
          <a:lstStyle/>
          <a:p>
            <a:pPr eaLnBrk="1" hangingPunct="1">
              <a:defRPr/>
            </a:pPr>
            <a:r>
              <a:rPr lang="en-US" sz="1400" dirty="0">
                <a:solidFill>
                  <a:schemeClr val="bg1">
                    <a:lumMod val="50000"/>
                  </a:schemeClr>
                </a:solidFill>
                <a:latin typeface="Honeywell Sans Medium" charset="0"/>
                <a:ea typeface="Honeywell Sans Medium" charset="0"/>
                <a:cs typeface="Honeywell Sans Medium" charset="0"/>
              </a:rPr>
              <a:t>[Problem text]</a:t>
            </a:r>
          </a:p>
        </p:txBody>
      </p:sp>
      <p:sp>
        <p:nvSpPr>
          <p:cNvPr id="54" name="Oval 47"/>
          <p:cNvSpPr>
            <a:spLocks noChangeArrowheads="1"/>
          </p:cNvSpPr>
          <p:nvPr/>
        </p:nvSpPr>
        <p:spPr bwMode="auto">
          <a:xfrm>
            <a:off x="673100" y="2992121"/>
            <a:ext cx="228600" cy="2286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nchor="ct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gn="ctr">
              <a:lnSpc>
                <a:spcPct val="110000"/>
              </a:lnSpc>
              <a:spcBef>
                <a:spcPct val="0"/>
              </a:spcBef>
              <a:buClrTx/>
              <a:buFontTx/>
              <a:buNone/>
            </a:pPr>
            <a:r>
              <a:rPr lang="en-US" altLang="en-US" sz="1100">
                <a:solidFill>
                  <a:schemeClr val="bg1"/>
                </a:solidFill>
              </a:rPr>
              <a:t>2</a:t>
            </a:r>
          </a:p>
        </p:txBody>
      </p:sp>
      <p:sp>
        <p:nvSpPr>
          <p:cNvPr id="55" name="TextBox 54"/>
          <p:cNvSpPr txBox="1"/>
          <p:nvPr/>
        </p:nvSpPr>
        <p:spPr>
          <a:xfrm>
            <a:off x="977900" y="3677921"/>
            <a:ext cx="3810000" cy="307975"/>
          </a:xfrm>
          <a:prstGeom prst="rect">
            <a:avLst/>
          </a:prstGeom>
          <a:noFill/>
        </p:spPr>
        <p:txBody>
          <a:bodyPr>
            <a:spAutoFit/>
          </a:bodyPr>
          <a:lstStyle/>
          <a:p>
            <a:pPr eaLnBrk="1" hangingPunct="1">
              <a:defRPr/>
            </a:pPr>
            <a:r>
              <a:rPr lang="en-US" sz="1400" dirty="0">
                <a:solidFill>
                  <a:schemeClr val="bg1">
                    <a:lumMod val="50000"/>
                  </a:schemeClr>
                </a:solidFill>
                <a:latin typeface="Honeywell Sans Medium" charset="0"/>
                <a:ea typeface="Honeywell Sans Medium" charset="0"/>
                <a:cs typeface="Honeywell Sans Medium" charset="0"/>
              </a:rPr>
              <a:t>[Problem text]</a:t>
            </a:r>
          </a:p>
        </p:txBody>
      </p:sp>
      <p:sp>
        <p:nvSpPr>
          <p:cNvPr id="56" name="Oval 49"/>
          <p:cNvSpPr>
            <a:spLocks noChangeArrowheads="1"/>
          </p:cNvSpPr>
          <p:nvPr/>
        </p:nvSpPr>
        <p:spPr bwMode="auto">
          <a:xfrm>
            <a:off x="673100" y="3714916"/>
            <a:ext cx="228600" cy="2286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nchor="ct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gn="ctr">
              <a:lnSpc>
                <a:spcPct val="110000"/>
              </a:lnSpc>
              <a:spcBef>
                <a:spcPct val="0"/>
              </a:spcBef>
              <a:buClrTx/>
              <a:buFontTx/>
              <a:buNone/>
            </a:pPr>
            <a:r>
              <a:rPr lang="en-US" altLang="en-US" sz="1100">
                <a:solidFill>
                  <a:schemeClr val="bg1"/>
                </a:solidFill>
              </a:rPr>
              <a:t>3</a:t>
            </a:r>
          </a:p>
        </p:txBody>
      </p:sp>
      <p:grpSp>
        <p:nvGrpSpPr>
          <p:cNvPr id="68" name="Group 72"/>
          <p:cNvGrpSpPr>
            <a:grpSpLocks/>
          </p:cNvGrpSpPr>
          <p:nvPr/>
        </p:nvGrpSpPr>
        <p:grpSpPr bwMode="auto">
          <a:xfrm>
            <a:off x="6540500" y="2306321"/>
            <a:ext cx="3962400" cy="1524000"/>
            <a:chOff x="5219700" y="2286000"/>
            <a:chExt cx="3962400" cy="1524000"/>
          </a:xfrm>
          <a:solidFill>
            <a:schemeClr val="bg1"/>
          </a:solidFill>
        </p:grpSpPr>
        <p:sp>
          <p:nvSpPr>
            <p:cNvPr id="69" name="Rectangle 68"/>
            <p:cNvSpPr/>
            <p:nvPr/>
          </p:nvSpPr>
          <p:spPr bwMode="auto">
            <a:xfrm>
              <a:off x="5219700" y="2286000"/>
              <a:ext cx="3962400" cy="152400"/>
            </a:xfrm>
            <a:prstGeom prst="rect">
              <a:avLst/>
            </a:prstGeom>
            <a:grpFill/>
            <a:ln w="12699" cap="flat" cmpd="sng" algn="ctr">
              <a:no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70" name="Rectangle 69"/>
            <p:cNvSpPr/>
            <p:nvPr/>
          </p:nvSpPr>
          <p:spPr bwMode="auto">
            <a:xfrm>
              <a:off x="5219700" y="2514600"/>
              <a:ext cx="609600" cy="1295400"/>
            </a:xfrm>
            <a:prstGeom prst="rect">
              <a:avLst/>
            </a:prstGeom>
            <a:grpFill/>
            <a:ln w="12699" cap="flat" cmpd="sng" algn="ctr">
              <a:no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71" name="Rectangle 70"/>
            <p:cNvSpPr/>
            <p:nvPr/>
          </p:nvSpPr>
          <p:spPr bwMode="auto">
            <a:xfrm>
              <a:off x="5981700" y="2514600"/>
              <a:ext cx="3200400" cy="1295400"/>
            </a:xfrm>
            <a:prstGeom prst="rect">
              <a:avLst/>
            </a:prstGeom>
            <a:grpFill/>
            <a:ln w="12699" cap="flat" cmpd="sng" algn="ctr">
              <a:no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cxnSp>
          <p:nvCxnSpPr>
            <p:cNvPr id="72" name="Straight Connector 71"/>
            <p:cNvCxnSpPr/>
            <p:nvPr/>
          </p:nvCxnSpPr>
          <p:spPr bwMode="auto">
            <a:xfrm>
              <a:off x="5295900" y="2743200"/>
              <a:ext cx="3810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73" name="Straight Connector 72"/>
            <p:cNvCxnSpPr/>
            <p:nvPr/>
          </p:nvCxnSpPr>
          <p:spPr bwMode="auto">
            <a:xfrm>
              <a:off x="5295900" y="2895600"/>
              <a:ext cx="3810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74" name="Straight Connector 73"/>
            <p:cNvCxnSpPr/>
            <p:nvPr/>
          </p:nvCxnSpPr>
          <p:spPr bwMode="auto">
            <a:xfrm>
              <a:off x="5295900" y="3048000"/>
              <a:ext cx="3810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75" name="Straight Connector 74"/>
            <p:cNvCxnSpPr/>
            <p:nvPr/>
          </p:nvCxnSpPr>
          <p:spPr bwMode="auto">
            <a:xfrm>
              <a:off x="6134100" y="2743200"/>
              <a:ext cx="8382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76" name="Straight Connector 75"/>
            <p:cNvCxnSpPr/>
            <p:nvPr/>
          </p:nvCxnSpPr>
          <p:spPr bwMode="auto">
            <a:xfrm>
              <a:off x="6134100" y="2895600"/>
              <a:ext cx="13716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77" name="Straight Connector 76"/>
            <p:cNvCxnSpPr/>
            <p:nvPr/>
          </p:nvCxnSpPr>
          <p:spPr bwMode="auto">
            <a:xfrm>
              <a:off x="6134100" y="3048000"/>
              <a:ext cx="914400" cy="0"/>
            </a:xfrm>
            <a:prstGeom prst="line">
              <a:avLst/>
            </a:prstGeom>
            <a:grpFill/>
            <a:ln w="28575" cap="flat" cmpd="sng" algn="ctr">
              <a:solidFill>
                <a:schemeClr val="bg1">
                  <a:lumMod val="50000"/>
                </a:schemeClr>
              </a:solidFill>
              <a:prstDash val="solid"/>
              <a:round/>
              <a:headEnd type="none" w="med" len="med"/>
              <a:tailEnd type="none" w="med" len="med"/>
            </a:ln>
            <a:effectLst/>
          </p:spPr>
        </p:cxnSp>
        <p:sp>
          <p:nvSpPr>
            <p:cNvPr id="78" name="Rectangle 77"/>
            <p:cNvSpPr/>
            <p:nvPr/>
          </p:nvSpPr>
          <p:spPr bwMode="auto">
            <a:xfrm>
              <a:off x="8039100" y="2667000"/>
              <a:ext cx="609600" cy="381000"/>
            </a:xfrm>
            <a:prstGeom prst="rect">
              <a:avLst/>
            </a:prstGeom>
            <a:grpFill/>
            <a:ln w="28575" cap="flat" cmpd="sng" algn="ctr">
              <a:solidFill>
                <a:schemeClr val="bg1">
                  <a:lumMod val="50000"/>
                </a:schemeClr>
              </a:solid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grpSp>
      <p:sp>
        <p:nvSpPr>
          <p:cNvPr id="79" name="Oval 42"/>
          <p:cNvSpPr>
            <a:spLocks noChangeArrowheads="1"/>
          </p:cNvSpPr>
          <p:nvPr/>
        </p:nvSpPr>
        <p:spPr bwMode="auto">
          <a:xfrm>
            <a:off x="7302500" y="2382521"/>
            <a:ext cx="228600" cy="2286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nchor="ct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gn="ctr">
              <a:lnSpc>
                <a:spcPct val="110000"/>
              </a:lnSpc>
              <a:spcBef>
                <a:spcPct val="0"/>
              </a:spcBef>
              <a:buClrTx/>
              <a:buFontTx/>
              <a:buNone/>
            </a:pPr>
            <a:r>
              <a:rPr lang="en-US" altLang="en-US" sz="1100">
                <a:solidFill>
                  <a:schemeClr val="bg1"/>
                </a:solidFill>
              </a:rPr>
              <a:t>1</a:t>
            </a:r>
          </a:p>
        </p:txBody>
      </p:sp>
      <p:sp>
        <p:nvSpPr>
          <p:cNvPr id="80" name="Oval 43"/>
          <p:cNvSpPr>
            <a:spLocks noChangeArrowheads="1"/>
          </p:cNvSpPr>
          <p:nvPr/>
        </p:nvSpPr>
        <p:spPr bwMode="auto">
          <a:xfrm>
            <a:off x="8826500" y="2611121"/>
            <a:ext cx="228600" cy="2286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nchor="ct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gn="ctr">
              <a:lnSpc>
                <a:spcPct val="110000"/>
              </a:lnSpc>
              <a:spcBef>
                <a:spcPct val="0"/>
              </a:spcBef>
              <a:buClrTx/>
              <a:buFontTx/>
              <a:buNone/>
            </a:pPr>
            <a:r>
              <a:rPr lang="en-US" altLang="en-US" sz="1100">
                <a:solidFill>
                  <a:schemeClr val="bg1"/>
                </a:solidFill>
              </a:rPr>
              <a:t>2</a:t>
            </a:r>
          </a:p>
        </p:txBody>
      </p:sp>
      <p:sp>
        <p:nvSpPr>
          <p:cNvPr id="81" name="Oval 44"/>
          <p:cNvSpPr>
            <a:spLocks noChangeArrowheads="1"/>
          </p:cNvSpPr>
          <p:nvPr/>
        </p:nvSpPr>
        <p:spPr bwMode="auto">
          <a:xfrm>
            <a:off x="8140700" y="3296921"/>
            <a:ext cx="228600" cy="228600"/>
          </a:xfrm>
          <a:prstGeom prst="ellipse">
            <a:avLst/>
          </a:prstGeom>
          <a:solidFill>
            <a:schemeClr val="tx1"/>
          </a:solidFill>
          <a:ln>
            <a:noFill/>
          </a:ln>
          <a:extLst>
            <a:ext uri="{91240B29-F687-4F45-9708-019B960494DF}">
              <a14:hiddenLine xmlns:a14="http://schemas.microsoft.com/office/drawing/2010/main" w="12699">
                <a:solidFill>
                  <a:srgbClr val="000000"/>
                </a:solidFill>
                <a:round/>
                <a:headEnd/>
                <a:tailEnd/>
              </a14:hiddenLine>
            </a:ext>
          </a:extLst>
        </p:spPr>
        <p:txBody>
          <a:bodyPr wrap="none" lIns="90488" tIns="44450" rIns="90488" bIns="44450" anchor="ct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gn="ctr">
              <a:lnSpc>
                <a:spcPct val="110000"/>
              </a:lnSpc>
              <a:spcBef>
                <a:spcPct val="0"/>
              </a:spcBef>
              <a:buClrTx/>
              <a:buFontTx/>
              <a:buNone/>
            </a:pPr>
            <a:r>
              <a:rPr lang="en-US" altLang="en-US" sz="1100" b="0">
                <a:solidFill>
                  <a:schemeClr val="bg1"/>
                </a:solidFill>
              </a:rPr>
              <a:t>3</a:t>
            </a:r>
          </a:p>
        </p:txBody>
      </p:sp>
      <p:grpSp>
        <p:nvGrpSpPr>
          <p:cNvPr id="82" name="Group 73"/>
          <p:cNvGrpSpPr>
            <a:grpSpLocks/>
          </p:cNvGrpSpPr>
          <p:nvPr/>
        </p:nvGrpSpPr>
        <p:grpSpPr bwMode="auto">
          <a:xfrm>
            <a:off x="6540500" y="4643122"/>
            <a:ext cx="3962400" cy="1524000"/>
            <a:chOff x="5219700" y="2286000"/>
            <a:chExt cx="3962400" cy="1524000"/>
          </a:xfrm>
          <a:solidFill>
            <a:schemeClr val="bg1"/>
          </a:solidFill>
        </p:grpSpPr>
        <p:sp>
          <p:nvSpPr>
            <p:cNvPr id="83" name="Rectangle 82"/>
            <p:cNvSpPr/>
            <p:nvPr/>
          </p:nvSpPr>
          <p:spPr bwMode="auto">
            <a:xfrm>
              <a:off x="5219700" y="2286000"/>
              <a:ext cx="3962400" cy="152400"/>
            </a:xfrm>
            <a:prstGeom prst="rect">
              <a:avLst/>
            </a:prstGeom>
            <a:grpFill/>
            <a:ln w="12699" cap="flat" cmpd="sng" algn="ctr">
              <a:no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85" name="Rectangle 84"/>
            <p:cNvSpPr/>
            <p:nvPr/>
          </p:nvSpPr>
          <p:spPr bwMode="auto">
            <a:xfrm>
              <a:off x="5219700" y="2514600"/>
              <a:ext cx="609600" cy="1295400"/>
            </a:xfrm>
            <a:prstGeom prst="rect">
              <a:avLst/>
            </a:prstGeom>
            <a:grpFill/>
            <a:ln w="12699" cap="flat" cmpd="sng" algn="ctr">
              <a:no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sp>
          <p:nvSpPr>
            <p:cNvPr id="86" name="Rectangle 85"/>
            <p:cNvSpPr/>
            <p:nvPr/>
          </p:nvSpPr>
          <p:spPr bwMode="auto">
            <a:xfrm>
              <a:off x="5981700" y="2514600"/>
              <a:ext cx="3200400" cy="1295400"/>
            </a:xfrm>
            <a:prstGeom prst="rect">
              <a:avLst/>
            </a:prstGeom>
            <a:grpFill/>
            <a:ln w="12699" cap="flat" cmpd="sng" algn="ctr">
              <a:no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cxnSp>
          <p:nvCxnSpPr>
            <p:cNvPr id="87" name="Straight Connector 86"/>
            <p:cNvCxnSpPr/>
            <p:nvPr/>
          </p:nvCxnSpPr>
          <p:spPr bwMode="auto">
            <a:xfrm>
              <a:off x="5295900" y="2743200"/>
              <a:ext cx="3810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88" name="Straight Connector 87"/>
            <p:cNvCxnSpPr/>
            <p:nvPr/>
          </p:nvCxnSpPr>
          <p:spPr bwMode="auto">
            <a:xfrm>
              <a:off x="5295900" y="2895600"/>
              <a:ext cx="3810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89" name="Straight Connector 88"/>
            <p:cNvCxnSpPr/>
            <p:nvPr/>
          </p:nvCxnSpPr>
          <p:spPr bwMode="auto">
            <a:xfrm>
              <a:off x="5295900" y="3048000"/>
              <a:ext cx="3810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90" name="Straight Connector 89"/>
            <p:cNvCxnSpPr/>
            <p:nvPr/>
          </p:nvCxnSpPr>
          <p:spPr bwMode="auto">
            <a:xfrm>
              <a:off x="6134100" y="2743200"/>
              <a:ext cx="8382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91" name="Straight Connector 90"/>
            <p:cNvCxnSpPr/>
            <p:nvPr/>
          </p:nvCxnSpPr>
          <p:spPr bwMode="auto">
            <a:xfrm>
              <a:off x="6134100" y="2895600"/>
              <a:ext cx="1371600" cy="0"/>
            </a:xfrm>
            <a:prstGeom prst="line">
              <a:avLst/>
            </a:prstGeom>
            <a:grpFill/>
            <a:ln w="28575" cap="flat" cmpd="sng" algn="ctr">
              <a:solidFill>
                <a:schemeClr val="bg1">
                  <a:lumMod val="50000"/>
                </a:schemeClr>
              </a:solidFill>
              <a:prstDash val="solid"/>
              <a:round/>
              <a:headEnd type="none" w="med" len="med"/>
              <a:tailEnd type="none" w="med" len="med"/>
            </a:ln>
            <a:effectLst/>
          </p:spPr>
        </p:cxnSp>
        <p:cxnSp>
          <p:nvCxnSpPr>
            <p:cNvPr id="92" name="Straight Connector 91"/>
            <p:cNvCxnSpPr/>
            <p:nvPr/>
          </p:nvCxnSpPr>
          <p:spPr bwMode="auto">
            <a:xfrm>
              <a:off x="6134100" y="3048000"/>
              <a:ext cx="914400" cy="0"/>
            </a:xfrm>
            <a:prstGeom prst="line">
              <a:avLst/>
            </a:prstGeom>
            <a:grpFill/>
            <a:ln w="28575" cap="flat" cmpd="sng" algn="ctr">
              <a:solidFill>
                <a:schemeClr val="bg1">
                  <a:lumMod val="50000"/>
                </a:schemeClr>
              </a:solidFill>
              <a:prstDash val="solid"/>
              <a:round/>
              <a:headEnd type="none" w="med" len="med"/>
              <a:tailEnd type="none" w="med" len="med"/>
            </a:ln>
            <a:effectLst/>
          </p:spPr>
        </p:cxnSp>
        <p:sp>
          <p:nvSpPr>
            <p:cNvPr id="93" name="Rectangle 92"/>
            <p:cNvSpPr/>
            <p:nvPr/>
          </p:nvSpPr>
          <p:spPr bwMode="auto">
            <a:xfrm>
              <a:off x="8039100" y="2667000"/>
              <a:ext cx="609600" cy="381000"/>
            </a:xfrm>
            <a:prstGeom prst="rect">
              <a:avLst/>
            </a:prstGeom>
            <a:grpFill/>
            <a:ln w="28575" cap="flat" cmpd="sng" algn="ctr">
              <a:solidFill>
                <a:schemeClr val="bg1">
                  <a:lumMod val="50000"/>
                </a:schemeClr>
              </a:solidFill>
              <a:prstDash val="solid"/>
              <a:round/>
              <a:headEnd type="none" w="med" len="med"/>
              <a:tailEnd type="none" w="med" len="med"/>
            </a:ln>
            <a:effectLst/>
          </p:spPr>
          <p:txBody>
            <a:bodyPr wrap="none" lIns="90488" tIns="44450" rIns="90488" bIns="44450"/>
            <a:lstStyle>
              <a:lvl1pPr>
                <a:defRPr>
                  <a:solidFill>
                    <a:schemeClr val="tx1"/>
                  </a:solidFill>
                  <a:latin typeface="Arial" charset="0"/>
                  <a:ea typeface="Arial"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nSpc>
                  <a:spcPct val="110000"/>
                </a:lnSpc>
              </a:pPr>
              <a:endParaRPr lang="en-US" altLang="en-US" sz="5400" b="1"/>
            </a:p>
          </p:txBody>
        </p:sp>
      </p:grpSp>
      <p:sp>
        <p:nvSpPr>
          <p:cNvPr id="94" name="TextBox 93"/>
          <p:cNvSpPr txBox="1"/>
          <p:nvPr/>
        </p:nvSpPr>
        <p:spPr>
          <a:xfrm>
            <a:off x="673100" y="4622801"/>
            <a:ext cx="3810000" cy="523875"/>
          </a:xfrm>
          <a:prstGeom prst="rect">
            <a:avLst/>
          </a:prstGeom>
          <a:noFill/>
        </p:spPr>
        <p:txBody>
          <a:bodyPr>
            <a:spAutoFit/>
          </a:bodyPr>
          <a:lstStyle/>
          <a:p>
            <a:pPr marL="342900" indent="-342900" eaLnBrk="1" hangingPunct="1">
              <a:buFontTx/>
              <a:buAutoNum type="alphaLcPeriod"/>
              <a:defRPr/>
            </a:pPr>
            <a:r>
              <a:rPr lang="en-US" sz="1400" dirty="0">
                <a:solidFill>
                  <a:schemeClr val="bg1">
                    <a:lumMod val="50000"/>
                  </a:schemeClr>
                </a:solidFill>
                <a:latin typeface="Honeywell Sans Medium" charset="0"/>
                <a:ea typeface="Honeywell Sans Medium" charset="0"/>
                <a:cs typeface="Honeywell Sans Medium" charset="0"/>
              </a:rPr>
              <a:t>Recommendation text</a:t>
            </a:r>
          </a:p>
          <a:p>
            <a:pPr marL="342900" indent="-342900" eaLnBrk="1" hangingPunct="1">
              <a:buFontTx/>
              <a:buAutoNum type="alphaLcPeriod"/>
              <a:defRPr/>
            </a:pPr>
            <a:r>
              <a:rPr lang="en-US" sz="1400" dirty="0">
                <a:solidFill>
                  <a:schemeClr val="bg1">
                    <a:lumMod val="50000"/>
                  </a:schemeClr>
                </a:solidFill>
                <a:latin typeface="Honeywell Sans Medium" charset="0"/>
                <a:ea typeface="Honeywell Sans Medium" charset="0"/>
                <a:cs typeface="Honeywell Sans Medium" charset="0"/>
              </a:rPr>
              <a:t>Some more recommendations</a:t>
            </a:r>
          </a:p>
        </p:txBody>
      </p:sp>
    </p:spTree>
    <p:extLst>
      <p:ext uri="{BB962C8B-B14F-4D97-AF65-F5344CB8AC3E}">
        <p14:creationId xmlns:p14="http://schemas.microsoft.com/office/powerpoint/2010/main" val="770883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Task Flow (Optimization)</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9</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38" name="Oval 37"/>
          <p:cNvSpPr>
            <a:spLocks noChangeArrowheads="1"/>
          </p:cNvSpPr>
          <p:nvPr/>
        </p:nvSpPr>
        <p:spPr bwMode="auto">
          <a:xfrm>
            <a:off x="507049" y="2368233"/>
            <a:ext cx="533400" cy="266700"/>
          </a:xfrm>
          <a:prstGeom prst="ellipse">
            <a:avLst/>
          </a:prstGeom>
          <a:solidFill>
            <a:srgbClr val="FF0000"/>
          </a:solidFill>
          <a:ln w="9525">
            <a:solidFill>
              <a:schemeClr val="bg1"/>
            </a:solidFill>
            <a:round/>
            <a:headEnd/>
            <a:tailEnd type="none" w="med" len="lg"/>
          </a:ln>
          <a:effectLst>
            <a:outerShdw blurRad="63500" dist="38099" dir="2700000" algn="ctr" rotWithShape="0">
              <a:srgbClr val="000000">
                <a:alpha val="74998"/>
              </a:srgbClr>
            </a:outerShdw>
          </a:effectLst>
        </p:spPr>
        <p:txBody>
          <a:bodyPr lIns="27432" tIns="22860" rIns="0" bIns="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defRPr sz="1000"/>
            </a:pPr>
            <a:r>
              <a:rPr lang="en-US" sz="1000">
                <a:solidFill>
                  <a:srgbClr val="FFFFFF"/>
                </a:solidFill>
                <a:latin typeface="Honeywell Sans Medium" charset="0"/>
                <a:ea typeface="Honeywell Sans Medium" charset="0"/>
                <a:cs typeface="Honeywell Sans Medium" charset="0"/>
              </a:rPr>
              <a:t>Start</a:t>
            </a:r>
          </a:p>
        </p:txBody>
      </p:sp>
      <p:sp>
        <p:nvSpPr>
          <p:cNvPr id="39" name="Text Box 14"/>
          <p:cNvSpPr txBox="1">
            <a:spLocks noChangeArrowheads="1"/>
          </p:cNvSpPr>
          <p:nvPr/>
        </p:nvSpPr>
        <p:spPr bwMode="auto">
          <a:xfrm>
            <a:off x="1545274" y="2311083"/>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1</a:t>
            </a:r>
          </a:p>
        </p:txBody>
      </p:sp>
      <p:sp>
        <p:nvSpPr>
          <p:cNvPr id="40" name="Text Box 16"/>
          <p:cNvSpPr txBox="1">
            <a:spLocks noChangeArrowheads="1"/>
          </p:cNvSpPr>
          <p:nvPr/>
        </p:nvSpPr>
        <p:spPr bwMode="auto">
          <a:xfrm>
            <a:off x="2954974" y="2301558"/>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2</a:t>
            </a:r>
          </a:p>
        </p:txBody>
      </p:sp>
      <p:sp>
        <p:nvSpPr>
          <p:cNvPr id="41" name="Text Box 17"/>
          <p:cNvSpPr txBox="1">
            <a:spLocks noChangeArrowheads="1"/>
          </p:cNvSpPr>
          <p:nvPr/>
        </p:nvSpPr>
        <p:spPr bwMode="auto">
          <a:xfrm>
            <a:off x="4402774" y="2301558"/>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3</a:t>
            </a:r>
          </a:p>
        </p:txBody>
      </p:sp>
      <p:sp>
        <p:nvSpPr>
          <p:cNvPr id="42" name="Line 25"/>
          <p:cNvSpPr>
            <a:spLocks noChangeShapeType="1"/>
          </p:cNvSpPr>
          <p:nvPr/>
        </p:nvSpPr>
        <p:spPr bwMode="auto">
          <a:xfrm>
            <a:off x="2488249" y="2492058"/>
            <a:ext cx="4667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43" name="Line 26"/>
          <p:cNvSpPr>
            <a:spLocks noChangeShapeType="1"/>
          </p:cNvSpPr>
          <p:nvPr/>
        </p:nvSpPr>
        <p:spPr bwMode="auto">
          <a:xfrm>
            <a:off x="3897949" y="2482533"/>
            <a:ext cx="5048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44" name="Line 27"/>
          <p:cNvSpPr>
            <a:spLocks noChangeShapeType="1"/>
          </p:cNvSpPr>
          <p:nvPr/>
        </p:nvSpPr>
        <p:spPr bwMode="auto">
          <a:xfrm>
            <a:off x="1049974" y="2492058"/>
            <a:ext cx="49530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Honeywell Sans Medium" charset="0"/>
              <a:ea typeface="Honeywell Sans Medium" charset="0"/>
              <a:cs typeface="Honeywell Sans Medium" charset="0"/>
            </a:endParaRPr>
          </a:p>
        </p:txBody>
      </p:sp>
      <p:sp>
        <p:nvSpPr>
          <p:cNvPr id="45" name="AutoShape 46"/>
          <p:cNvSpPr>
            <a:spLocks noChangeArrowheads="1"/>
          </p:cNvSpPr>
          <p:nvPr/>
        </p:nvSpPr>
        <p:spPr bwMode="auto">
          <a:xfrm>
            <a:off x="5850574" y="2120583"/>
            <a:ext cx="1228725" cy="695325"/>
          </a:xfrm>
          <a:prstGeom prst="flowChartDecision">
            <a:avLst/>
          </a:prstGeom>
          <a:solidFill>
            <a:srgbClr val="FFFFFF"/>
          </a:solidFill>
          <a:ln w="9525">
            <a:solidFill>
              <a:srgbClr val="000000"/>
            </a:solidFill>
            <a:miter lim="800000"/>
            <a:headEnd/>
            <a:tailEnd type="none" w="sm" len="sm"/>
          </a:ln>
          <a:effectLst>
            <a:outerShdw blurRad="63500" dist="38099" dir="2700000" algn="ctr" rotWithShape="0">
              <a:srgbClr val="000000">
                <a:alpha val="74998"/>
              </a:srgbClr>
            </a:outerShdw>
          </a:effectLst>
        </p:spPr>
        <p:txBody>
          <a:bodyPr lIns="27432" tIns="22860" rIns="27432"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Condition 1</a:t>
            </a:r>
          </a:p>
        </p:txBody>
      </p:sp>
      <p:sp>
        <p:nvSpPr>
          <p:cNvPr id="46" name="Text Box 48"/>
          <p:cNvSpPr txBox="1">
            <a:spLocks noChangeArrowheads="1"/>
          </p:cNvSpPr>
          <p:nvPr/>
        </p:nvSpPr>
        <p:spPr bwMode="auto">
          <a:xfrm>
            <a:off x="5069524" y="1310958"/>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4</a:t>
            </a:r>
          </a:p>
        </p:txBody>
      </p:sp>
      <p:sp>
        <p:nvSpPr>
          <p:cNvPr id="47" name="Text Box 49"/>
          <p:cNvSpPr txBox="1">
            <a:spLocks noChangeArrowheads="1"/>
          </p:cNvSpPr>
          <p:nvPr/>
        </p:nvSpPr>
        <p:spPr bwMode="auto">
          <a:xfrm>
            <a:off x="7546024" y="2282508"/>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5</a:t>
            </a:r>
          </a:p>
        </p:txBody>
      </p:sp>
      <p:sp>
        <p:nvSpPr>
          <p:cNvPr id="49" name="Line 50"/>
          <p:cNvSpPr>
            <a:spLocks noChangeShapeType="1"/>
          </p:cNvSpPr>
          <p:nvPr/>
        </p:nvSpPr>
        <p:spPr bwMode="auto">
          <a:xfrm flipV="1">
            <a:off x="6460174" y="1482408"/>
            <a:ext cx="0" cy="638175"/>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50" name="Line 51"/>
          <p:cNvSpPr>
            <a:spLocks noChangeShapeType="1"/>
          </p:cNvSpPr>
          <p:nvPr/>
        </p:nvSpPr>
        <p:spPr bwMode="auto">
          <a:xfrm flipH="1">
            <a:off x="6002974" y="1491933"/>
            <a:ext cx="45720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51" name="Line 52"/>
          <p:cNvSpPr>
            <a:spLocks noChangeShapeType="1"/>
          </p:cNvSpPr>
          <p:nvPr/>
        </p:nvSpPr>
        <p:spPr bwMode="auto">
          <a:xfrm flipH="1">
            <a:off x="4755199" y="1482408"/>
            <a:ext cx="3143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57" name="Line 53"/>
          <p:cNvSpPr>
            <a:spLocks noChangeShapeType="1"/>
          </p:cNvSpPr>
          <p:nvPr/>
        </p:nvSpPr>
        <p:spPr bwMode="auto">
          <a:xfrm>
            <a:off x="4755199" y="1482408"/>
            <a:ext cx="0" cy="828675"/>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58" name="Line 54"/>
          <p:cNvSpPr>
            <a:spLocks noChangeShapeType="1"/>
          </p:cNvSpPr>
          <p:nvPr/>
        </p:nvSpPr>
        <p:spPr bwMode="auto">
          <a:xfrm>
            <a:off x="7079299" y="2473008"/>
            <a:ext cx="4667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59" name="Text Box 55"/>
          <p:cNvSpPr txBox="1">
            <a:spLocks noChangeArrowheads="1"/>
          </p:cNvSpPr>
          <p:nvPr/>
        </p:nvSpPr>
        <p:spPr bwMode="auto">
          <a:xfrm>
            <a:off x="9012874" y="2282508"/>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6</a:t>
            </a:r>
          </a:p>
        </p:txBody>
      </p:sp>
      <p:sp>
        <p:nvSpPr>
          <p:cNvPr id="60" name="Arc 86"/>
          <p:cNvSpPr>
            <a:spLocks/>
          </p:cNvSpPr>
          <p:nvPr/>
        </p:nvSpPr>
        <p:spPr bwMode="auto">
          <a:xfrm flipH="1">
            <a:off x="7669849" y="1696720"/>
            <a:ext cx="390525" cy="447675"/>
          </a:xfrm>
          <a:custGeom>
            <a:avLst/>
            <a:gdLst>
              <a:gd name="T0" fmla="*/ 29834505 w 43176"/>
              <a:gd name="T1" fmla="*/ 36034138 h 43200"/>
              <a:gd name="T2" fmla="*/ 31949325 w 43176"/>
              <a:gd name="T3" fmla="*/ 22914690 h 43200"/>
              <a:gd name="T4" fmla="*/ 15983540 w 43176"/>
              <a:gd name="T5" fmla="*/ 24037650 h 43200"/>
              <a:gd name="T6" fmla="*/ 0 60000 65536"/>
              <a:gd name="T7" fmla="*/ 0 60000 65536"/>
              <a:gd name="T8" fmla="*/ 0 60000 65536"/>
              <a:gd name="T9" fmla="*/ 0 w 43176"/>
              <a:gd name="T10" fmla="*/ 0 h 43200"/>
              <a:gd name="T11" fmla="*/ 43176 w 43176"/>
              <a:gd name="T12" fmla="*/ 43200 h 43200"/>
            </a:gdLst>
            <a:ahLst/>
            <a:cxnLst>
              <a:cxn ang="T6">
                <a:pos x="T0" y="T1"/>
              </a:cxn>
              <a:cxn ang="T7">
                <a:pos x="T2" y="T3"/>
              </a:cxn>
              <a:cxn ang="T8">
                <a:pos x="T4" y="T5"/>
              </a:cxn>
            </a:cxnLst>
            <a:rect l="T9" t="T10" r="T11" b="T12"/>
            <a:pathLst>
              <a:path w="43176" h="43200" fill="none" extrusionOk="0">
                <a:moveTo>
                  <a:pt x="40317" y="32379"/>
                </a:moveTo>
                <a:cubicBezTo>
                  <a:pt x="36462" y="39074"/>
                  <a:pt x="29325" y="43199"/>
                  <a:pt x="21600" y="43200"/>
                </a:cubicBezTo>
                <a:cubicBezTo>
                  <a:pt x="9670" y="43200"/>
                  <a:pt x="0" y="33529"/>
                  <a:pt x="0" y="21600"/>
                </a:cubicBezTo>
                <a:cubicBezTo>
                  <a:pt x="0" y="9670"/>
                  <a:pt x="9670" y="0"/>
                  <a:pt x="21600" y="0"/>
                </a:cubicBezTo>
                <a:cubicBezTo>
                  <a:pt x="33137" y="-1"/>
                  <a:pt x="42637" y="9066"/>
                  <a:pt x="43176" y="20590"/>
                </a:cubicBezTo>
              </a:path>
              <a:path w="43176" h="43200" stroke="0" extrusionOk="0">
                <a:moveTo>
                  <a:pt x="40317" y="32379"/>
                </a:moveTo>
                <a:cubicBezTo>
                  <a:pt x="36462" y="39074"/>
                  <a:pt x="29325" y="43199"/>
                  <a:pt x="21600" y="43200"/>
                </a:cubicBezTo>
                <a:cubicBezTo>
                  <a:pt x="9670" y="43200"/>
                  <a:pt x="0" y="33529"/>
                  <a:pt x="0" y="21600"/>
                </a:cubicBezTo>
                <a:cubicBezTo>
                  <a:pt x="0" y="9670"/>
                  <a:pt x="9670" y="0"/>
                  <a:pt x="21600" y="0"/>
                </a:cubicBezTo>
                <a:cubicBezTo>
                  <a:pt x="33137" y="-1"/>
                  <a:pt x="42637" y="9066"/>
                  <a:pt x="43176" y="20590"/>
                </a:cubicBezTo>
                <a:lnTo>
                  <a:pt x="21600" y="21600"/>
                </a:lnTo>
                <a:lnTo>
                  <a:pt x="40317" y="32379"/>
                </a:lnTo>
                <a:close/>
              </a:path>
            </a:pathLst>
          </a:custGeom>
          <a:noFill/>
          <a:ln w="9525">
            <a:solidFill>
              <a:srgbClr val="000000"/>
            </a:solidFill>
            <a:round/>
            <a:headEnd/>
            <a:tailEnd type="triangle" w="sm" len="sm"/>
          </a:ln>
          <a:extLst>
            <a:ext uri="{909E8E84-426E-40DD-AFC4-6F175D3DCCD1}">
              <a14:hiddenFill xmlns:a14="http://schemas.microsoft.com/office/drawing/2010/main">
                <a:solidFill>
                  <a:srgbClr val="FFFFFF"/>
                </a:solidFill>
              </a14:hiddenFill>
            </a:ext>
          </a:extLst>
        </p:spPr>
        <p:txBody>
          <a:bodyPr lIns="27432" tIns="22860" rIns="0" bIns="0" anchor="ct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100000"/>
              </a:lnSpc>
              <a:spcBef>
                <a:spcPct val="0"/>
              </a:spcBef>
              <a:buClrTx/>
              <a:buFontTx/>
              <a:buNone/>
            </a:pPr>
            <a:endParaRPr lang="en-US" altLang="en-US" sz="800" b="0">
              <a:solidFill>
                <a:srgbClr val="000000"/>
              </a:solidFill>
              <a:latin typeface="Honeywell Sans Medium" charset="0"/>
              <a:ea typeface="Honeywell Sans Medium" charset="0"/>
              <a:cs typeface="Honeywell Sans Medium" charset="0"/>
            </a:endParaRPr>
          </a:p>
          <a:p>
            <a:pPr algn="ctr" eaLnBrk="1" hangingPunct="1">
              <a:lnSpc>
                <a:spcPct val="100000"/>
              </a:lnSpc>
              <a:spcBef>
                <a:spcPct val="0"/>
              </a:spcBef>
              <a:buClrTx/>
              <a:buFontTx/>
              <a:buNone/>
            </a:pPr>
            <a:r>
              <a:rPr lang="en-US" altLang="en-US" sz="800" b="0">
                <a:solidFill>
                  <a:srgbClr val="000000"/>
                </a:solidFill>
                <a:latin typeface="Honeywell Sans Medium" charset="0"/>
                <a:ea typeface="Honeywell Sans Medium" charset="0"/>
                <a:cs typeface="Honeywell Sans Medium" charset="0"/>
              </a:rPr>
              <a:t>Cycle</a:t>
            </a:r>
          </a:p>
        </p:txBody>
      </p:sp>
      <p:sp>
        <p:nvSpPr>
          <p:cNvPr id="61" name="Line 87"/>
          <p:cNvSpPr>
            <a:spLocks noChangeShapeType="1"/>
          </p:cNvSpPr>
          <p:nvPr/>
        </p:nvSpPr>
        <p:spPr bwMode="auto">
          <a:xfrm flipV="1">
            <a:off x="8508049" y="2458720"/>
            <a:ext cx="533400" cy="0"/>
          </a:xfrm>
          <a:prstGeom prst="line">
            <a:avLst/>
          </a:prstGeom>
          <a:noFill/>
          <a:ln w="9525">
            <a:solidFill>
              <a:srgbClr val="000000"/>
            </a:solidFill>
            <a:prstDash val="dash"/>
            <a:round/>
            <a:headEnd/>
            <a:tailEnd type="non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62" name="Oval 61"/>
          <p:cNvSpPr>
            <a:spLocks noChangeArrowheads="1"/>
          </p:cNvSpPr>
          <p:nvPr/>
        </p:nvSpPr>
        <p:spPr bwMode="auto">
          <a:xfrm>
            <a:off x="9193849" y="3068320"/>
            <a:ext cx="533400" cy="266700"/>
          </a:xfrm>
          <a:prstGeom prst="ellipse">
            <a:avLst/>
          </a:prstGeom>
          <a:solidFill>
            <a:srgbClr val="92D050"/>
          </a:solidFill>
          <a:ln w="9525">
            <a:solidFill>
              <a:schemeClr val="bg1"/>
            </a:solidFill>
            <a:round/>
            <a:headEnd/>
            <a:tailEnd type="none" w="med" len="lg"/>
          </a:ln>
          <a:effectLst>
            <a:outerShdw blurRad="63500" dist="38099" dir="2700000" algn="ctr" rotWithShape="0">
              <a:srgbClr val="000000">
                <a:alpha val="74998"/>
              </a:srgbClr>
            </a:outerShdw>
          </a:effectLst>
        </p:spPr>
        <p:txBody>
          <a:bodyPr lIns="27432" tIns="22860" rIns="0" bIns="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defRPr sz="1000"/>
            </a:pPr>
            <a:r>
              <a:rPr lang="en-US" sz="1000" dirty="0">
                <a:solidFill>
                  <a:srgbClr val="FFFFFF"/>
                </a:solidFill>
                <a:latin typeface="Honeywell Sans Medium" charset="0"/>
                <a:ea typeface="Honeywell Sans Medium" charset="0"/>
                <a:cs typeface="Honeywell Sans Medium" charset="0"/>
              </a:rPr>
              <a:t>End</a:t>
            </a:r>
          </a:p>
        </p:txBody>
      </p:sp>
      <p:sp>
        <p:nvSpPr>
          <p:cNvPr id="63" name="Line 26"/>
          <p:cNvSpPr>
            <a:spLocks noChangeShapeType="1"/>
          </p:cNvSpPr>
          <p:nvPr/>
        </p:nvSpPr>
        <p:spPr bwMode="auto">
          <a:xfrm>
            <a:off x="5383849" y="2458720"/>
            <a:ext cx="5048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64" name="Line 96"/>
          <p:cNvSpPr>
            <a:spLocks noChangeShapeType="1"/>
          </p:cNvSpPr>
          <p:nvPr/>
        </p:nvSpPr>
        <p:spPr bwMode="auto">
          <a:xfrm>
            <a:off x="9422449" y="2687320"/>
            <a:ext cx="0" cy="38100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Honeywell Sans Medium" charset="0"/>
              <a:ea typeface="Honeywell Sans Medium" charset="0"/>
              <a:cs typeface="Honeywell Sans Medium" charset="0"/>
            </a:endParaRPr>
          </a:p>
        </p:txBody>
      </p:sp>
      <p:sp>
        <p:nvSpPr>
          <p:cNvPr id="65" name="TextBox 37"/>
          <p:cNvSpPr txBox="1">
            <a:spLocks noChangeArrowheads="1"/>
          </p:cNvSpPr>
          <p:nvPr/>
        </p:nvSpPr>
        <p:spPr bwMode="auto">
          <a:xfrm>
            <a:off x="516574" y="372027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800" b="0">
                <a:latin typeface="Honeywell Sans Medium" charset="0"/>
                <a:ea typeface="Honeywell Sans Medium" charset="0"/>
                <a:cs typeface="Honeywell Sans Medium" charset="0"/>
              </a:rPr>
              <a:t>User Journey Path to be</a:t>
            </a:r>
          </a:p>
        </p:txBody>
      </p:sp>
      <p:sp>
        <p:nvSpPr>
          <p:cNvPr id="66" name="Oval 65"/>
          <p:cNvSpPr>
            <a:spLocks noChangeArrowheads="1"/>
          </p:cNvSpPr>
          <p:nvPr/>
        </p:nvSpPr>
        <p:spPr bwMode="auto">
          <a:xfrm>
            <a:off x="507049" y="5158545"/>
            <a:ext cx="533400" cy="266700"/>
          </a:xfrm>
          <a:prstGeom prst="ellipse">
            <a:avLst/>
          </a:prstGeom>
          <a:solidFill>
            <a:srgbClr val="FF0000"/>
          </a:solidFill>
          <a:ln w="9525">
            <a:solidFill>
              <a:schemeClr val="bg1"/>
            </a:solidFill>
            <a:round/>
            <a:headEnd/>
            <a:tailEnd type="none" w="med" len="lg"/>
          </a:ln>
          <a:effectLst>
            <a:outerShdw blurRad="63500" dist="38099" dir="2700000" algn="ctr" rotWithShape="0">
              <a:srgbClr val="000000">
                <a:alpha val="74998"/>
              </a:srgbClr>
            </a:outerShdw>
          </a:effectLst>
        </p:spPr>
        <p:txBody>
          <a:bodyPr lIns="27432" tIns="22860" rIns="0" bIns="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defRPr sz="1000"/>
            </a:pPr>
            <a:r>
              <a:rPr lang="en-US" sz="1000">
                <a:solidFill>
                  <a:srgbClr val="FFFFFF"/>
                </a:solidFill>
                <a:latin typeface="Honeywell Sans Medium" charset="0"/>
                <a:ea typeface="Honeywell Sans Medium" charset="0"/>
                <a:cs typeface="Honeywell Sans Medium" charset="0"/>
              </a:rPr>
              <a:t>Start</a:t>
            </a:r>
          </a:p>
        </p:txBody>
      </p:sp>
      <p:sp>
        <p:nvSpPr>
          <p:cNvPr id="67" name="Text Box 14"/>
          <p:cNvSpPr txBox="1">
            <a:spLocks noChangeArrowheads="1"/>
          </p:cNvSpPr>
          <p:nvPr/>
        </p:nvSpPr>
        <p:spPr bwMode="auto">
          <a:xfrm>
            <a:off x="1545274" y="5101395"/>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1</a:t>
            </a:r>
          </a:p>
        </p:txBody>
      </p:sp>
      <p:sp>
        <p:nvSpPr>
          <p:cNvPr id="95" name="Text Box 17"/>
          <p:cNvSpPr txBox="1">
            <a:spLocks noChangeArrowheads="1"/>
          </p:cNvSpPr>
          <p:nvPr/>
        </p:nvSpPr>
        <p:spPr bwMode="auto">
          <a:xfrm>
            <a:off x="4402774" y="5091870"/>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3</a:t>
            </a:r>
          </a:p>
        </p:txBody>
      </p:sp>
      <p:sp>
        <p:nvSpPr>
          <p:cNvPr id="96" name="Line 25"/>
          <p:cNvSpPr>
            <a:spLocks noChangeShapeType="1"/>
          </p:cNvSpPr>
          <p:nvPr/>
        </p:nvSpPr>
        <p:spPr bwMode="auto">
          <a:xfrm>
            <a:off x="2488249" y="5282370"/>
            <a:ext cx="4667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97" name="Line 26"/>
          <p:cNvSpPr>
            <a:spLocks noChangeShapeType="1"/>
          </p:cNvSpPr>
          <p:nvPr/>
        </p:nvSpPr>
        <p:spPr bwMode="auto">
          <a:xfrm>
            <a:off x="3897949" y="5272845"/>
            <a:ext cx="5048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98" name="Line 27"/>
          <p:cNvSpPr>
            <a:spLocks noChangeShapeType="1"/>
          </p:cNvSpPr>
          <p:nvPr/>
        </p:nvSpPr>
        <p:spPr bwMode="auto">
          <a:xfrm>
            <a:off x="1049974" y="5282370"/>
            <a:ext cx="49530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Honeywell Sans Medium" charset="0"/>
              <a:ea typeface="Honeywell Sans Medium" charset="0"/>
              <a:cs typeface="Honeywell Sans Medium" charset="0"/>
            </a:endParaRPr>
          </a:p>
        </p:txBody>
      </p:sp>
      <p:sp>
        <p:nvSpPr>
          <p:cNvPr id="99" name="AutoShape 46"/>
          <p:cNvSpPr>
            <a:spLocks noChangeArrowheads="1"/>
          </p:cNvSpPr>
          <p:nvPr/>
        </p:nvSpPr>
        <p:spPr bwMode="auto">
          <a:xfrm>
            <a:off x="2954974" y="4939470"/>
            <a:ext cx="1228725" cy="695325"/>
          </a:xfrm>
          <a:prstGeom prst="flowChartDecision">
            <a:avLst/>
          </a:prstGeom>
          <a:solidFill>
            <a:srgbClr val="FFFFFF"/>
          </a:solidFill>
          <a:ln w="9525">
            <a:solidFill>
              <a:srgbClr val="000000"/>
            </a:solidFill>
            <a:miter lim="800000"/>
            <a:headEnd/>
            <a:tailEnd type="none" w="sm" len="sm"/>
          </a:ln>
          <a:effectLst>
            <a:outerShdw blurRad="63500" dist="38099" dir="2700000" algn="ctr" rotWithShape="0">
              <a:srgbClr val="000000">
                <a:alpha val="74998"/>
              </a:srgbClr>
            </a:outerShdw>
          </a:effectLst>
        </p:spPr>
        <p:txBody>
          <a:bodyPr lIns="27432" tIns="22860" rIns="27432"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Condition 1</a:t>
            </a:r>
          </a:p>
        </p:txBody>
      </p:sp>
      <p:sp>
        <p:nvSpPr>
          <p:cNvPr id="100" name="Text Box 48"/>
          <p:cNvSpPr txBox="1">
            <a:spLocks noChangeArrowheads="1"/>
          </p:cNvSpPr>
          <p:nvPr/>
        </p:nvSpPr>
        <p:spPr bwMode="auto">
          <a:xfrm>
            <a:off x="3031174" y="4329870"/>
            <a:ext cx="942975" cy="381000"/>
          </a:xfrm>
          <a:prstGeom prst="rect">
            <a:avLst/>
          </a:prstGeom>
          <a:solidFill>
            <a:srgbClr val="FFFFFF"/>
          </a:solidFill>
          <a:ln w="9525">
            <a:solidFill>
              <a:srgbClr val="000000"/>
            </a:solidFill>
            <a:miter lim="800000"/>
            <a:headEnd/>
            <a:tailEnd type="none" w="med" len="lg"/>
          </a:ln>
          <a:effectLst>
            <a:outerShdw blurRad="63500" dist="38099" dir="2700000" algn="ctr" rotWithShape="0">
              <a:srgbClr val="000000">
                <a:alpha val="74998"/>
              </a:srgbClr>
            </a:outerShdw>
          </a:effectLst>
        </p:spPr>
        <p:txBody>
          <a:bodyPr lIns="27432" tIns="22860" rIns="0"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defRPr sz="1000"/>
            </a:pPr>
            <a:r>
              <a:rPr lang="en-US" sz="800" dirty="0">
                <a:solidFill>
                  <a:srgbClr val="000000"/>
                </a:solidFill>
                <a:latin typeface="Honeywell Sans Medium" charset="0"/>
                <a:ea typeface="Honeywell Sans Medium" charset="0"/>
                <a:cs typeface="Honeywell Sans Medium" charset="0"/>
              </a:rPr>
              <a:t>User step 4</a:t>
            </a:r>
          </a:p>
        </p:txBody>
      </p:sp>
      <p:sp>
        <p:nvSpPr>
          <p:cNvPr id="101" name="Line 50"/>
          <p:cNvSpPr>
            <a:spLocks noChangeShapeType="1"/>
          </p:cNvSpPr>
          <p:nvPr/>
        </p:nvSpPr>
        <p:spPr bwMode="auto">
          <a:xfrm flipV="1">
            <a:off x="3564574" y="4710870"/>
            <a:ext cx="0" cy="257175"/>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102" name="Line 52"/>
          <p:cNvSpPr>
            <a:spLocks noChangeShapeType="1"/>
          </p:cNvSpPr>
          <p:nvPr/>
        </p:nvSpPr>
        <p:spPr bwMode="auto">
          <a:xfrm flipH="1">
            <a:off x="1964374" y="4482270"/>
            <a:ext cx="10763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103" name="Line 53"/>
          <p:cNvSpPr>
            <a:spLocks noChangeShapeType="1"/>
          </p:cNvSpPr>
          <p:nvPr/>
        </p:nvSpPr>
        <p:spPr bwMode="auto">
          <a:xfrm>
            <a:off x="1964374" y="4482270"/>
            <a:ext cx="0" cy="600075"/>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nchor="ctr"/>
          <a:lstStyle/>
          <a:p>
            <a:pPr algn="ctr"/>
            <a:endParaRPr lang="en-US">
              <a:latin typeface="Honeywell Sans Medium" charset="0"/>
              <a:ea typeface="Honeywell Sans Medium" charset="0"/>
              <a:cs typeface="Honeywell Sans Medium" charset="0"/>
            </a:endParaRPr>
          </a:p>
        </p:txBody>
      </p:sp>
      <p:sp>
        <p:nvSpPr>
          <p:cNvPr id="104" name="Oval 103"/>
          <p:cNvSpPr>
            <a:spLocks noChangeArrowheads="1"/>
          </p:cNvSpPr>
          <p:nvPr/>
        </p:nvSpPr>
        <p:spPr bwMode="auto">
          <a:xfrm>
            <a:off x="5926774" y="5091870"/>
            <a:ext cx="533400" cy="266700"/>
          </a:xfrm>
          <a:prstGeom prst="ellipse">
            <a:avLst/>
          </a:prstGeom>
          <a:solidFill>
            <a:srgbClr val="92D050"/>
          </a:solidFill>
          <a:ln w="9525">
            <a:solidFill>
              <a:schemeClr val="bg1"/>
            </a:solidFill>
            <a:round/>
            <a:headEnd/>
            <a:tailEnd type="none" w="med" len="lg"/>
          </a:ln>
          <a:effectLst>
            <a:outerShdw blurRad="63500" dist="38099" dir="2700000" algn="ctr" rotWithShape="0">
              <a:srgbClr val="000000">
                <a:alpha val="74998"/>
              </a:srgbClr>
            </a:outerShdw>
          </a:effectLst>
        </p:spPr>
        <p:txBody>
          <a:bodyPr lIns="27432" tIns="22860" rIns="0" bIns="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defRPr sz="1000"/>
            </a:pPr>
            <a:r>
              <a:rPr lang="en-US" sz="1000" dirty="0">
                <a:solidFill>
                  <a:srgbClr val="FFFFFF"/>
                </a:solidFill>
                <a:latin typeface="Honeywell Sans Medium" charset="0"/>
                <a:ea typeface="Honeywell Sans Medium" charset="0"/>
                <a:cs typeface="Honeywell Sans Medium" charset="0"/>
              </a:rPr>
              <a:t>End</a:t>
            </a:r>
          </a:p>
        </p:txBody>
      </p:sp>
      <p:sp>
        <p:nvSpPr>
          <p:cNvPr id="105" name="Line 26"/>
          <p:cNvSpPr>
            <a:spLocks noChangeShapeType="1"/>
          </p:cNvSpPr>
          <p:nvPr/>
        </p:nvSpPr>
        <p:spPr bwMode="auto">
          <a:xfrm>
            <a:off x="5383849" y="5249033"/>
            <a:ext cx="504825"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Honeywell Sans Medium" charset="0"/>
              <a:ea typeface="Honeywell Sans Medium" charset="0"/>
              <a:cs typeface="Honeywell Sans Medium" charset="0"/>
            </a:endParaRPr>
          </a:p>
        </p:txBody>
      </p:sp>
    </p:spTree>
    <p:extLst>
      <p:ext uri="{BB962C8B-B14F-4D97-AF65-F5344CB8AC3E}">
        <p14:creationId xmlns:p14="http://schemas.microsoft.com/office/powerpoint/2010/main" val="1972732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Next Steps</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10</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graphicFrame>
        <p:nvGraphicFramePr>
          <p:cNvPr id="48" name="Content Placeholder 4"/>
          <p:cNvGraphicFramePr>
            <a:graphicFrameLocks noGrp="1"/>
          </p:cNvGraphicFramePr>
          <p:nvPr>
            <p:extLst>
              <p:ext uri="{D42A27DB-BD31-4B8C-83A1-F6EECF244321}">
                <p14:modId xmlns:p14="http://schemas.microsoft.com/office/powerpoint/2010/main" val="647772428"/>
              </p:ext>
            </p:extLst>
          </p:nvPr>
        </p:nvGraphicFramePr>
        <p:xfrm>
          <a:off x="458348" y="1188720"/>
          <a:ext cx="10954880" cy="4543425"/>
        </p:xfrm>
        <a:graphic>
          <a:graphicData uri="http://schemas.openxmlformats.org/drawingml/2006/table">
            <a:tbl>
              <a:tblPr/>
              <a:tblGrid>
                <a:gridCol w="6605585">
                  <a:extLst>
                    <a:ext uri="{9D8B030D-6E8A-4147-A177-3AD203B41FA5}">
                      <a16:colId xmlns:a16="http://schemas.microsoft.com/office/drawing/2014/main" val="20000"/>
                    </a:ext>
                  </a:extLst>
                </a:gridCol>
                <a:gridCol w="1545633">
                  <a:extLst>
                    <a:ext uri="{9D8B030D-6E8A-4147-A177-3AD203B41FA5}">
                      <a16:colId xmlns:a16="http://schemas.microsoft.com/office/drawing/2014/main" val="20001"/>
                    </a:ext>
                  </a:extLst>
                </a:gridCol>
                <a:gridCol w="1144034">
                  <a:extLst>
                    <a:ext uri="{9D8B030D-6E8A-4147-A177-3AD203B41FA5}">
                      <a16:colId xmlns:a16="http://schemas.microsoft.com/office/drawing/2014/main" val="20002"/>
                    </a:ext>
                  </a:extLst>
                </a:gridCol>
                <a:gridCol w="1659628">
                  <a:extLst>
                    <a:ext uri="{9D8B030D-6E8A-4147-A177-3AD203B41FA5}">
                      <a16:colId xmlns:a16="http://schemas.microsoft.com/office/drawing/2014/main" val="20003"/>
                    </a:ext>
                  </a:extLst>
                </a:gridCol>
              </a:tblGrid>
              <a:tr h="457200">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Steps</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Owner</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Status</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Honeywell Sans Medium" charset="0"/>
                          <a:ea typeface="Honeywell Sans Medium" charset="0"/>
                          <a:cs typeface="Honeywell Sans Medium" charset="0"/>
                        </a:rPr>
                        <a:t>Closure Date</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371475">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Arial" charset="0"/>
                        <a:ea typeface="Arial"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371475">
                <a:tc gridSpan="4">
                  <a:txBody>
                    <a:bodyPr/>
                    <a:lstStyle>
                      <a:lvl1pPr defTabSz="912813">
                        <a:lnSpc>
                          <a:spcPct val="85000"/>
                        </a:lnSpc>
                        <a:spcBef>
                          <a:spcPct val="30000"/>
                        </a:spcBef>
                        <a:buClr>
                          <a:srgbClr val="DC241F"/>
                        </a:buClr>
                        <a:defRPr sz="2000" b="1">
                          <a:solidFill>
                            <a:schemeClr val="tx1"/>
                          </a:solidFill>
                          <a:latin typeface="Arial" charset="0"/>
                        </a:defRPr>
                      </a:lvl1pPr>
                      <a:lvl2pPr marL="742950" indent="-285750" defTabSz="912813">
                        <a:lnSpc>
                          <a:spcPct val="85000"/>
                        </a:lnSpc>
                        <a:spcBef>
                          <a:spcPct val="30000"/>
                        </a:spcBef>
                        <a:buClr>
                          <a:srgbClr val="0053A5"/>
                        </a:buClr>
                        <a:buSzPct val="120000"/>
                        <a:buFont typeface="Arial" charset="0"/>
                        <a:defRPr b="1">
                          <a:solidFill>
                            <a:schemeClr val="tx1"/>
                          </a:solidFill>
                          <a:latin typeface="Arial" charset="0"/>
                        </a:defRPr>
                      </a:lvl2pPr>
                      <a:lvl3pPr marL="1143000" indent="-228600" defTabSz="912813">
                        <a:lnSpc>
                          <a:spcPct val="85000"/>
                        </a:lnSpc>
                        <a:spcBef>
                          <a:spcPct val="30000"/>
                        </a:spcBef>
                        <a:buClr>
                          <a:srgbClr val="317023"/>
                        </a:buClr>
                        <a:buSzPct val="90000"/>
                        <a:buFont typeface="Wingdings" charset="2"/>
                        <a:defRPr sz="1600">
                          <a:solidFill>
                            <a:schemeClr val="tx1"/>
                          </a:solidFill>
                          <a:latin typeface="Arial" charset="0"/>
                        </a:defRPr>
                      </a:lvl3pPr>
                      <a:lvl4pPr marL="1600200" indent="-228600" defTabSz="912813">
                        <a:spcBef>
                          <a:spcPct val="20000"/>
                        </a:spcBef>
                        <a:defRPr sz="1400">
                          <a:solidFill>
                            <a:schemeClr val="tx1"/>
                          </a:solidFill>
                          <a:latin typeface="Arial" charset="0"/>
                        </a:defRPr>
                      </a:lvl4pPr>
                      <a:lvl5pPr marL="2057400" indent="-228600" defTabSz="912813">
                        <a:spcBef>
                          <a:spcPct val="20000"/>
                        </a:spcBef>
                        <a:defRPr>
                          <a:solidFill>
                            <a:schemeClr val="tx1"/>
                          </a:solidFill>
                          <a:latin typeface="Times New Roman" charset="0"/>
                        </a:defRPr>
                      </a:lvl5pPr>
                      <a:lvl6pPr marL="2514600" indent="-228600" defTabSz="912813" eaLnBrk="0" fontAlgn="base" hangingPunct="0">
                        <a:spcBef>
                          <a:spcPct val="20000"/>
                        </a:spcBef>
                        <a:spcAft>
                          <a:spcPct val="0"/>
                        </a:spcAft>
                        <a:defRPr>
                          <a:solidFill>
                            <a:schemeClr val="tx1"/>
                          </a:solidFill>
                          <a:latin typeface="Times New Roman" charset="0"/>
                        </a:defRPr>
                      </a:lvl6pPr>
                      <a:lvl7pPr marL="2971800" indent="-228600" defTabSz="912813" eaLnBrk="0" fontAlgn="base" hangingPunct="0">
                        <a:spcBef>
                          <a:spcPct val="20000"/>
                        </a:spcBef>
                        <a:spcAft>
                          <a:spcPct val="0"/>
                        </a:spcAft>
                        <a:defRPr>
                          <a:solidFill>
                            <a:schemeClr val="tx1"/>
                          </a:solidFill>
                          <a:latin typeface="Times New Roman" charset="0"/>
                        </a:defRPr>
                      </a:lvl7pPr>
                      <a:lvl8pPr marL="3429000" indent="-228600" defTabSz="912813" eaLnBrk="0" fontAlgn="base" hangingPunct="0">
                        <a:spcBef>
                          <a:spcPct val="20000"/>
                        </a:spcBef>
                        <a:spcAft>
                          <a:spcPct val="0"/>
                        </a:spcAft>
                        <a:defRPr>
                          <a:solidFill>
                            <a:schemeClr val="tx1"/>
                          </a:solidFill>
                          <a:latin typeface="Times New Roman" charset="0"/>
                        </a:defRPr>
                      </a:lvl8pPr>
                      <a:lvl9pPr marL="3886200" indent="-228600" defTabSz="912813" eaLnBrk="0" fontAlgn="base" hangingPunct="0">
                        <a:spcBef>
                          <a:spcPct val="20000"/>
                        </a:spcBef>
                        <a:spcAft>
                          <a:spcPct val="0"/>
                        </a:spcAft>
                        <a:defRPr>
                          <a:solidFill>
                            <a:schemeClr val="tx1"/>
                          </a:solidFill>
                          <a:latin typeface="Times New Roman" charset="0"/>
                        </a:defRPr>
                      </a:lvl9p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Honeywell Sans Medium" charset="0"/>
                          <a:ea typeface="Honeywell Sans Medium" charset="0"/>
                          <a:cs typeface="Honeywell Sans Medium" charset="0"/>
                        </a:rPr>
                        <a:t>Follow-up Review Date: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271772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err="1"/>
              <a:t>Jakob</a:t>
            </a:r>
            <a:r>
              <a:rPr lang="en-US" altLang="en-US" dirty="0"/>
              <a:t> Nielsen Usability Heuristics</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11</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a:spLocks noChangeArrowheads="1"/>
          </p:cNvSpPr>
          <p:nvPr/>
        </p:nvSpPr>
        <p:spPr bwMode="auto">
          <a:xfrm>
            <a:off x="458348" y="1710473"/>
            <a:ext cx="3835400" cy="439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0306" tIns="0" rIns="0" bIns="88872" anchor="ctr">
            <a:spAutoFit/>
          </a:bodyPr>
          <a:lstStyle>
            <a:lvl1pPr>
              <a:lnSpc>
                <a:spcPct val="85000"/>
              </a:lnSpc>
              <a:spcBef>
                <a:spcPct val="30000"/>
              </a:spcBef>
              <a:buClr>
                <a:srgbClr val="DC241F"/>
              </a:buClr>
              <a:buChar char="•"/>
              <a:defRPr sz="2400" b="1">
                <a:solidFill>
                  <a:schemeClr val="tx1"/>
                </a:solidFill>
                <a:latin typeface="Arial" charset="0"/>
              </a:defRPr>
            </a:lvl1pPr>
            <a:lvl2pPr>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a:lnSpc>
                <a:spcPct val="100000"/>
              </a:lnSpc>
              <a:spcBef>
                <a:spcPct val="0"/>
              </a:spcBef>
              <a:buClrTx/>
              <a:buFontTx/>
              <a:buNone/>
            </a:pPr>
            <a:r>
              <a:rPr lang="en-US" altLang="en-US" sz="1000" u="sng" dirty="0">
                <a:solidFill>
                  <a:srgbClr val="002060"/>
                </a:solidFill>
                <a:latin typeface="Honeywell Sans Medium" charset="0"/>
                <a:ea typeface="Honeywell Sans Medium" charset="0"/>
                <a:cs typeface="Honeywell Sans Medium" charset="0"/>
              </a:rPr>
              <a:t>Visibility</a:t>
            </a:r>
            <a:r>
              <a:rPr lang="en-US" altLang="en-US" sz="1000" b="0" dirty="0">
                <a:solidFill>
                  <a:srgbClr val="002060"/>
                </a:solidFill>
                <a:latin typeface="Honeywell Sans Medium" charset="0"/>
                <a:ea typeface="Honeywell Sans Medium" charset="0"/>
                <a:cs typeface="Honeywell Sans Medium" charset="0"/>
              </a:rPr>
              <a:t> of system status</a:t>
            </a:r>
          </a:p>
          <a:p>
            <a:pPr>
              <a:lnSpc>
                <a:spcPct val="100000"/>
              </a:lnSpc>
              <a:spcBef>
                <a:spcPct val="0"/>
              </a:spcBef>
              <a:buClrTx/>
              <a:buFontTx/>
              <a:buNone/>
            </a:pPr>
            <a:r>
              <a:rPr lang="en-US" altLang="en-US" sz="1000" b="0" dirty="0">
                <a:latin typeface="Honeywell Sans Medium" charset="0"/>
                <a:ea typeface="Honeywell Sans Medium" charset="0"/>
                <a:cs typeface="Honeywell Sans Medium" charset="0"/>
              </a:rPr>
              <a:t>The system should always keep users informed about what is going on, through appropriate feedback within reasonable time.</a:t>
            </a:r>
          </a:p>
          <a:p>
            <a:pPr lvl="1">
              <a:lnSpc>
                <a:spcPct val="100000"/>
              </a:lnSpc>
              <a:spcBef>
                <a:spcPct val="0"/>
              </a:spcBef>
              <a:buClrTx/>
              <a:buSzTx/>
              <a:buFontTx/>
              <a:buNone/>
            </a:pPr>
            <a:r>
              <a:rPr lang="en-US" altLang="en-US" sz="1000" b="0" dirty="0">
                <a:latin typeface="Honeywell Sans Medium" charset="0"/>
                <a:ea typeface="Honeywell Sans Medium" charset="0"/>
                <a:cs typeface="Honeywell Sans Medium" charset="0"/>
              </a:rPr>
              <a:t> </a:t>
            </a:r>
          </a:p>
          <a:p>
            <a:pPr>
              <a:lnSpc>
                <a:spcPct val="100000"/>
              </a:lnSpc>
              <a:spcBef>
                <a:spcPct val="0"/>
              </a:spcBef>
              <a:buClrTx/>
              <a:buFontTx/>
              <a:buNone/>
            </a:pPr>
            <a:r>
              <a:rPr lang="en-US" altLang="en-US" sz="1000" u="sng" dirty="0">
                <a:solidFill>
                  <a:srgbClr val="002060"/>
                </a:solidFill>
                <a:latin typeface="Honeywell Sans Medium" charset="0"/>
                <a:ea typeface="Honeywell Sans Medium" charset="0"/>
                <a:cs typeface="Honeywell Sans Medium" charset="0"/>
              </a:rPr>
              <a:t>Match</a:t>
            </a:r>
            <a:r>
              <a:rPr lang="en-US" altLang="en-US" sz="1000" b="0" dirty="0">
                <a:solidFill>
                  <a:srgbClr val="002060"/>
                </a:solidFill>
                <a:latin typeface="Honeywell Sans Medium" charset="0"/>
                <a:ea typeface="Honeywell Sans Medium" charset="0"/>
                <a:cs typeface="Honeywell Sans Medium" charset="0"/>
              </a:rPr>
              <a:t> between system and the real world</a:t>
            </a:r>
          </a:p>
          <a:p>
            <a:pPr>
              <a:lnSpc>
                <a:spcPct val="100000"/>
              </a:lnSpc>
              <a:spcBef>
                <a:spcPct val="0"/>
              </a:spcBef>
              <a:buClrTx/>
              <a:buFontTx/>
              <a:buNone/>
            </a:pPr>
            <a:r>
              <a:rPr lang="en-US" altLang="en-US" sz="1000" b="0" dirty="0">
                <a:latin typeface="Honeywell Sans Medium" charset="0"/>
                <a:ea typeface="Honeywell Sans Medium" charset="0"/>
                <a:cs typeface="Honeywell Sans Medium" charset="0"/>
              </a:rPr>
              <a:t>The system should speak the users' language, with words, phrases and concepts familiar to the user, rather than system-oriented terms. Follow real-world conventions, making information appear in a natural and logical order.</a:t>
            </a:r>
          </a:p>
          <a:p>
            <a:pPr lvl="1">
              <a:lnSpc>
                <a:spcPct val="100000"/>
              </a:lnSpc>
              <a:spcBef>
                <a:spcPct val="0"/>
              </a:spcBef>
              <a:buClrTx/>
              <a:buSzTx/>
              <a:buFontTx/>
              <a:buNone/>
            </a:pPr>
            <a:r>
              <a:rPr lang="en-US" altLang="en-US" sz="1000" b="0" dirty="0">
                <a:latin typeface="Honeywell Sans Medium" charset="0"/>
                <a:ea typeface="Honeywell Sans Medium" charset="0"/>
                <a:cs typeface="Honeywell Sans Medium" charset="0"/>
              </a:rPr>
              <a:t> </a:t>
            </a:r>
          </a:p>
          <a:p>
            <a:pPr>
              <a:lnSpc>
                <a:spcPct val="100000"/>
              </a:lnSpc>
              <a:spcBef>
                <a:spcPct val="0"/>
              </a:spcBef>
              <a:buClrTx/>
              <a:buFontTx/>
              <a:buNone/>
            </a:pPr>
            <a:r>
              <a:rPr lang="en-US" altLang="en-US" sz="1000" b="0" dirty="0">
                <a:solidFill>
                  <a:srgbClr val="002060"/>
                </a:solidFill>
                <a:latin typeface="Honeywell Sans Medium" charset="0"/>
                <a:ea typeface="Honeywell Sans Medium" charset="0"/>
                <a:cs typeface="Honeywell Sans Medium" charset="0"/>
              </a:rPr>
              <a:t>User </a:t>
            </a:r>
            <a:r>
              <a:rPr lang="en-US" altLang="en-US" sz="1000" u="sng" dirty="0">
                <a:solidFill>
                  <a:srgbClr val="002060"/>
                </a:solidFill>
                <a:latin typeface="Honeywell Sans Medium" charset="0"/>
                <a:ea typeface="Honeywell Sans Medium" charset="0"/>
                <a:cs typeface="Honeywell Sans Medium" charset="0"/>
              </a:rPr>
              <a:t>control</a:t>
            </a:r>
            <a:r>
              <a:rPr lang="en-US" altLang="en-US" sz="1000" b="0" dirty="0">
                <a:solidFill>
                  <a:srgbClr val="002060"/>
                </a:solidFill>
                <a:latin typeface="Honeywell Sans Medium" charset="0"/>
                <a:ea typeface="Honeywell Sans Medium" charset="0"/>
                <a:cs typeface="Honeywell Sans Medium" charset="0"/>
              </a:rPr>
              <a:t> and freedom</a:t>
            </a:r>
          </a:p>
          <a:p>
            <a:pPr>
              <a:lnSpc>
                <a:spcPct val="100000"/>
              </a:lnSpc>
              <a:spcBef>
                <a:spcPct val="0"/>
              </a:spcBef>
              <a:buClrTx/>
              <a:buFontTx/>
              <a:buNone/>
            </a:pPr>
            <a:r>
              <a:rPr lang="en-US" altLang="en-US" sz="1000" b="0" dirty="0">
                <a:latin typeface="Honeywell Sans Medium" charset="0"/>
                <a:ea typeface="Honeywell Sans Medium" charset="0"/>
                <a:cs typeface="Honeywell Sans Medium" charset="0"/>
              </a:rPr>
              <a:t>Users often choose system functions by mistake and will need a clearly marked "emergency exit" to leave the unwanted state without having to go through an extended dialogue. Support undo and redo.</a:t>
            </a:r>
          </a:p>
          <a:p>
            <a:pPr lvl="1">
              <a:lnSpc>
                <a:spcPct val="100000"/>
              </a:lnSpc>
              <a:spcBef>
                <a:spcPct val="0"/>
              </a:spcBef>
              <a:buClrTx/>
              <a:buSzTx/>
              <a:buFontTx/>
              <a:buNone/>
            </a:pPr>
            <a:r>
              <a:rPr lang="en-US" altLang="en-US" sz="1000" b="0" dirty="0">
                <a:latin typeface="Honeywell Sans Medium" charset="0"/>
                <a:ea typeface="Honeywell Sans Medium" charset="0"/>
                <a:cs typeface="Honeywell Sans Medium" charset="0"/>
              </a:rPr>
              <a:t> </a:t>
            </a:r>
          </a:p>
          <a:p>
            <a:pPr>
              <a:lnSpc>
                <a:spcPct val="100000"/>
              </a:lnSpc>
              <a:spcBef>
                <a:spcPct val="0"/>
              </a:spcBef>
              <a:buClrTx/>
              <a:buFontTx/>
              <a:buNone/>
            </a:pPr>
            <a:r>
              <a:rPr lang="en-US" altLang="en-US" sz="1000" u="sng" dirty="0">
                <a:solidFill>
                  <a:srgbClr val="002060"/>
                </a:solidFill>
                <a:latin typeface="Honeywell Sans Medium" charset="0"/>
                <a:ea typeface="Honeywell Sans Medium" charset="0"/>
                <a:cs typeface="Honeywell Sans Medium" charset="0"/>
              </a:rPr>
              <a:t>Consistency</a:t>
            </a:r>
            <a:r>
              <a:rPr lang="en-US" altLang="en-US" sz="1000" b="0" dirty="0">
                <a:solidFill>
                  <a:srgbClr val="002060"/>
                </a:solidFill>
                <a:latin typeface="Honeywell Sans Medium" charset="0"/>
                <a:ea typeface="Honeywell Sans Medium" charset="0"/>
                <a:cs typeface="Honeywell Sans Medium" charset="0"/>
              </a:rPr>
              <a:t> and standards</a:t>
            </a:r>
          </a:p>
          <a:p>
            <a:pPr>
              <a:lnSpc>
                <a:spcPct val="100000"/>
              </a:lnSpc>
              <a:spcBef>
                <a:spcPct val="0"/>
              </a:spcBef>
              <a:buClrTx/>
              <a:buFontTx/>
              <a:buNone/>
            </a:pPr>
            <a:r>
              <a:rPr lang="en-US" altLang="en-US" sz="1000" b="0" dirty="0">
                <a:latin typeface="Honeywell Sans Medium" charset="0"/>
                <a:ea typeface="Honeywell Sans Medium" charset="0"/>
                <a:cs typeface="Honeywell Sans Medium" charset="0"/>
              </a:rPr>
              <a:t>Users should not have to wonder whether different words, situations, or actions mean the same thing. Follow platform conventions.</a:t>
            </a:r>
          </a:p>
          <a:p>
            <a:pPr lvl="1">
              <a:lnSpc>
                <a:spcPct val="100000"/>
              </a:lnSpc>
              <a:spcBef>
                <a:spcPct val="0"/>
              </a:spcBef>
              <a:buClrTx/>
              <a:buSzTx/>
              <a:buFontTx/>
              <a:buNone/>
            </a:pPr>
            <a:r>
              <a:rPr lang="en-US" altLang="en-US" sz="1000" b="0" dirty="0">
                <a:solidFill>
                  <a:srgbClr val="0070C0"/>
                </a:solidFill>
                <a:latin typeface="Honeywell Sans Medium" charset="0"/>
                <a:ea typeface="Honeywell Sans Medium" charset="0"/>
                <a:cs typeface="Honeywell Sans Medium" charset="0"/>
              </a:rPr>
              <a:t> </a:t>
            </a:r>
          </a:p>
          <a:p>
            <a:pPr>
              <a:lnSpc>
                <a:spcPct val="100000"/>
              </a:lnSpc>
              <a:spcBef>
                <a:spcPct val="0"/>
              </a:spcBef>
              <a:buClrTx/>
              <a:buFontTx/>
              <a:buNone/>
            </a:pPr>
            <a:r>
              <a:rPr lang="en-US" altLang="en-US" sz="1000" b="0" dirty="0">
                <a:solidFill>
                  <a:srgbClr val="002060"/>
                </a:solidFill>
                <a:latin typeface="Honeywell Sans Medium" charset="0"/>
                <a:ea typeface="Honeywell Sans Medium" charset="0"/>
                <a:cs typeface="Honeywell Sans Medium" charset="0"/>
              </a:rPr>
              <a:t>Error </a:t>
            </a:r>
            <a:r>
              <a:rPr lang="en-US" altLang="en-US" sz="1000" u="sng" dirty="0">
                <a:solidFill>
                  <a:srgbClr val="002060"/>
                </a:solidFill>
                <a:latin typeface="Honeywell Sans Medium" charset="0"/>
                <a:ea typeface="Honeywell Sans Medium" charset="0"/>
                <a:cs typeface="Honeywell Sans Medium" charset="0"/>
              </a:rPr>
              <a:t>prevention</a:t>
            </a:r>
          </a:p>
          <a:p>
            <a:pPr eaLnBrk="1" hangingPunct="1">
              <a:lnSpc>
                <a:spcPct val="100000"/>
              </a:lnSpc>
              <a:spcBef>
                <a:spcPct val="0"/>
              </a:spcBef>
              <a:buClrTx/>
              <a:buFontTx/>
              <a:buNone/>
            </a:pPr>
            <a:r>
              <a:rPr lang="en-US" altLang="en-US" sz="1000" b="0" dirty="0">
                <a:latin typeface="Honeywell Sans Medium" charset="0"/>
                <a:ea typeface="Honeywell Sans Medium" charset="0"/>
                <a:cs typeface="Honeywell Sans Medium" charset="0"/>
              </a:rPr>
              <a:t>Even better than good error messages is a careful design which prevents a problem from occurring in the first place. Either eliminate error-prone conditions or check for them and present users with a confirmation option before they commit to the action.</a:t>
            </a:r>
          </a:p>
        </p:txBody>
      </p:sp>
      <p:sp>
        <p:nvSpPr>
          <p:cNvPr id="7" name="Rectangle 3"/>
          <p:cNvSpPr>
            <a:spLocks noChangeArrowheads="1"/>
          </p:cNvSpPr>
          <p:nvPr/>
        </p:nvSpPr>
        <p:spPr bwMode="auto">
          <a:xfrm>
            <a:off x="458348" y="1070813"/>
            <a:ext cx="9674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400" dirty="0">
                <a:solidFill>
                  <a:srgbClr val="FF0000"/>
                </a:solidFill>
                <a:latin typeface="Honeywell Sans Medium" charset="0"/>
                <a:ea typeface="Honeywell Sans Medium" charset="0"/>
                <a:cs typeface="Honeywell Sans Medium" charset="0"/>
              </a:rPr>
              <a:t>Summary: The 10 most general principles for interaction design. They are called "heuristics" because they are more in the nature of rules of thumb than specific usability guidelines.</a:t>
            </a:r>
          </a:p>
        </p:txBody>
      </p:sp>
      <p:sp>
        <p:nvSpPr>
          <p:cNvPr id="8" name="Rectangle 1"/>
          <p:cNvSpPr>
            <a:spLocks noChangeArrowheads="1"/>
          </p:cNvSpPr>
          <p:nvPr/>
        </p:nvSpPr>
        <p:spPr bwMode="auto">
          <a:xfrm>
            <a:off x="5479610" y="1706455"/>
            <a:ext cx="4452938" cy="4244723"/>
          </a:xfrm>
          <a:prstGeom prst="rect">
            <a:avLst/>
          </a:prstGeom>
          <a:noFill/>
          <a:ln w="9525">
            <a:noFill/>
            <a:miter lim="800000"/>
            <a:headEnd/>
            <a:tailEnd/>
          </a:ln>
          <a:effectLst/>
        </p:spPr>
        <p:txBody>
          <a:bodyPr lIns="60306" tIns="0" rIns="0" bIns="88872" anchor="ctr">
            <a:spAutoFit/>
          </a:bodyPr>
          <a:lstStyle>
            <a:lvl1pPr>
              <a:defRPr>
                <a:solidFill>
                  <a:schemeClr val="tx1"/>
                </a:solidFill>
                <a:latin typeface="Arial" charset="0"/>
                <a:ea typeface="Arial" charset="0"/>
                <a:cs typeface="Arial" charset="0"/>
              </a:defRPr>
            </a:lvl1pPr>
            <a:lvl2pPr>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r>
              <a:rPr lang="en-US" altLang="en-US" sz="1000" b="1" u="sng" dirty="0">
                <a:solidFill>
                  <a:srgbClr val="002060"/>
                </a:solidFill>
                <a:latin typeface="Honeywell Sans Medium" charset="0"/>
                <a:ea typeface="Honeywell Sans Medium" charset="0"/>
                <a:cs typeface="Honeywell Sans Medium" charset="0"/>
              </a:rPr>
              <a:t>Recognition</a:t>
            </a:r>
            <a:r>
              <a:rPr lang="en-US" altLang="en-US" sz="1000" dirty="0">
                <a:solidFill>
                  <a:srgbClr val="002060"/>
                </a:solidFill>
                <a:latin typeface="Honeywell Sans Medium" charset="0"/>
                <a:ea typeface="Honeywell Sans Medium" charset="0"/>
                <a:cs typeface="Honeywell Sans Medium" charset="0"/>
              </a:rPr>
              <a:t> rather than recall</a:t>
            </a:r>
          </a:p>
          <a:p>
            <a:pPr marL="0" lvl="1" eaLnBrk="1" hangingPunct="1"/>
            <a:r>
              <a:rPr lang="en-US" altLang="en-US" sz="1000" dirty="0">
                <a:latin typeface="Honeywell Sans Medium" charset="0"/>
                <a:ea typeface="Honeywell Sans Medium" charset="0"/>
                <a:cs typeface="Honeywell Sans Medium" charset="0"/>
              </a:rPr>
              <a:t>Minimize the user's memory load by making objects, actions, and options visible. The user should not have to remember information from one part of the dialogue to another. Instructions for use of the system should be visible or easily retrievable whenever appropriate.</a:t>
            </a:r>
          </a:p>
          <a:p>
            <a:pPr marL="0" lvl="1"/>
            <a:r>
              <a:rPr lang="en-US" altLang="en-US" sz="1000" dirty="0">
                <a:solidFill>
                  <a:srgbClr val="0070C0"/>
                </a:solidFill>
                <a:latin typeface="Honeywell Sans Medium" charset="0"/>
                <a:ea typeface="Honeywell Sans Medium" charset="0"/>
                <a:cs typeface="Honeywell Sans Medium" charset="0"/>
              </a:rPr>
              <a:t> </a:t>
            </a:r>
          </a:p>
          <a:p>
            <a:r>
              <a:rPr lang="en-US" altLang="en-US" sz="1000" dirty="0">
                <a:solidFill>
                  <a:srgbClr val="002060"/>
                </a:solidFill>
                <a:latin typeface="Honeywell Sans Medium" charset="0"/>
                <a:ea typeface="Honeywell Sans Medium" charset="0"/>
                <a:cs typeface="Honeywell Sans Medium" charset="0"/>
              </a:rPr>
              <a:t>Flexibility and </a:t>
            </a:r>
            <a:r>
              <a:rPr lang="en-US" altLang="en-US" sz="1000" b="1" u="sng" dirty="0">
                <a:solidFill>
                  <a:srgbClr val="002060"/>
                </a:solidFill>
                <a:latin typeface="Honeywell Sans Medium" charset="0"/>
                <a:ea typeface="Honeywell Sans Medium" charset="0"/>
                <a:cs typeface="Honeywell Sans Medium" charset="0"/>
              </a:rPr>
              <a:t>efficiency</a:t>
            </a:r>
            <a:r>
              <a:rPr lang="en-US" altLang="en-US" sz="1000" dirty="0">
                <a:solidFill>
                  <a:srgbClr val="002060"/>
                </a:solidFill>
                <a:latin typeface="Honeywell Sans Medium" charset="0"/>
                <a:ea typeface="Honeywell Sans Medium" charset="0"/>
                <a:cs typeface="Honeywell Sans Medium" charset="0"/>
              </a:rPr>
              <a:t> of use</a:t>
            </a:r>
          </a:p>
          <a:p>
            <a:r>
              <a:rPr lang="en-US" altLang="en-US" sz="1000" dirty="0">
                <a:latin typeface="Honeywell Sans Medium" charset="0"/>
                <a:ea typeface="Honeywell Sans Medium" charset="0"/>
                <a:cs typeface="Honeywell Sans Medium" charset="0"/>
              </a:rPr>
              <a:t>Accelerators -- unseen by the novice user -- may often speed up the interaction for the expert user such that the system can cater to both inexperienced and experienced users. Allow users to tailor frequent actions.</a:t>
            </a:r>
          </a:p>
          <a:p>
            <a:pPr marL="0" lvl="1"/>
            <a:r>
              <a:rPr lang="en-US" altLang="en-US" sz="1000" dirty="0">
                <a:latin typeface="Honeywell Sans Medium" charset="0"/>
                <a:ea typeface="Honeywell Sans Medium" charset="0"/>
                <a:cs typeface="Honeywell Sans Medium" charset="0"/>
              </a:rPr>
              <a:t> </a:t>
            </a:r>
          </a:p>
          <a:p>
            <a:r>
              <a:rPr lang="en-US" altLang="en-US" sz="1000" b="1" u="sng" dirty="0">
                <a:solidFill>
                  <a:srgbClr val="002060"/>
                </a:solidFill>
                <a:latin typeface="Honeywell Sans Medium" charset="0"/>
                <a:ea typeface="Honeywell Sans Medium" charset="0"/>
                <a:cs typeface="Honeywell Sans Medium" charset="0"/>
              </a:rPr>
              <a:t>Aesthetic</a:t>
            </a:r>
            <a:r>
              <a:rPr lang="en-US" altLang="en-US" sz="1000" dirty="0">
                <a:solidFill>
                  <a:srgbClr val="002060"/>
                </a:solidFill>
                <a:latin typeface="Honeywell Sans Medium" charset="0"/>
                <a:ea typeface="Honeywell Sans Medium" charset="0"/>
                <a:cs typeface="Honeywell Sans Medium" charset="0"/>
              </a:rPr>
              <a:t> and minimalist design</a:t>
            </a:r>
          </a:p>
          <a:p>
            <a:r>
              <a:rPr lang="en-US" altLang="en-US" sz="1000" dirty="0">
                <a:latin typeface="Honeywell Sans Medium" charset="0"/>
                <a:ea typeface="Honeywell Sans Medium" charset="0"/>
                <a:cs typeface="Honeywell Sans Medium" charset="0"/>
              </a:rPr>
              <a:t>Dialogues should not contain information which is irrelevant or rarely needed. Every extra unit of information in a dialogue competes with the relevant units of information and diminishes their relative visibility.</a:t>
            </a:r>
          </a:p>
          <a:p>
            <a:pPr marL="0" lvl="1"/>
            <a:r>
              <a:rPr lang="en-US" altLang="en-US" sz="1000" dirty="0">
                <a:latin typeface="Honeywell Sans Medium" charset="0"/>
                <a:ea typeface="Honeywell Sans Medium" charset="0"/>
                <a:cs typeface="Honeywell Sans Medium" charset="0"/>
              </a:rPr>
              <a:t> </a:t>
            </a:r>
          </a:p>
          <a:p>
            <a:r>
              <a:rPr lang="en-US" altLang="en-US" sz="1000" dirty="0">
                <a:solidFill>
                  <a:srgbClr val="002060"/>
                </a:solidFill>
                <a:latin typeface="Honeywell Sans Medium" charset="0"/>
                <a:ea typeface="Honeywell Sans Medium" charset="0"/>
                <a:cs typeface="Honeywell Sans Medium" charset="0"/>
              </a:rPr>
              <a:t>Help users recognize, diagnose, and </a:t>
            </a:r>
            <a:r>
              <a:rPr lang="en-US" altLang="en-US" sz="1000" b="1" u="sng" dirty="0">
                <a:solidFill>
                  <a:srgbClr val="002060"/>
                </a:solidFill>
                <a:latin typeface="Honeywell Sans Medium" charset="0"/>
                <a:ea typeface="Honeywell Sans Medium" charset="0"/>
                <a:cs typeface="Honeywell Sans Medium" charset="0"/>
              </a:rPr>
              <a:t>recover</a:t>
            </a:r>
            <a:r>
              <a:rPr lang="en-US" altLang="en-US" sz="1000" dirty="0">
                <a:solidFill>
                  <a:srgbClr val="002060"/>
                </a:solidFill>
                <a:latin typeface="Honeywell Sans Medium" charset="0"/>
                <a:ea typeface="Honeywell Sans Medium" charset="0"/>
                <a:cs typeface="Honeywell Sans Medium" charset="0"/>
              </a:rPr>
              <a:t> from errors</a:t>
            </a:r>
          </a:p>
          <a:p>
            <a:r>
              <a:rPr lang="en-US" altLang="en-US" sz="1000" dirty="0">
                <a:latin typeface="Honeywell Sans Medium" charset="0"/>
                <a:ea typeface="Honeywell Sans Medium" charset="0"/>
                <a:cs typeface="Honeywell Sans Medium" charset="0"/>
              </a:rPr>
              <a:t>Error messages should be expressed in plain language (no codes), precisely indicate the problem, and constructively suggest a solution.</a:t>
            </a:r>
          </a:p>
          <a:p>
            <a:pPr marL="0" lvl="1"/>
            <a:r>
              <a:rPr lang="en-US" altLang="en-US" sz="1000" dirty="0">
                <a:latin typeface="Honeywell Sans Medium" charset="0"/>
                <a:ea typeface="Honeywell Sans Medium" charset="0"/>
                <a:cs typeface="Honeywell Sans Medium" charset="0"/>
              </a:rPr>
              <a:t> </a:t>
            </a:r>
          </a:p>
          <a:p>
            <a:r>
              <a:rPr lang="en-US" altLang="en-US" sz="1000" b="1" u="sng" dirty="0">
                <a:solidFill>
                  <a:srgbClr val="002060"/>
                </a:solidFill>
                <a:latin typeface="Honeywell Sans Medium" charset="0"/>
                <a:ea typeface="Honeywell Sans Medium" charset="0"/>
                <a:cs typeface="Honeywell Sans Medium" charset="0"/>
              </a:rPr>
              <a:t>Help</a:t>
            </a:r>
            <a:r>
              <a:rPr lang="en-US" altLang="en-US" sz="1000" dirty="0">
                <a:solidFill>
                  <a:srgbClr val="002060"/>
                </a:solidFill>
                <a:latin typeface="Honeywell Sans Medium" charset="0"/>
                <a:ea typeface="Honeywell Sans Medium" charset="0"/>
                <a:cs typeface="Honeywell Sans Medium" charset="0"/>
              </a:rPr>
              <a:t> and documentation</a:t>
            </a:r>
          </a:p>
          <a:p>
            <a:r>
              <a:rPr lang="en-US" altLang="en-US" sz="1000" dirty="0">
                <a:latin typeface="Honeywell Sans Medium" charset="0"/>
                <a:ea typeface="Honeywell Sans Medium" charset="0"/>
                <a:cs typeface="Honeywell Sans Medium" charset="0"/>
              </a:rPr>
              <a:t>Even though it is better if the system can be used without documentation, it may be necessary to provide help and documentation. Any such information should be easy to search, focused on the user's task, list concrete steps to be carried out, and not be too large.</a:t>
            </a:r>
          </a:p>
          <a:p>
            <a:endParaRPr lang="en-US" altLang="en-US" sz="1000" dirty="0">
              <a:latin typeface="Honeywell Sans Medium" charset="0"/>
              <a:ea typeface="Honeywell Sans Medium" charset="0"/>
              <a:cs typeface="Honeywell Sans Medium" charset="0"/>
            </a:endParaRPr>
          </a:p>
        </p:txBody>
      </p:sp>
    </p:spTree>
    <p:extLst>
      <p:ext uri="{BB962C8B-B14F-4D97-AF65-F5344CB8AC3E}">
        <p14:creationId xmlns:p14="http://schemas.microsoft.com/office/powerpoint/2010/main" val="134274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Task Based Heuristic Evaluation Procedure</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12</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46"/>
          <p:cNvCxnSpPr>
            <a:cxnSpLocks noChangeShapeType="1"/>
          </p:cNvCxnSpPr>
          <p:nvPr/>
        </p:nvCxnSpPr>
        <p:spPr bwMode="auto">
          <a:xfrm flipH="1">
            <a:off x="8829675" y="4572000"/>
            <a:ext cx="336550"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grpSp>
        <p:nvGrpSpPr>
          <p:cNvPr id="10" name="Group 96"/>
          <p:cNvGrpSpPr>
            <a:grpSpLocks/>
          </p:cNvGrpSpPr>
          <p:nvPr/>
        </p:nvGrpSpPr>
        <p:grpSpPr bwMode="auto">
          <a:xfrm>
            <a:off x="1571625" y="2209800"/>
            <a:ext cx="7613650" cy="2971800"/>
            <a:chOff x="1295400" y="1371600"/>
            <a:chExt cx="9473920" cy="2971800"/>
          </a:xfrm>
        </p:grpSpPr>
        <p:cxnSp>
          <p:nvCxnSpPr>
            <p:cNvPr id="11" name="Straight Arrow Connector 13"/>
            <p:cNvCxnSpPr>
              <a:cxnSpLocks noChangeShapeType="1"/>
            </p:cNvCxnSpPr>
            <p:nvPr/>
          </p:nvCxnSpPr>
          <p:spPr bwMode="auto">
            <a:xfrm>
              <a:off x="2286000" y="1371600"/>
              <a:ext cx="495300"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12" name="Straight Arrow Connector 14"/>
            <p:cNvCxnSpPr>
              <a:cxnSpLocks noChangeShapeType="1"/>
            </p:cNvCxnSpPr>
            <p:nvPr/>
          </p:nvCxnSpPr>
          <p:spPr bwMode="auto">
            <a:xfrm>
              <a:off x="4294050" y="1371600"/>
              <a:ext cx="495300"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13" name="Straight Arrow Connector 16"/>
            <p:cNvCxnSpPr>
              <a:cxnSpLocks noChangeShapeType="1"/>
            </p:cNvCxnSpPr>
            <p:nvPr/>
          </p:nvCxnSpPr>
          <p:spPr bwMode="auto">
            <a:xfrm>
              <a:off x="6730720" y="1371600"/>
              <a:ext cx="554874"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14" name="Straight Arrow Connector 17"/>
            <p:cNvCxnSpPr>
              <a:cxnSpLocks noChangeShapeType="1"/>
            </p:cNvCxnSpPr>
            <p:nvPr/>
          </p:nvCxnSpPr>
          <p:spPr bwMode="auto">
            <a:xfrm>
              <a:off x="7875896" y="1828800"/>
              <a:ext cx="0" cy="38100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15" name="Straight Connector 20"/>
            <p:cNvCxnSpPr>
              <a:cxnSpLocks noChangeShapeType="1"/>
            </p:cNvCxnSpPr>
            <p:nvPr/>
          </p:nvCxnSpPr>
          <p:spPr bwMode="auto">
            <a:xfrm flipH="1">
              <a:off x="5740120" y="2479344"/>
              <a:ext cx="1447800" cy="0"/>
            </a:xfrm>
            <a:prstGeom prst="line">
              <a:avLst/>
            </a:prstGeom>
            <a:noFill/>
            <a:ln w="28575">
              <a:solidFill>
                <a:schemeClr val="tx1">
                  <a:lumMod val="50000"/>
                  <a:lumOff val="50000"/>
                </a:schemeClr>
              </a:solidFill>
              <a:round/>
              <a:headEnd/>
              <a:tailEnd/>
            </a:ln>
            <a:extLst>
              <a:ext uri="{909E8E84-426E-40DD-AFC4-6F175D3DCCD1}">
                <a14:hiddenFill xmlns:a14="http://schemas.microsoft.com/office/drawing/2010/main">
                  <a:noFill/>
                </a14:hiddenFill>
              </a:ext>
            </a:extLst>
          </p:spPr>
        </p:cxnSp>
        <p:cxnSp>
          <p:nvCxnSpPr>
            <p:cNvPr id="16" name="Straight Arrow Connector 29"/>
            <p:cNvCxnSpPr>
              <a:cxnSpLocks noChangeShapeType="1"/>
            </p:cNvCxnSpPr>
            <p:nvPr/>
          </p:nvCxnSpPr>
          <p:spPr bwMode="auto">
            <a:xfrm>
              <a:off x="8534400" y="1371600"/>
              <a:ext cx="495300"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17" name="Straight Connector 32"/>
            <p:cNvCxnSpPr>
              <a:cxnSpLocks noChangeShapeType="1"/>
            </p:cNvCxnSpPr>
            <p:nvPr/>
          </p:nvCxnSpPr>
          <p:spPr bwMode="auto">
            <a:xfrm flipH="1">
              <a:off x="1457848" y="2890576"/>
              <a:ext cx="8229600" cy="0"/>
            </a:xfrm>
            <a:prstGeom prst="line">
              <a:avLst/>
            </a:prstGeom>
            <a:noFill/>
            <a:ln w="28575">
              <a:solidFill>
                <a:schemeClr val="tx1">
                  <a:lumMod val="50000"/>
                  <a:lumOff val="50000"/>
                </a:schemeClr>
              </a:solidFill>
              <a:round/>
              <a:headEnd/>
              <a:tailEnd/>
            </a:ln>
            <a:extLst>
              <a:ext uri="{909E8E84-426E-40DD-AFC4-6F175D3DCCD1}">
                <a14:hiddenFill xmlns:a14="http://schemas.microsoft.com/office/drawing/2010/main">
                  <a:noFill/>
                </a14:hiddenFill>
              </a:ext>
            </a:extLst>
          </p:spPr>
        </p:cxnSp>
        <p:cxnSp>
          <p:nvCxnSpPr>
            <p:cNvPr id="18" name="Straight Arrow Connector 33"/>
            <p:cNvCxnSpPr>
              <a:cxnSpLocks noChangeShapeType="1"/>
            </p:cNvCxnSpPr>
            <p:nvPr/>
          </p:nvCxnSpPr>
          <p:spPr bwMode="auto">
            <a:xfrm flipV="1">
              <a:off x="1447800" y="1600200"/>
              <a:ext cx="0" cy="129540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19" name="Straight Connector 42"/>
            <p:cNvCxnSpPr>
              <a:cxnSpLocks noChangeShapeType="1"/>
            </p:cNvCxnSpPr>
            <p:nvPr/>
          </p:nvCxnSpPr>
          <p:spPr bwMode="auto">
            <a:xfrm>
              <a:off x="9654372" y="1828800"/>
              <a:ext cx="35168" cy="1066800"/>
            </a:xfrm>
            <a:prstGeom prst="line">
              <a:avLst/>
            </a:prstGeom>
            <a:noFill/>
            <a:ln w="28575">
              <a:solidFill>
                <a:schemeClr val="tx1">
                  <a:lumMod val="50000"/>
                  <a:lumOff val="50000"/>
                </a:schemeClr>
              </a:solidFill>
              <a:round/>
              <a:headEnd/>
              <a:tailEnd/>
            </a:ln>
            <a:extLst>
              <a:ext uri="{909E8E84-426E-40DD-AFC4-6F175D3DCCD1}">
                <a14:hiddenFill xmlns:a14="http://schemas.microsoft.com/office/drawing/2010/main">
                  <a:noFill/>
                </a14:hiddenFill>
              </a:ext>
            </a:extLst>
          </p:spPr>
        </p:cxnSp>
        <p:cxnSp>
          <p:nvCxnSpPr>
            <p:cNvPr id="20" name="Straight Connector 49"/>
            <p:cNvCxnSpPr>
              <a:cxnSpLocks noChangeShapeType="1"/>
            </p:cNvCxnSpPr>
            <p:nvPr/>
          </p:nvCxnSpPr>
          <p:spPr bwMode="auto">
            <a:xfrm flipV="1">
              <a:off x="10769320" y="1371600"/>
              <a:ext cx="0" cy="2362200"/>
            </a:xfrm>
            <a:prstGeom prst="line">
              <a:avLst/>
            </a:prstGeom>
            <a:noFill/>
            <a:ln w="28575">
              <a:solidFill>
                <a:schemeClr val="tx1">
                  <a:lumMod val="50000"/>
                  <a:lumOff val="50000"/>
                </a:schemeClr>
              </a:solidFill>
              <a:round/>
              <a:headEnd/>
              <a:tailEnd/>
            </a:ln>
            <a:extLst>
              <a:ext uri="{909E8E84-426E-40DD-AFC4-6F175D3DCCD1}">
                <a14:hiddenFill xmlns:a14="http://schemas.microsoft.com/office/drawing/2010/main">
                  <a:noFill/>
                </a14:hiddenFill>
              </a:ext>
            </a:extLst>
          </p:spPr>
        </p:cxnSp>
        <p:cxnSp>
          <p:nvCxnSpPr>
            <p:cNvPr id="21" name="Straight Connector 51"/>
            <p:cNvCxnSpPr>
              <a:cxnSpLocks noChangeShapeType="1"/>
            </p:cNvCxnSpPr>
            <p:nvPr/>
          </p:nvCxnSpPr>
          <p:spPr bwMode="auto">
            <a:xfrm>
              <a:off x="10312120" y="1371600"/>
              <a:ext cx="457200" cy="0"/>
            </a:xfrm>
            <a:prstGeom prst="line">
              <a:avLst/>
            </a:prstGeom>
            <a:noFill/>
            <a:ln w="28575">
              <a:solidFill>
                <a:schemeClr val="tx1">
                  <a:lumMod val="50000"/>
                  <a:lumOff val="50000"/>
                </a:schemeClr>
              </a:solidFill>
              <a:round/>
              <a:headEnd/>
              <a:tailEnd/>
            </a:ln>
            <a:extLst>
              <a:ext uri="{909E8E84-426E-40DD-AFC4-6F175D3DCCD1}">
                <a14:hiddenFill xmlns:a14="http://schemas.microsoft.com/office/drawing/2010/main">
                  <a:noFill/>
                </a14:hiddenFill>
              </a:ext>
            </a:extLst>
          </p:spPr>
        </p:cxnSp>
        <p:cxnSp>
          <p:nvCxnSpPr>
            <p:cNvPr id="22" name="Straight Connector 70"/>
            <p:cNvCxnSpPr>
              <a:cxnSpLocks noChangeShapeType="1"/>
            </p:cNvCxnSpPr>
            <p:nvPr/>
          </p:nvCxnSpPr>
          <p:spPr bwMode="auto">
            <a:xfrm>
              <a:off x="5753100" y="1641144"/>
              <a:ext cx="0" cy="838200"/>
            </a:xfrm>
            <a:prstGeom prst="line">
              <a:avLst/>
            </a:prstGeom>
            <a:noFill/>
            <a:ln w="28575">
              <a:solidFill>
                <a:schemeClr val="tx1">
                  <a:lumMod val="50000"/>
                  <a:lumOff val="50000"/>
                </a:schemeClr>
              </a:solidFill>
              <a:round/>
              <a:headEnd type="arrow" w="med" len="med"/>
              <a:tailEnd/>
            </a:ln>
            <a:extLst>
              <a:ext uri="{909E8E84-426E-40DD-AFC4-6F175D3DCCD1}">
                <a14:hiddenFill xmlns:a14="http://schemas.microsoft.com/office/drawing/2010/main">
                  <a:noFill/>
                </a14:hiddenFill>
              </a:ext>
            </a:extLst>
          </p:spPr>
        </p:cxnSp>
        <p:cxnSp>
          <p:nvCxnSpPr>
            <p:cNvPr id="23" name="Straight Arrow Connector 89"/>
            <p:cNvCxnSpPr>
              <a:cxnSpLocks noChangeShapeType="1"/>
            </p:cNvCxnSpPr>
            <p:nvPr/>
          </p:nvCxnSpPr>
          <p:spPr bwMode="auto">
            <a:xfrm flipH="1">
              <a:off x="7581900" y="3733800"/>
              <a:ext cx="419100"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24" name="Straight Arrow Connector 91"/>
            <p:cNvCxnSpPr>
              <a:cxnSpLocks noChangeShapeType="1"/>
            </p:cNvCxnSpPr>
            <p:nvPr/>
          </p:nvCxnSpPr>
          <p:spPr bwMode="auto">
            <a:xfrm flipH="1">
              <a:off x="4838700" y="3733800"/>
              <a:ext cx="419100"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25" name="Straight Arrow Connector 93"/>
            <p:cNvCxnSpPr>
              <a:cxnSpLocks noChangeShapeType="1"/>
            </p:cNvCxnSpPr>
            <p:nvPr/>
          </p:nvCxnSpPr>
          <p:spPr bwMode="auto">
            <a:xfrm flipH="1">
              <a:off x="2057400" y="3733800"/>
              <a:ext cx="419100" cy="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cxnSp>
          <p:nvCxnSpPr>
            <p:cNvPr id="26" name="Straight Arrow Connector 94"/>
            <p:cNvCxnSpPr>
              <a:cxnSpLocks noChangeShapeType="1"/>
            </p:cNvCxnSpPr>
            <p:nvPr/>
          </p:nvCxnSpPr>
          <p:spPr bwMode="auto">
            <a:xfrm>
              <a:off x="1295400" y="3962400"/>
              <a:ext cx="0" cy="38100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grpSp>
      <p:grpSp>
        <p:nvGrpSpPr>
          <p:cNvPr id="27" name="Group 97"/>
          <p:cNvGrpSpPr>
            <a:grpSpLocks/>
          </p:cNvGrpSpPr>
          <p:nvPr/>
        </p:nvGrpSpPr>
        <p:grpSpPr bwMode="auto">
          <a:xfrm>
            <a:off x="958850" y="1752600"/>
            <a:ext cx="7899400" cy="3886200"/>
            <a:chOff x="533400" y="914400"/>
            <a:chExt cx="9829800" cy="3886200"/>
          </a:xfrm>
          <a:solidFill>
            <a:schemeClr val="bg1">
              <a:lumMod val="95000"/>
            </a:schemeClr>
          </a:solidFill>
        </p:grpSpPr>
        <p:sp>
          <p:nvSpPr>
            <p:cNvPr id="28" name="Rounded Rectangle 2"/>
            <p:cNvSpPr>
              <a:spLocks noChangeArrowheads="1"/>
            </p:cNvSpPr>
            <p:nvPr/>
          </p:nvSpPr>
          <p:spPr bwMode="auto">
            <a:xfrm>
              <a:off x="2781453" y="1143000"/>
              <a:ext cx="1523066"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dirty="0">
                  <a:latin typeface="Honeywell Sans Medium" charset="0"/>
                  <a:ea typeface="Honeywell Sans Medium" charset="0"/>
                  <a:cs typeface="Honeywell Sans Medium" charset="0"/>
                </a:rPr>
                <a:t>Perform First Step </a:t>
              </a:r>
            </a:p>
            <a:p>
              <a:pPr algn="ctr">
                <a:lnSpc>
                  <a:spcPct val="110000"/>
                </a:lnSpc>
                <a:defRPr/>
              </a:pPr>
              <a:r>
                <a:rPr lang="en-US" sz="1000" dirty="0">
                  <a:latin typeface="Honeywell Sans Medium" charset="0"/>
                  <a:ea typeface="Honeywell Sans Medium" charset="0"/>
                  <a:cs typeface="Honeywell Sans Medium" charset="0"/>
                </a:rPr>
                <a:t>Of Task </a:t>
              </a:r>
            </a:p>
          </p:txBody>
        </p:sp>
        <p:sp>
          <p:nvSpPr>
            <p:cNvPr id="29" name="Rounded Rectangle 3"/>
            <p:cNvSpPr>
              <a:spLocks noChangeArrowheads="1"/>
            </p:cNvSpPr>
            <p:nvPr/>
          </p:nvSpPr>
          <p:spPr bwMode="auto">
            <a:xfrm>
              <a:off x="762551" y="1143000"/>
              <a:ext cx="1523066"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dirty="0">
                  <a:latin typeface="Honeywell Sans Medium" charset="0"/>
                  <a:ea typeface="Honeywell Sans Medium" charset="0"/>
                  <a:cs typeface="Honeywell Sans Medium" charset="0"/>
                </a:rPr>
                <a:t>Select A Task</a:t>
              </a:r>
            </a:p>
          </p:txBody>
        </p:sp>
        <p:sp>
          <p:nvSpPr>
            <p:cNvPr id="30" name="Rounded Rectangle 4"/>
            <p:cNvSpPr>
              <a:spLocks noChangeArrowheads="1"/>
            </p:cNvSpPr>
            <p:nvPr/>
          </p:nvSpPr>
          <p:spPr bwMode="auto">
            <a:xfrm>
              <a:off x="4774675" y="1143000"/>
              <a:ext cx="1906301"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a:latin typeface="Honeywell Sans Medium" charset="0"/>
                  <a:ea typeface="Honeywell Sans Medium" charset="0"/>
                  <a:cs typeface="Honeywell Sans Medium" charset="0"/>
                </a:rPr>
                <a:t>Make Observation</a:t>
              </a:r>
            </a:p>
            <a:p>
              <a:pPr algn="ctr">
                <a:lnSpc>
                  <a:spcPct val="110000"/>
                </a:lnSpc>
                <a:defRPr/>
              </a:pPr>
              <a:r>
                <a:rPr lang="en-US" sz="1000">
                  <a:latin typeface="Honeywell Sans Medium" charset="0"/>
                  <a:ea typeface="Honeywell Sans Medium" charset="0"/>
                  <a:cs typeface="Honeywell Sans Medium" charset="0"/>
                </a:rPr>
                <a:t>&amp; Assign Heuristics </a:t>
              </a:r>
            </a:p>
          </p:txBody>
        </p:sp>
        <p:sp>
          <p:nvSpPr>
            <p:cNvPr id="31" name="Diamond 6"/>
            <p:cNvSpPr>
              <a:spLocks noChangeArrowheads="1"/>
            </p:cNvSpPr>
            <p:nvPr/>
          </p:nvSpPr>
          <p:spPr bwMode="auto">
            <a:xfrm>
              <a:off x="7238051" y="914400"/>
              <a:ext cx="1295890" cy="914400"/>
            </a:xfrm>
            <a:prstGeom prst="diamond">
              <a:avLst/>
            </a:prstGeom>
            <a:grpFill/>
            <a:ln w="19050">
              <a:solidFill>
                <a:srgbClr val="BFBFBF"/>
              </a:solidFill>
              <a:round/>
              <a:headEnd/>
              <a:tailEnd/>
            </a:ln>
            <a:effectLst>
              <a:outerShdw blurRad="63500" dist="38100" dir="5400000" algn="t" rotWithShape="0">
                <a:srgbClr val="000000">
                  <a:alpha val="39999"/>
                </a:srgbClr>
              </a:outerShdw>
            </a:effectLst>
          </p:spPr>
          <p:txBody>
            <a:bodyPr wrap="none" lIns="90488" tIns="44450" rIns="90488" bIns="44450" anchor="ctr"/>
            <a:lstStyle/>
            <a:p>
              <a:pPr algn="ctr">
                <a:lnSpc>
                  <a:spcPct val="110000"/>
                </a:lnSpc>
                <a:defRPr/>
              </a:pPr>
              <a:r>
                <a:rPr lang="en-US" sz="1000" dirty="0">
                  <a:latin typeface="Honeywell Sans Medium" charset="0"/>
                  <a:ea typeface="Honeywell Sans Medium" charset="0"/>
                  <a:cs typeface="Honeywell Sans Medium" charset="0"/>
                </a:rPr>
                <a:t>Task </a:t>
              </a:r>
            </a:p>
            <a:p>
              <a:pPr algn="ctr">
                <a:lnSpc>
                  <a:spcPct val="110000"/>
                </a:lnSpc>
                <a:defRPr/>
              </a:pPr>
              <a:r>
                <a:rPr lang="en-US" sz="1000" dirty="0">
                  <a:latin typeface="Honeywell Sans Medium" charset="0"/>
                  <a:ea typeface="Honeywell Sans Medium" charset="0"/>
                  <a:cs typeface="Honeywell Sans Medium" charset="0"/>
                </a:rPr>
                <a:t>Complete?</a:t>
              </a:r>
            </a:p>
          </p:txBody>
        </p:sp>
        <p:sp>
          <p:nvSpPr>
            <p:cNvPr id="32" name="Diamond 7"/>
            <p:cNvSpPr>
              <a:spLocks noChangeArrowheads="1"/>
            </p:cNvSpPr>
            <p:nvPr/>
          </p:nvSpPr>
          <p:spPr bwMode="auto">
            <a:xfrm>
              <a:off x="9011998" y="914400"/>
              <a:ext cx="1295890" cy="914400"/>
            </a:xfrm>
            <a:prstGeom prst="diamond">
              <a:avLst/>
            </a:prstGeom>
            <a:grpFill/>
            <a:ln w="19050">
              <a:solidFill>
                <a:srgbClr val="BFBFBF"/>
              </a:solidFill>
              <a:round/>
              <a:headEnd/>
              <a:tailEnd/>
            </a:ln>
            <a:effectLst>
              <a:outerShdw blurRad="63500" dist="38100" dir="2700000" algn="tl" rotWithShape="0">
                <a:srgbClr val="000000">
                  <a:alpha val="39999"/>
                </a:srgbClr>
              </a:outerShdw>
            </a:effectLst>
          </p:spPr>
          <p:txBody>
            <a:bodyPr wrap="none" lIns="90488" tIns="44450" rIns="90488" bIns="44450" anchor="ctr"/>
            <a:lstStyle/>
            <a:p>
              <a:pPr algn="ctr">
                <a:lnSpc>
                  <a:spcPct val="110000"/>
                </a:lnSpc>
                <a:defRPr/>
              </a:pPr>
              <a:r>
                <a:rPr lang="en-US" sz="1000" dirty="0">
                  <a:latin typeface="Honeywell Sans Medium" charset="0"/>
                  <a:ea typeface="Honeywell Sans Medium" charset="0"/>
                  <a:cs typeface="Honeywell Sans Medium" charset="0"/>
                </a:rPr>
                <a:t>All Tasks </a:t>
              </a:r>
            </a:p>
            <a:p>
              <a:pPr algn="ctr">
                <a:lnSpc>
                  <a:spcPct val="110000"/>
                </a:lnSpc>
                <a:defRPr/>
              </a:pPr>
              <a:r>
                <a:rPr lang="en-US" sz="1000" dirty="0">
                  <a:latin typeface="Honeywell Sans Medium" charset="0"/>
                  <a:ea typeface="Honeywell Sans Medium" charset="0"/>
                  <a:cs typeface="Honeywell Sans Medium" charset="0"/>
                </a:rPr>
                <a:t>Complete?</a:t>
              </a:r>
            </a:p>
          </p:txBody>
        </p:sp>
        <p:sp>
          <p:nvSpPr>
            <p:cNvPr id="33" name="Rounded Rectangle 8"/>
            <p:cNvSpPr>
              <a:spLocks noChangeArrowheads="1"/>
            </p:cNvSpPr>
            <p:nvPr/>
          </p:nvSpPr>
          <p:spPr bwMode="auto">
            <a:xfrm>
              <a:off x="8000571" y="3505200"/>
              <a:ext cx="2362629"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dirty="0">
                  <a:latin typeface="Honeywell Sans Medium" charset="0"/>
                  <a:ea typeface="Honeywell Sans Medium" charset="0"/>
                  <a:cs typeface="Honeywell Sans Medium" charset="0"/>
                </a:rPr>
                <a:t>Collate All Problems With Same</a:t>
              </a:r>
            </a:p>
            <a:p>
              <a:pPr algn="ctr">
                <a:lnSpc>
                  <a:spcPct val="110000"/>
                </a:lnSpc>
                <a:defRPr/>
              </a:pPr>
              <a:r>
                <a:rPr lang="en-US" sz="1000" dirty="0">
                  <a:latin typeface="Honeywell Sans Medium" charset="0"/>
                  <a:ea typeface="Honeywell Sans Medium" charset="0"/>
                  <a:cs typeface="Honeywell Sans Medium" charset="0"/>
                </a:rPr>
                <a:t> Heuristics And Create Clusters</a:t>
              </a:r>
            </a:p>
          </p:txBody>
        </p:sp>
        <p:sp>
          <p:nvSpPr>
            <p:cNvPr id="34" name="Rounded Rectangle 9"/>
            <p:cNvSpPr>
              <a:spLocks noChangeArrowheads="1"/>
            </p:cNvSpPr>
            <p:nvPr/>
          </p:nvSpPr>
          <p:spPr bwMode="auto">
            <a:xfrm>
              <a:off x="7162984" y="2209800"/>
              <a:ext cx="1523066"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a:latin typeface="Honeywell Sans Medium" charset="0"/>
                  <a:ea typeface="Honeywell Sans Medium" charset="0"/>
                  <a:cs typeface="Honeywell Sans Medium" charset="0"/>
                </a:rPr>
                <a:t>Perform Next Step</a:t>
              </a:r>
            </a:p>
          </p:txBody>
        </p:sp>
        <p:sp>
          <p:nvSpPr>
            <p:cNvPr id="35" name="Rounded Rectangle 88"/>
            <p:cNvSpPr>
              <a:spLocks noChangeArrowheads="1"/>
            </p:cNvSpPr>
            <p:nvPr/>
          </p:nvSpPr>
          <p:spPr bwMode="auto">
            <a:xfrm>
              <a:off x="5258658" y="3505200"/>
              <a:ext cx="2360654"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dirty="0">
                  <a:latin typeface="Honeywell Sans Medium" charset="0"/>
                  <a:ea typeface="Honeywell Sans Medium" charset="0"/>
                  <a:cs typeface="Honeywell Sans Medium" charset="0"/>
                </a:rPr>
                <a:t>Assign Title, Description &amp; </a:t>
              </a:r>
            </a:p>
            <a:p>
              <a:pPr algn="ctr">
                <a:lnSpc>
                  <a:spcPct val="110000"/>
                </a:lnSpc>
                <a:defRPr/>
              </a:pPr>
              <a:r>
                <a:rPr lang="en-US" sz="1000" dirty="0">
                  <a:latin typeface="Honeywell Sans Medium" charset="0"/>
                  <a:ea typeface="Honeywell Sans Medium" charset="0"/>
                  <a:cs typeface="Honeywell Sans Medium" charset="0"/>
                </a:rPr>
                <a:t>Severity To Each Issue Cluster</a:t>
              </a:r>
            </a:p>
          </p:txBody>
        </p:sp>
        <p:sp>
          <p:nvSpPr>
            <p:cNvPr id="36" name="Rounded Rectangle 90"/>
            <p:cNvSpPr>
              <a:spLocks noChangeArrowheads="1"/>
            </p:cNvSpPr>
            <p:nvPr/>
          </p:nvSpPr>
          <p:spPr bwMode="auto">
            <a:xfrm>
              <a:off x="2487113" y="3505200"/>
              <a:ext cx="2362629"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a:latin typeface="Honeywell Sans Medium" charset="0"/>
                  <a:ea typeface="Honeywell Sans Medium" charset="0"/>
                  <a:cs typeface="Honeywell Sans Medium" charset="0"/>
                </a:rPr>
                <a:t>Assign Ease Of Fix Rating </a:t>
              </a:r>
            </a:p>
            <a:p>
              <a:pPr algn="ctr">
                <a:lnSpc>
                  <a:spcPct val="110000"/>
                </a:lnSpc>
                <a:defRPr/>
              </a:pPr>
              <a:r>
                <a:rPr lang="en-US" sz="1000">
                  <a:latin typeface="Honeywell Sans Medium" charset="0"/>
                  <a:ea typeface="Honeywell Sans Medium" charset="0"/>
                  <a:cs typeface="Honeywell Sans Medium" charset="0"/>
                </a:rPr>
                <a:t>After Discussion With PM</a:t>
              </a:r>
            </a:p>
          </p:txBody>
        </p:sp>
        <p:sp>
          <p:nvSpPr>
            <p:cNvPr id="37" name="Rounded Rectangle 92"/>
            <p:cNvSpPr>
              <a:spLocks noChangeArrowheads="1"/>
            </p:cNvSpPr>
            <p:nvPr/>
          </p:nvSpPr>
          <p:spPr bwMode="auto">
            <a:xfrm>
              <a:off x="533400" y="3505200"/>
              <a:ext cx="1523066" cy="457200"/>
            </a:xfrm>
            <a:prstGeom prst="roundRect">
              <a:avLst>
                <a:gd name="adj" fmla="val 16667"/>
              </a:avLst>
            </a:prstGeom>
            <a:grpFill/>
            <a:ln w="19050">
              <a:solidFill>
                <a:srgbClr val="BFBFBF"/>
              </a:solidFill>
              <a:round/>
              <a:headEnd/>
              <a:tailEnd/>
            </a:ln>
            <a:effectLst>
              <a:outerShdw blurRad="63500" sy="23000" kx="1199993" algn="br" rotWithShape="0">
                <a:srgbClr val="000000">
                  <a:alpha val="20000"/>
                </a:srgbClr>
              </a:outerShdw>
            </a:effectLst>
          </p:spPr>
          <p:txBody>
            <a:bodyPr wrap="none" lIns="90488" tIns="44450" rIns="90488" bIns="44450" anchor="ctr"/>
            <a:lstStyle/>
            <a:p>
              <a:pPr algn="ctr">
                <a:lnSpc>
                  <a:spcPct val="110000"/>
                </a:lnSpc>
                <a:defRPr/>
              </a:pPr>
              <a:r>
                <a:rPr lang="en-US" sz="1000">
                  <a:latin typeface="Honeywell Sans Medium" charset="0"/>
                  <a:ea typeface="Honeywell Sans Medium" charset="0"/>
                  <a:cs typeface="Honeywell Sans Medium" charset="0"/>
                </a:rPr>
                <a:t>Publish Report</a:t>
              </a:r>
            </a:p>
          </p:txBody>
        </p:sp>
        <p:sp>
          <p:nvSpPr>
            <p:cNvPr id="38" name="Oval 95"/>
            <p:cNvSpPr>
              <a:spLocks noChangeArrowheads="1"/>
            </p:cNvSpPr>
            <p:nvPr/>
          </p:nvSpPr>
          <p:spPr bwMode="auto">
            <a:xfrm>
              <a:off x="989728" y="4343400"/>
              <a:ext cx="610411" cy="457200"/>
            </a:xfrm>
            <a:prstGeom prst="ellipse">
              <a:avLst/>
            </a:prstGeom>
            <a:solidFill>
              <a:srgbClr val="A7D971"/>
            </a:solidFill>
            <a:ln w="19050" algn="ctr">
              <a:solidFill>
                <a:schemeClr val="bg1">
                  <a:lumMod val="65000"/>
                </a:schemeClr>
              </a:solidFill>
              <a:round/>
              <a:headEnd/>
              <a:tailEnd/>
            </a:ln>
          </p:spPr>
          <p:txBody>
            <a:bodyPr wrap="none" lIns="90488" tIns="44450" rIns="90488" bIns="44450" anchor="ctr"/>
            <a:lstStyle/>
            <a:p>
              <a:pPr algn="ctr">
                <a:lnSpc>
                  <a:spcPct val="110000"/>
                </a:lnSpc>
                <a:defRPr/>
              </a:pPr>
              <a:r>
                <a:rPr lang="en-US" sz="1000" dirty="0">
                  <a:solidFill>
                    <a:schemeClr val="bg1"/>
                  </a:solidFill>
                  <a:latin typeface="Honeywell Sans Medium" charset="0"/>
                  <a:ea typeface="Honeywell Sans Medium" charset="0"/>
                  <a:cs typeface="Honeywell Sans Medium" charset="0"/>
                </a:rPr>
                <a:t>End</a:t>
              </a:r>
            </a:p>
          </p:txBody>
        </p:sp>
      </p:grpSp>
      <p:sp>
        <p:nvSpPr>
          <p:cNvPr id="39" name="Oval 98"/>
          <p:cNvSpPr>
            <a:spLocks noChangeArrowheads="1"/>
          </p:cNvSpPr>
          <p:nvPr/>
        </p:nvSpPr>
        <p:spPr bwMode="auto">
          <a:xfrm>
            <a:off x="1470025" y="1143000"/>
            <a:ext cx="488950" cy="457200"/>
          </a:xfrm>
          <a:prstGeom prst="ellipse">
            <a:avLst/>
          </a:prstGeom>
          <a:solidFill>
            <a:srgbClr val="FF0000"/>
          </a:solidFill>
          <a:ln w="19050" algn="ctr">
            <a:solidFill>
              <a:schemeClr val="bg1">
                <a:lumMod val="75000"/>
              </a:schemeClr>
            </a:solidFill>
            <a:round/>
            <a:headEnd/>
            <a:tailEnd/>
          </a:ln>
        </p:spPr>
        <p:txBody>
          <a:bodyPr wrap="none" lIns="90488" tIns="44450" rIns="90488" bIns="44450" anchor="ctr"/>
          <a:lstStyle/>
          <a:p>
            <a:pPr algn="ctr">
              <a:lnSpc>
                <a:spcPct val="110000"/>
              </a:lnSpc>
              <a:defRPr/>
            </a:pPr>
            <a:r>
              <a:rPr lang="en-US" sz="1200" dirty="0">
                <a:solidFill>
                  <a:schemeClr val="bg1"/>
                </a:solidFill>
                <a:latin typeface="Honeywell Sans Medium" charset="0"/>
                <a:ea typeface="Honeywell Sans Medium" charset="0"/>
                <a:cs typeface="Honeywell Sans Medium" charset="0"/>
              </a:rPr>
              <a:t>Start</a:t>
            </a:r>
          </a:p>
        </p:txBody>
      </p:sp>
      <p:cxnSp>
        <p:nvCxnSpPr>
          <p:cNvPr id="40" name="Straight Arrow Connector 99"/>
          <p:cNvCxnSpPr>
            <a:cxnSpLocks noChangeShapeType="1"/>
          </p:cNvCxnSpPr>
          <p:nvPr/>
        </p:nvCxnSpPr>
        <p:spPr bwMode="auto">
          <a:xfrm>
            <a:off x="1714500" y="1600200"/>
            <a:ext cx="0" cy="381000"/>
          </a:xfrm>
          <a:prstGeom prst="straightConnector1">
            <a:avLst/>
          </a:prstGeom>
          <a:noFill/>
          <a:ln w="28575">
            <a:solidFill>
              <a:schemeClr val="tx1">
                <a:lumMod val="50000"/>
                <a:lumOff val="50000"/>
              </a:schemeClr>
            </a:solidFill>
            <a:round/>
            <a:headEnd/>
            <a:tailEnd type="arrow" w="med" len="med"/>
          </a:ln>
          <a:extLst>
            <a:ext uri="{909E8E84-426E-40DD-AFC4-6F175D3DCCD1}">
              <a14:hiddenFill xmlns:a14="http://schemas.microsoft.com/office/drawing/2010/main">
                <a:noFill/>
              </a14:hiddenFill>
            </a:ext>
          </a:extLst>
        </p:spPr>
      </p:cxnSp>
      <p:sp>
        <p:nvSpPr>
          <p:cNvPr id="41" name="TextBox 34"/>
          <p:cNvSpPr txBox="1">
            <a:spLocks noChangeArrowheads="1"/>
          </p:cNvSpPr>
          <p:nvPr/>
        </p:nvSpPr>
        <p:spPr bwMode="auto">
          <a:xfrm>
            <a:off x="7408863" y="1905000"/>
            <a:ext cx="612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200" b="0"/>
              <a:t>Yes</a:t>
            </a:r>
          </a:p>
        </p:txBody>
      </p:sp>
      <p:sp>
        <p:nvSpPr>
          <p:cNvPr id="42" name="TextBox 35"/>
          <p:cNvSpPr txBox="1">
            <a:spLocks noChangeArrowheads="1"/>
          </p:cNvSpPr>
          <p:nvPr/>
        </p:nvSpPr>
        <p:spPr bwMode="auto">
          <a:xfrm>
            <a:off x="6858000" y="2667000"/>
            <a:ext cx="612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200" b="0"/>
              <a:t>No</a:t>
            </a:r>
          </a:p>
        </p:txBody>
      </p:sp>
      <p:sp>
        <p:nvSpPr>
          <p:cNvPr id="43" name="TextBox 36"/>
          <p:cNvSpPr txBox="1">
            <a:spLocks noChangeArrowheads="1"/>
          </p:cNvSpPr>
          <p:nvPr/>
        </p:nvSpPr>
        <p:spPr bwMode="auto">
          <a:xfrm>
            <a:off x="8266113" y="2667000"/>
            <a:ext cx="612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200" b="0"/>
              <a:t>No</a:t>
            </a:r>
          </a:p>
        </p:txBody>
      </p:sp>
      <p:sp>
        <p:nvSpPr>
          <p:cNvPr id="44" name="TextBox 37"/>
          <p:cNvSpPr txBox="1">
            <a:spLocks noChangeArrowheads="1"/>
          </p:cNvSpPr>
          <p:nvPr/>
        </p:nvSpPr>
        <p:spPr bwMode="auto">
          <a:xfrm>
            <a:off x="8816975" y="1905000"/>
            <a:ext cx="612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30000"/>
              </a:spcBef>
              <a:buClr>
                <a:srgbClr val="DC241F"/>
              </a:buClr>
              <a:buChar char="•"/>
              <a:defRPr sz="2400" b="1">
                <a:solidFill>
                  <a:schemeClr val="tx1"/>
                </a:solidFill>
                <a:latin typeface="Arial" charset="0"/>
              </a:defRPr>
            </a:lvl1pPr>
            <a:lvl2pPr marL="742950" indent="-285750">
              <a:lnSpc>
                <a:spcPct val="85000"/>
              </a:lnSpc>
              <a:spcBef>
                <a:spcPct val="30000"/>
              </a:spcBef>
              <a:buClr>
                <a:srgbClr val="0053A5"/>
              </a:buClr>
              <a:buSzPct val="120000"/>
              <a:buFont typeface="Arial" charset="0"/>
              <a:buChar char="-"/>
              <a:defRPr sz="2000" b="1">
                <a:solidFill>
                  <a:schemeClr val="tx1"/>
                </a:solidFill>
                <a:latin typeface="Arial" charset="0"/>
              </a:defRPr>
            </a:lvl2pPr>
            <a:lvl3pPr marL="1143000" indent="-228600">
              <a:lnSpc>
                <a:spcPct val="85000"/>
              </a:lnSpc>
              <a:spcBef>
                <a:spcPct val="30000"/>
              </a:spcBef>
              <a:buClr>
                <a:srgbClr val="317023"/>
              </a:buClr>
              <a:buSzPct val="90000"/>
              <a:buFont typeface="Wingdings" charset="2"/>
              <a:buChar char="w"/>
              <a:defRPr>
                <a:solidFill>
                  <a:schemeClr val="tx1"/>
                </a:solidFill>
                <a:latin typeface="Arial" charset="0"/>
              </a:defRPr>
            </a:lvl3pPr>
            <a:lvl4pPr marL="1600200" indent="-228600">
              <a:spcBef>
                <a:spcPct val="20000"/>
              </a:spcBef>
              <a:buChar char="•"/>
              <a:defRPr sz="1600">
                <a:solidFill>
                  <a:schemeClr val="tx1"/>
                </a:solidFill>
                <a:latin typeface="Arial" charset="0"/>
              </a:defRPr>
            </a:lvl4pPr>
            <a:lvl5pPr marL="2057400" indent="-228600">
              <a:spcBef>
                <a:spcPct val="20000"/>
              </a:spcBef>
              <a:buChar char="»"/>
              <a:defRPr sz="2000">
                <a:solidFill>
                  <a:schemeClr val="tx1"/>
                </a:solidFill>
                <a:latin typeface="Times New Roman" charset="0"/>
              </a:defRPr>
            </a:lvl5pPr>
            <a:lvl6pPr marL="2514600" indent="-228600" eaLnBrk="0" fontAlgn="base" hangingPunct="0">
              <a:spcBef>
                <a:spcPct val="20000"/>
              </a:spcBef>
              <a:spcAft>
                <a:spcPct val="0"/>
              </a:spcAft>
              <a:buChar char="»"/>
              <a:defRPr sz="2000">
                <a:solidFill>
                  <a:schemeClr val="tx1"/>
                </a:solidFill>
                <a:latin typeface="Times New Roman" charset="0"/>
              </a:defRPr>
            </a:lvl6pPr>
            <a:lvl7pPr marL="2971800" indent="-228600" eaLnBrk="0" fontAlgn="base" hangingPunct="0">
              <a:spcBef>
                <a:spcPct val="20000"/>
              </a:spcBef>
              <a:spcAft>
                <a:spcPct val="0"/>
              </a:spcAft>
              <a:buChar char="»"/>
              <a:defRPr sz="2000">
                <a:solidFill>
                  <a:schemeClr val="tx1"/>
                </a:solidFill>
                <a:latin typeface="Times New Roman" charset="0"/>
              </a:defRPr>
            </a:lvl7pPr>
            <a:lvl8pPr marL="3429000" indent="-228600" eaLnBrk="0" fontAlgn="base" hangingPunct="0">
              <a:spcBef>
                <a:spcPct val="20000"/>
              </a:spcBef>
              <a:spcAft>
                <a:spcPct val="0"/>
              </a:spcAft>
              <a:buChar char="»"/>
              <a:defRPr sz="2000">
                <a:solidFill>
                  <a:schemeClr val="tx1"/>
                </a:solidFill>
                <a:latin typeface="Times New Roman" charset="0"/>
              </a:defRPr>
            </a:lvl8pPr>
            <a:lvl9pPr marL="38862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100000"/>
              </a:lnSpc>
              <a:spcBef>
                <a:spcPct val="0"/>
              </a:spcBef>
              <a:buClrTx/>
              <a:buFontTx/>
              <a:buNone/>
            </a:pPr>
            <a:r>
              <a:rPr lang="en-US" altLang="en-US" sz="1200" b="0"/>
              <a:t>Yes</a:t>
            </a:r>
          </a:p>
        </p:txBody>
      </p:sp>
    </p:spTree>
    <p:extLst>
      <p:ext uri="{BB962C8B-B14F-4D97-AF65-F5344CB8AC3E}">
        <p14:creationId xmlns:p14="http://schemas.microsoft.com/office/powerpoint/2010/main" val="583042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Prioritization of Problems </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13</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pic>
        <p:nvPicPr>
          <p:cNvPr id="4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768" b="44525"/>
          <a:stretch/>
        </p:blipFill>
        <p:spPr bwMode="auto">
          <a:xfrm>
            <a:off x="645161" y="1251155"/>
            <a:ext cx="9448800" cy="2721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8853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Note</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14</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8348" y="1274931"/>
            <a:ext cx="6035627" cy="400110"/>
          </a:xfrm>
          <a:prstGeom prst="rect">
            <a:avLst/>
          </a:prstGeom>
          <a:noFill/>
        </p:spPr>
        <p:txBody>
          <a:bodyPr wrap="none" rtlCol="0">
            <a:spAutoFit/>
          </a:bodyPr>
          <a:lstStyle/>
          <a:p>
            <a:r>
              <a:rPr lang="en-US" sz="2000">
                <a:latin typeface="Honeywell Sans Medium" charset="0"/>
                <a:ea typeface="Honeywell Sans Medium" charset="0"/>
                <a:cs typeface="Honeywell Sans Medium" charset="0"/>
              </a:rPr>
              <a:t>10 Usability Heuristics for User Interface Design</a:t>
            </a:r>
          </a:p>
        </p:txBody>
      </p:sp>
      <p:sp>
        <p:nvSpPr>
          <p:cNvPr id="5" name="Rectangle 4"/>
          <p:cNvSpPr/>
          <p:nvPr/>
        </p:nvSpPr>
        <p:spPr>
          <a:xfrm>
            <a:off x="458348" y="1909646"/>
            <a:ext cx="6096000" cy="3785652"/>
          </a:xfrm>
          <a:prstGeom prst="rect">
            <a:avLst/>
          </a:prstGeom>
        </p:spPr>
        <p:txBody>
          <a:bodyPr>
            <a:spAutoFit/>
          </a:bodyPr>
          <a:lstStyle/>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Visibility of system Status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Match between system and the real World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User control and Freedom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Consistency and Standards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Error Prevention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Recognition rather than Recall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Flexibility and efficiency of Use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Aesthetic and minimalist design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Help users recognize, diagnose, and recover from errors </a:t>
            </a:r>
          </a:p>
          <a:p>
            <a:pPr marL="342900" indent="-342900">
              <a:lnSpc>
                <a:spcPct val="150000"/>
              </a:lnSpc>
              <a:buClr>
                <a:srgbClr val="FF0000"/>
              </a:buClr>
              <a:buFont typeface="+mj-lt"/>
              <a:buAutoNum type="arabicPeriod"/>
            </a:pPr>
            <a:r>
              <a:rPr lang="en-US" sz="1600" dirty="0">
                <a:solidFill>
                  <a:schemeClr val="tx1">
                    <a:lumMod val="50000"/>
                    <a:lumOff val="50000"/>
                  </a:schemeClr>
                </a:solidFill>
                <a:latin typeface="Honeywell Sans Medium" charset="0"/>
                <a:ea typeface="Honeywell Sans Medium" charset="0"/>
                <a:cs typeface="Honeywell Sans Medium" charset="0"/>
              </a:rPr>
              <a:t>Help and documentation</a:t>
            </a:r>
          </a:p>
        </p:txBody>
      </p:sp>
    </p:spTree>
    <p:extLst>
      <p:ext uri="{BB962C8B-B14F-4D97-AF65-F5344CB8AC3E}">
        <p14:creationId xmlns:p14="http://schemas.microsoft.com/office/powerpoint/2010/main" val="1707736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altLang="en-US" dirty="0"/>
              <a:t>References</a:t>
            </a:r>
            <a:endParaRPr lang="en-US" dirty="0"/>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15</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345124" y="1328847"/>
            <a:ext cx="11068104" cy="3539430"/>
          </a:xfrm>
          <a:prstGeom prst="rect">
            <a:avLst/>
          </a:prstGeom>
          <a:noFill/>
        </p:spPr>
        <p:txBody>
          <a:bodyPr wrap="square">
            <a:spAutoFit/>
          </a:bodyPr>
          <a:lstStyle/>
          <a:p>
            <a:endParaRPr lang="en-US" sz="1400" dirty="0">
              <a:solidFill>
                <a:schemeClr val="tx1">
                  <a:lumMod val="95000"/>
                  <a:lumOff val="5000"/>
                </a:schemeClr>
              </a:solidFill>
              <a:latin typeface="Honeywell Sans Medium" charset="0"/>
              <a:ea typeface="Honeywell Sans Medium" charset="0"/>
              <a:cs typeface="Honeywell Sans Medium" charset="0"/>
            </a:endParaRPr>
          </a:p>
          <a:p>
            <a:pPr>
              <a:buFont typeface="Arial" charset="0"/>
              <a:buChar char="•"/>
            </a:pPr>
            <a:r>
              <a:rPr lang="en-US" sz="1400" dirty="0">
                <a:solidFill>
                  <a:srgbClr val="222222"/>
                </a:solidFill>
                <a:latin typeface="Honeywell Sans Medium" charset="0"/>
                <a:ea typeface="Honeywell Sans Medium" charset="0"/>
                <a:cs typeface="Honeywell Sans Medium" charset="0"/>
              </a:rPr>
              <a:t>Bruce "Tog" </a:t>
            </a:r>
            <a:r>
              <a:rPr lang="en-US" sz="1400" dirty="0" err="1">
                <a:solidFill>
                  <a:srgbClr val="222222"/>
                </a:solidFill>
                <a:latin typeface="Honeywell Sans Medium" charset="0"/>
                <a:ea typeface="Honeywell Sans Medium" charset="0"/>
                <a:cs typeface="Honeywell Sans Medium" charset="0"/>
              </a:rPr>
              <a:t>Tognazzini's</a:t>
            </a:r>
            <a:r>
              <a:rPr lang="en-US" sz="1400" dirty="0">
                <a:solidFill>
                  <a:srgbClr val="222222"/>
                </a:solidFill>
                <a:latin typeface="Honeywell Sans Medium" charset="0"/>
                <a:ea typeface="Honeywell Sans Medium" charset="0"/>
                <a:cs typeface="Honeywell Sans Medium" charset="0"/>
              </a:rPr>
              <a:t> list of </a:t>
            </a:r>
            <a:r>
              <a:rPr lang="en-US" sz="1400" dirty="0">
                <a:solidFill>
                  <a:schemeClr val="accent5"/>
                </a:solidFill>
                <a:latin typeface="Honeywell Sans Medium" charset="0"/>
                <a:ea typeface="Honeywell Sans Medium" charset="0"/>
                <a:cs typeface="Honeywell Sans Medium" charset="0"/>
                <a:hlinkClick r:id="rId2" tooltip="AskTog Nov. 1998"/>
              </a:rPr>
              <a:t>basic principles for interface design</a:t>
            </a:r>
            <a:r>
              <a:rPr lang="en-US" sz="1400" dirty="0">
                <a:solidFill>
                  <a:srgbClr val="222222"/>
                </a:solidFill>
                <a:latin typeface="Honeywell Sans Medium" charset="0"/>
                <a:ea typeface="Honeywell Sans Medium" charset="0"/>
                <a:cs typeface="Honeywell Sans Medium" charset="0"/>
              </a:rPr>
              <a:t>. The list is slightly too long for heuristic evaluation but serves as a useful checklist.</a:t>
            </a:r>
          </a:p>
          <a:p>
            <a:pPr>
              <a:buFont typeface="Arial" charset="0"/>
              <a:buChar char="•"/>
            </a:pPr>
            <a:r>
              <a:rPr lang="en-US" sz="1400" dirty="0">
                <a:solidFill>
                  <a:srgbClr val="222222"/>
                </a:solidFill>
                <a:latin typeface="Honeywell Sans Medium" charset="0"/>
                <a:ea typeface="Honeywell Sans Medium" charset="0"/>
                <a:cs typeface="Honeywell Sans Medium" charset="0"/>
              </a:rPr>
              <a:t>Examples of the </a:t>
            </a:r>
            <a:r>
              <a:rPr lang="en-US" sz="1400" dirty="0">
                <a:solidFill>
                  <a:srgbClr val="663399"/>
                </a:solidFill>
                <a:latin typeface="Honeywell Sans Medium" charset="0"/>
                <a:ea typeface="Honeywell Sans Medium" charset="0"/>
                <a:cs typeface="Honeywell Sans Medium" charset="0"/>
                <a:hlinkClick r:id="rId3" tooltip="Theresa Neil May 2009"/>
              </a:rPr>
              <a:t>10 heuristics in Web applications</a:t>
            </a:r>
            <a:r>
              <a:rPr lang="en-US" sz="1400" dirty="0">
                <a:solidFill>
                  <a:srgbClr val="222222"/>
                </a:solidFill>
                <a:latin typeface="Honeywell Sans Medium" charset="0"/>
                <a:ea typeface="Honeywell Sans Medium" charset="0"/>
                <a:cs typeface="Honeywell Sans Medium" charset="0"/>
              </a:rPr>
              <a:t>.</a:t>
            </a:r>
          </a:p>
          <a:p>
            <a:pPr>
              <a:buFont typeface="Arial" charset="0"/>
              <a:buChar char="•"/>
            </a:pPr>
            <a:r>
              <a:rPr lang="en-US" sz="1400" dirty="0">
                <a:solidFill>
                  <a:srgbClr val="222222"/>
                </a:solidFill>
                <a:latin typeface="Honeywell Sans Medium" charset="0"/>
                <a:ea typeface="Honeywell Sans Medium" charset="0"/>
                <a:cs typeface="Honeywell Sans Medium" charset="0"/>
              </a:rPr>
              <a:t>The 10 usability heuristics </a:t>
            </a:r>
            <a:r>
              <a:rPr lang="en-US" sz="1400" dirty="0">
                <a:solidFill>
                  <a:srgbClr val="663399"/>
                </a:solidFill>
                <a:latin typeface="Honeywell Sans Medium" charset="0"/>
                <a:ea typeface="Honeywell Sans Medium" charset="0"/>
                <a:cs typeface="Honeywell Sans Medium" charset="0"/>
                <a:hlinkClick r:id="rId4" tooltip="Zen Haiku August 2002"/>
              </a:rPr>
              <a:t>applied to everyday life</a:t>
            </a:r>
            <a:r>
              <a:rPr lang="en-US" sz="1400" dirty="0">
                <a:solidFill>
                  <a:srgbClr val="222222"/>
                </a:solidFill>
                <a:latin typeface="Honeywell Sans Medium" charset="0"/>
                <a:ea typeface="Honeywell Sans Medium" charset="0"/>
                <a:cs typeface="Honeywell Sans Medium" charset="0"/>
              </a:rPr>
              <a:t> (just for fun).</a:t>
            </a:r>
          </a:p>
          <a:p>
            <a:pPr>
              <a:buFont typeface="Arial" charset="0"/>
              <a:buChar char="•"/>
            </a:pPr>
            <a:r>
              <a:rPr lang="en-US" sz="1400" dirty="0">
                <a:solidFill>
                  <a:srgbClr val="222222"/>
                </a:solidFill>
                <a:latin typeface="Honeywell Sans Medium" charset="0"/>
                <a:ea typeface="Honeywell Sans Medium" charset="0"/>
                <a:cs typeface="Honeywell Sans Medium" charset="0"/>
              </a:rPr>
              <a:t>Full set of </a:t>
            </a:r>
            <a:r>
              <a:rPr lang="en-US" sz="1400" dirty="0">
                <a:solidFill>
                  <a:srgbClr val="663399"/>
                </a:solidFill>
                <a:latin typeface="Honeywell Sans Medium" charset="0"/>
                <a:ea typeface="Honeywell Sans Medium" charset="0"/>
                <a:cs typeface="Honeywell Sans Medium" charset="0"/>
                <a:hlinkClick r:id="rId5" tooltip="Nielsen Norman Group research reports"/>
              </a:rPr>
              <a:t>2,397 usability guidelines</a:t>
            </a:r>
            <a:r>
              <a:rPr lang="en-US" sz="1400" dirty="0">
                <a:solidFill>
                  <a:srgbClr val="222222"/>
                </a:solidFill>
                <a:latin typeface="Honeywell Sans Medium" charset="0"/>
                <a:ea typeface="Honeywell Sans Medium" charset="0"/>
                <a:cs typeface="Honeywell Sans Medium" charset="0"/>
              </a:rPr>
              <a:t> (across multiple reports).</a:t>
            </a:r>
          </a:p>
          <a:p>
            <a:pPr>
              <a:buFont typeface="Arial" charset="0"/>
              <a:buChar char="•"/>
            </a:pPr>
            <a:endParaRPr lang="en-US" sz="1400" dirty="0">
              <a:solidFill>
                <a:srgbClr val="222222"/>
              </a:solidFill>
              <a:latin typeface="Honeywell Sans Medium" charset="0"/>
              <a:ea typeface="Honeywell Sans Medium" charset="0"/>
              <a:cs typeface="Honeywell Sans Medium" charset="0"/>
            </a:endParaRPr>
          </a:p>
          <a:p>
            <a:endParaRPr lang="en-US" sz="1400" dirty="0">
              <a:solidFill>
                <a:srgbClr val="222222"/>
              </a:solidFill>
              <a:latin typeface="Honeywell Sans Medium" charset="0"/>
              <a:ea typeface="Honeywell Sans Medium" charset="0"/>
              <a:cs typeface="Honeywell Sans Medium" charset="0"/>
            </a:endParaRPr>
          </a:p>
          <a:p>
            <a:pPr>
              <a:buFont typeface="Arial" charset="0"/>
              <a:buChar char="•"/>
            </a:pPr>
            <a:r>
              <a:rPr lang="en-US" sz="1400" dirty="0" err="1">
                <a:solidFill>
                  <a:srgbClr val="222222"/>
                </a:solidFill>
                <a:latin typeface="Honeywell Sans Medium" charset="0"/>
                <a:ea typeface="Honeywell Sans Medium" charset="0"/>
                <a:cs typeface="Honeywell Sans Medium" charset="0"/>
              </a:rPr>
              <a:t>Molich</a:t>
            </a:r>
            <a:r>
              <a:rPr lang="en-US" sz="1400" dirty="0">
                <a:solidFill>
                  <a:srgbClr val="222222"/>
                </a:solidFill>
                <a:latin typeface="Honeywell Sans Medium" charset="0"/>
                <a:ea typeface="Honeywell Sans Medium" charset="0"/>
                <a:cs typeface="Honeywell Sans Medium" charset="0"/>
              </a:rPr>
              <a:t>, R., and Nielsen, J. (1990). Improving a human-computer dialogue, Communications of the ACM 33 , 3 (March), 338-348.</a:t>
            </a:r>
          </a:p>
          <a:p>
            <a:pPr>
              <a:buFont typeface="Arial" charset="0"/>
              <a:buChar char="•"/>
            </a:pPr>
            <a:r>
              <a:rPr lang="en-US" sz="1400" dirty="0">
                <a:solidFill>
                  <a:srgbClr val="222222"/>
                </a:solidFill>
                <a:latin typeface="Honeywell Sans Medium" charset="0"/>
                <a:ea typeface="Honeywell Sans Medium" charset="0"/>
                <a:cs typeface="Honeywell Sans Medium" charset="0"/>
              </a:rPr>
              <a:t>Nielsen, J., and </a:t>
            </a:r>
            <a:r>
              <a:rPr lang="en-US" sz="1400" dirty="0" err="1">
                <a:solidFill>
                  <a:srgbClr val="222222"/>
                </a:solidFill>
                <a:latin typeface="Honeywell Sans Medium" charset="0"/>
                <a:ea typeface="Honeywell Sans Medium" charset="0"/>
                <a:cs typeface="Honeywell Sans Medium" charset="0"/>
              </a:rPr>
              <a:t>Molich</a:t>
            </a:r>
            <a:r>
              <a:rPr lang="en-US" sz="1400" dirty="0">
                <a:solidFill>
                  <a:srgbClr val="222222"/>
                </a:solidFill>
                <a:latin typeface="Honeywell Sans Medium" charset="0"/>
                <a:ea typeface="Honeywell Sans Medium" charset="0"/>
                <a:cs typeface="Honeywell Sans Medium" charset="0"/>
              </a:rPr>
              <a:t>, R. (1990). Heuristic evaluation of user interfaces, Proc. ACM CHI'90 Conf.(Seattle, WA, 1-5 April), 249-256.</a:t>
            </a:r>
          </a:p>
          <a:p>
            <a:pPr>
              <a:buFont typeface="Arial" charset="0"/>
              <a:buChar char="•"/>
            </a:pPr>
            <a:r>
              <a:rPr lang="en-US" sz="1400" dirty="0">
                <a:solidFill>
                  <a:srgbClr val="222222"/>
                </a:solidFill>
                <a:latin typeface="Honeywell Sans Medium" charset="0"/>
                <a:ea typeface="Honeywell Sans Medium" charset="0"/>
                <a:cs typeface="Honeywell Sans Medium" charset="0"/>
              </a:rPr>
              <a:t>Nielsen, J. (1994a). Enhancing the explanatory power of usability heuristics. Proc. ACM CHI'94 Conf.(Boston, MA, April 24-28), 152-158.</a:t>
            </a:r>
          </a:p>
          <a:p>
            <a:pPr>
              <a:buFont typeface="Arial" charset="0"/>
              <a:buChar char="•"/>
            </a:pPr>
            <a:r>
              <a:rPr lang="en-US" sz="1400" dirty="0">
                <a:solidFill>
                  <a:srgbClr val="222222"/>
                </a:solidFill>
                <a:latin typeface="Honeywell Sans Medium" charset="0"/>
                <a:ea typeface="Honeywell Sans Medium" charset="0"/>
                <a:cs typeface="Honeywell Sans Medium" charset="0"/>
              </a:rPr>
              <a:t>Nielsen, J. (1994b). Heuristic evaluation. In Nielsen, J., and Mack, R.L. (Eds.), </a:t>
            </a:r>
            <a:r>
              <a:rPr lang="en-US" sz="1400" dirty="0">
                <a:solidFill>
                  <a:srgbClr val="663399"/>
                </a:solidFill>
                <a:latin typeface="Honeywell Sans Medium" charset="0"/>
                <a:ea typeface="Honeywell Sans Medium" charset="0"/>
                <a:cs typeface="Honeywell Sans Medium" charset="0"/>
                <a:hlinkClick r:id="rId6"/>
              </a:rPr>
              <a:t>Usability Inspection Methods</a:t>
            </a:r>
            <a:r>
              <a:rPr lang="en-US" sz="1400" dirty="0">
                <a:solidFill>
                  <a:srgbClr val="222222"/>
                </a:solidFill>
                <a:latin typeface="Honeywell Sans Medium" charset="0"/>
                <a:ea typeface="Honeywell Sans Medium" charset="0"/>
                <a:cs typeface="Honeywell Sans Medium" charset="0"/>
              </a:rPr>
              <a:t>, John Wiley &amp; Sons, New York, NY.</a:t>
            </a:r>
          </a:p>
          <a:p>
            <a:br>
              <a:rPr lang="en-US" sz="1400" dirty="0">
                <a:latin typeface="Honeywell Sans Medium" charset="0"/>
                <a:ea typeface="Honeywell Sans Medium" charset="0"/>
                <a:cs typeface="Honeywell Sans Medium" charset="0"/>
              </a:rPr>
            </a:br>
            <a:endParaRPr lang="en-US" sz="1400" dirty="0">
              <a:latin typeface="Honeywell Sans Medium" charset="0"/>
              <a:ea typeface="Honeywell Sans Medium" charset="0"/>
              <a:cs typeface="Honeywell Sans Medium" charset="0"/>
            </a:endParaRPr>
          </a:p>
        </p:txBody>
      </p:sp>
    </p:spTree>
    <p:extLst>
      <p:ext uri="{BB962C8B-B14F-4D97-AF65-F5344CB8AC3E}">
        <p14:creationId xmlns:p14="http://schemas.microsoft.com/office/powerpoint/2010/main" val="1109156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CBA9B0B-FAEF-6F4E-AA9D-4763F23C33FB}" type="slidenum">
              <a:rPr lang="en-US" altLang="en-US" smtClean="0"/>
              <a:pPr/>
              <a:t>16</a:t>
            </a:fld>
            <a:endParaRPr lang="en-US" altLang="en-US"/>
          </a:p>
        </p:txBody>
      </p:sp>
      <p:sp>
        <p:nvSpPr>
          <p:cNvPr id="5" name="Title 1"/>
          <p:cNvSpPr>
            <a:spLocks noGrp="1"/>
          </p:cNvSpPr>
          <p:nvPr>
            <p:ph type="title"/>
          </p:nvPr>
        </p:nvSpPr>
        <p:spPr>
          <a:xfrm>
            <a:off x="345124" y="348803"/>
            <a:ext cx="10523336" cy="498475"/>
          </a:xfrm>
        </p:spPr>
        <p:txBody>
          <a:bodyPr/>
          <a:lstStyle/>
          <a:p>
            <a:r>
              <a:rPr lang="en-US" b="0" dirty="0">
                <a:latin typeface="Honeywell Sans Medium" charset="0"/>
                <a:ea typeface="Honeywell Sans Medium" charset="0"/>
                <a:cs typeface="Honeywell Sans Medium" charset="0"/>
              </a:rPr>
              <a:t>Thank You</a:t>
            </a:r>
            <a:endParaRPr lang="en-US" sz="1800" b="0" dirty="0">
              <a:solidFill>
                <a:srgbClr val="00B0F0"/>
              </a:solidFill>
              <a:latin typeface="Honeywell Sans Medium" charset="0"/>
              <a:ea typeface="Honeywell Sans Medium" charset="0"/>
              <a:cs typeface="Honeywell Sans Medium" charset="0"/>
            </a:endParaRPr>
          </a:p>
        </p:txBody>
      </p:sp>
      <p:cxnSp>
        <p:nvCxnSpPr>
          <p:cNvPr id="6" name="Straight Connector 5"/>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14184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HUE Overview">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E93590D-DE32-7E41-83F0-9F0A8EFB44B5}"/>
    </a:ext>
  </a:extLst>
</a:theme>
</file>

<file path=ppt/theme/theme2.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8B3562B-CF69-AB42-A5A2-1E0A29CED889}"/>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622A9A6-0BFA-C441-BD7B-7CE6A044E240}"/>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3ED0FC25-E379-3149-BA08-294511981F51}"/>
    </a:ext>
  </a:extLst>
</a:theme>
</file>

<file path=ppt/theme/theme5.xml><?xml version="1.0" encoding="utf-8"?>
<a:theme xmlns:a="http://schemas.openxmlformats.org/drawingml/2006/main" name="1_Honeywell Single Image Cover">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8E944E06-72BD-0440-A1D1-44F548CF8B99}"/>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EAEF24CE16714DBFF89EBB24D23B04" ma:contentTypeVersion="8" ma:contentTypeDescription="Create a new document." ma:contentTypeScope="" ma:versionID="fa174c6afff32858f53b06cc5e25cc73">
  <xsd:schema xmlns:xsd="http://www.w3.org/2001/XMLSchema" xmlns:xs="http://www.w3.org/2001/XMLSchema" xmlns:p="http://schemas.microsoft.com/office/2006/metadata/properties" xmlns:ns2="4c1981db-d8fb-4ca3-9d14-523ffc40b38c" xmlns:ns3="6ea289bd-17f2-459a-993b-2af49462c21e" targetNamespace="http://schemas.microsoft.com/office/2006/metadata/properties" ma:root="true" ma:fieldsID="bc283a575266b0a8c5b580b2751d02af" ns2:_="" ns3:_="">
    <xsd:import namespace="4c1981db-d8fb-4ca3-9d14-523ffc40b38c"/>
    <xsd:import namespace="6ea289bd-17f2-459a-993b-2af49462c21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1981db-d8fb-4ca3-9d14-523ffc40b38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ea289bd-17f2-459a-993b-2af49462c21e"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365E04-E135-424E-AB05-C5496CC6B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1981db-d8fb-4ca3-9d14-523ffc40b38c"/>
    <ds:schemaRef ds:uri="6ea289bd-17f2-459a-993b-2af49462c2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AFAA5A8-D73A-41EB-88E8-27521AC7978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6DDAEA6-BFFD-44F7-9B91-4348777A0E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Honeywell Widescreen</Template>
  <TotalTime>8269</TotalTime>
  <Words>626</Words>
  <Application>Microsoft Office PowerPoint</Application>
  <PresentationFormat>Widescreen</PresentationFormat>
  <Paragraphs>217</Paragraphs>
  <Slides>17</Slides>
  <Notes>1</Notes>
  <HiddenSlides>0</HiddenSlides>
  <MMClips>0</MMClips>
  <ScaleCrop>false</ScaleCrop>
  <HeadingPairs>
    <vt:vector size="4" baseType="variant">
      <vt:variant>
        <vt:lpstr>Theme</vt:lpstr>
      </vt:variant>
      <vt:variant>
        <vt:i4>5</vt:i4>
      </vt:variant>
      <vt:variant>
        <vt:lpstr>Slide Titles</vt:lpstr>
      </vt:variant>
      <vt:variant>
        <vt:i4>17</vt:i4>
      </vt:variant>
    </vt:vector>
  </HeadingPairs>
  <TitlesOfParts>
    <vt:vector size="22" baseType="lpstr">
      <vt:lpstr>HUE Overview</vt:lpstr>
      <vt:lpstr>Honeywell Single Image Cover</vt:lpstr>
      <vt:lpstr>Honeywell Theme</vt:lpstr>
      <vt:lpstr>1_Honeywell Theme</vt:lpstr>
      <vt:lpstr>1_Honeywell Single Image Cover</vt:lpstr>
      <vt:lpstr>PowerPoint Presentation</vt:lpstr>
      <vt:lpstr>Table of Contents</vt:lpstr>
      <vt:lpstr>Objective</vt:lpstr>
      <vt:lpstr>Executive Summary</vt:lpstr>
      <vt:lpstr>Summary of Recommendations</vt:lpstr>
      <vt:lpstr>Product Information</vt:lpstr>
      <vt:lpstr>Primary Tasks</vt:lpstr>
      <vt:lpstr>System Usability Scale Assessment</vt:lpstr>
      <vt:lpstr>Heuristic Findings</vt:lpstr>
      <vt:lpstr>Task Flow (Optimization)</vt:lpstr>
      <vt:lpstr>Next Steps</vt:lpstr>
      <vt:lpstr>Jakob Nielsen Usability Heuristics</vt:lpstr>
      <vt:lpstr>Task Based Heuristic Evaluation Procedure</vt:lpstr>
      <vt:lpstr>Prioritization of Problems </vt:lpstr>
      <vt:lpstr>Note</vt:lpstr>
      <vt:lpstr>References</vt:lpstr>
      <vt:lpstr>Thank You</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Dungey, David</dc:creator>
  <cp:lastModifiedBy>Komischke, Tobias</cp:lastModifiedBy>
  <cp:revision>137</cp:revision>
  <cp:lastPrinted>2015-07-29T21:30:37Z</cp:lastPrinted>
  <dcterms:created xsi:type="dcterms:W3CDTF">2016-03-25T02:45:32Z</dcterms:created>
  <dcterms:modified xsi:type="dcterms:W3CDTF">2018-07-11T17:44:50Z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0x010100DDEAEF24CE16714DBFF89EBB24D23B04</vt:lpwstr>
  </property>
  <property fmtid="{D5CDD505-2E9C-101B-9397-08002B2CF9AE}" pid="3" name="Source">
    <vt:lpwstr>8f9874da50388e0acb1f5bab1b4b753b</vt:lpwstr>
  </property>
</Properties>
</file>